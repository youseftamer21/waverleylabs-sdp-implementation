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3151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3989" y="1297534"/>
            <a:ext cx="10644009" cy="898946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2173905" y="6425645"/>
            <a:ext cx="3352800" cy="714375"/>
          </a:xfrm>
          <a:custGeom>
            <a:avLst/>
            <a:gdLst/>
            <a:ahLst/>
            <a:cxnLst/>
            <a:rect l="l" t="t" r="r" b="b"/>
            <a:pathLst>
              <a:path w="3352800" h="714375">
                <a:moveTo>
                  <a:pt x="3352615" y="369213"/>
                </a:moveTo>
                <a:lnTo>
                  <a:pt x="3350050" y="407345"/>
                </a:lnTo>
                <a:lnTo>
                  <a:pt x="3340512" y="454025"/>
                </a:lnTo>
                <a:lnTo>
                  <a:pt x="3325138" y="498288"/>
                </a:lnTo>
                <a:lnTo>
                  <a:pt x="3304354" y="539706"/>
                </a:lnTo>
                <a:lnTo>
                  <a:pt x="3278590" y="577851"/>
                </a:lnTo>
                <a:lnTo>
                  <a:pt x="3248270" y="612297"/>
                </a:lnTo>
                <a:lnTo>
                  <a:pt x="3213824" y="642616"/>
                </a:lnTo>
                <a:lnTo>
                  <a:pt x="3175679" y="668381"/>
                </a:lnTo>
                <a:lnTo>
                  <a:pt x="3134261" y="689164"/>
                </a:lnTo>
                <a:lnTo>
                  <a:pt x="3089998" y="704539"/>
                </a:lnTo>
                <a:lnTo>
                  <a:pt x="3043318" y="714077"/>
                </a:lnTo>
                <a:lnTo>
                  <a:pt x="3038890" y="714374"/>
                </a:lnTo>
              </a:path>
              <a:path w="3352800" h="714375">
                <a:moveTo>
                  <a:pt x="314433" y="714374"/>
                </a:moveTo>
                <a:lnTo>
                  <a:pt x="263325" y="704539"/>
                </a:lnTo>
                <a:lnTo>
                  <a:pt x="219062" y="689164"/>
                </a:lnTo>
                <a:lnTo>
                  <a:pt x="177645" y="668381"/>
                </a:lnTo>
                <a:lnTo>
                  <a:pt x="139499" y="642616"/>
                </a:lnTo>
                <a:lnTo>
                  <a:pt x="105053" y="612297"/>
                </a:lnTo>
                <a:lnTo>
                  <a:pt x="74734" y="577851"/>
                </a:lnTo>
                <a:lnTo>
                  <a:pt x="48969" y="539706"/>
                </a:lnTo>
                <a:lnTo>
                  <a:pt x="28186" y="498288"/>
                </a:lnTo>
                <a:lnTo>
                  <a:pt x="12812" y="454025"/>
                </a:lnTo>
                <a:lnTo>
                  <a:pt x="3274" y="407345"/>
                </a:lnTo>
                <a:lnTo>
                  <a:pt x="0" y="358675"/>
                </a:lnTo>
                <a:lnTo>
                  <a:pt x="3274" y="310005"/>
                </a:lnTo>
                <a:lnTo>
                  <a:pt x="12812" y="263325"/>
                </a:lnTo>
                <a:lnTo>
                  <a:pt x="28186" y="219062"/>
                </a:lnTo>
                <a:lnTo>
                  <a:pt x="48969" y="177645"/>
                </a:lnTo>
                <a:lnTo>
                  <a:pt x="74734" y="139499"/>
                </a:lnTo>
                <a:lnTo>
                  <a:pt x="105053" y="105053"/>
                </a:lnTo>
                <a:lnTo>
                  <a:pt x="139499" y="74734"/>
                </a:lnTo>
                <a:lnTo>
                  <a:pt x="177645" y="48969"/>
                </a:lnTo>
                <a:lnTo>
                  <a:pt x="219062" y="28186"/>
                </a:lnTo>
                <a:lnTo>
                  <a:pt x="263325" y="12812"/>
                </a:lnTo>
                <a:lnTo>
                  <a:pt x="310005" y="3274"/>
                </a:lnTo>
                <a:lnTo>
                  <a:pt x="358675" y="0"/>
                </a:lnTo>
                <a:lnTo>
                  <a:pt x="2994648" y="0"/>
                </a:lnTo>
                <a:lnTo>
                  <a:pt x="3043318" y="3274"/>
                </a:lnTo>
                <a:lnTo>
                  <a:pt x="3089998" y="12812"/>
                </a:lnTo>
                <a:lnTo>
                  <a:pt x="3134261" y="28186"/>
                </a:lnTo>
                <a:lnTo>
                  <a:pt x="3175679" y="48969"/>
                </a:lnTo>
                <a:lnTo>
                  <a:pt x="3213824" y="74734"/>
                </a:lnTo>
                <a:lnTo>
                  <a:pt x="3248270" y="105053"/>
                </a:lnTo>
                <a:lnTo>
                  <a:pt x="3278590" y="139499"/>
                </a:lnTo>
                <a:lnTo>
                  <a:pt x="3304354" y="177644"/>
                </a:lnTo>
                <a:lnTo>
                  <a:pt x="3325138" y="219062"/>
                </a:lnTo>
                <a:lnTo>
                  <a:pt x="3340512" y="263325"/>
                </a:lnTo>
                <a:lnTo>
                  <a:pt x="3350050" y="310005"/>
                </a:lnTo>
                <a:lnTo>
                  <a:pt x="3352615" y="348137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63584" y="0"/>
            <a:ext cx="13024417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41781" y="2843968"/>
            <a:ext cx="10558780" cy="323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315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1"/>
            <a:ext cx="6191250" cy="4254500"/>
          </a:xfrm>
          <a:custGeom>
            <a:avLst/>
            <a:gdLst/>
            <a:ahLst/>
            <a:cxnLst/>
            <a:rect l="l" t="t" r="r" b="b"/>
            <a:pathLst>
              <a:path w="6191250" h="4254500">
                <a:moveTo>
                  <a:pt x="3556050" y="0"/>
                </a:moveTo>
                <a:lnTo>
                  <a:pt x="0" y="0"/>
                </a:lnTo>
                <a:lnTo>
                  <a:pt x="0" y="1729917"/>
                </a:lnTo>
                <a:lnTo>
                  <a:pt x="50723" y="1739404"/>
                </a:lnTo>
                <a:lnTo>
                  <a:pt x="98005" y="1747481"/>
                </a:lnTo>
                <a:lnTo>
                  <a:pt x="145529" y="1754873"/>
                </a:lnTo>
                <a:lnTo>
                  <a:pt x="193255" y="1761604"/>
                </a:lnTo>
                <a:lnTo>
                  <a:pt x="241223" y="1767636"/>
                </a:lnTo>
                <a:lnTo>
                  <a:pt x="289382" y="1772983"/>
                </a:lnTo>
                <a:lnTo>
                  <a:pt x="337756" y="1777631"/>
                </a:lnTo>
                <a:lnTo>
                  <a:pt x="386334" y="1781581"/>
                </a:lnTo>
                <a:lnTo>
                  <a:pt x="435114" y="1784819"/>
                </a:lnTo>
                <a:lnTo>
                  <a:pt x="481647" y="1787220"/>
                </a:lnTo>
                <a:lnTo>
                  <a:pt x="480669" y="1787220"/>
                </a:lnTo>
                <a:lnTo>
                  <a:pt x="531710" y="1789099"/>
                </a:lnTo>
                <a:lnTo>
                  <a:pt x="530694" y="1789099"/>
                </a:lnTo>
                <a:lnTo>
                  <a:pt x="581926" y="1790242"/>
                </a:lnTo>
                <a:lnTo>
                  <a:pt x="580656" y="1790242"/>
                </a:lnTo>
                <a:lnTo>
                  <a:pt x="632066" y="1790611"/>
                </a:lnTo>
                <a:lnTo>
                  <a:pt x="706755" y="1790242"/>
                </a:lnTo>
                <a:lnTo>
                  <a:pt x="779716" y="1789099"/>
                </a:lnTo>
                <a:lnTo>
                  <a:pt x="850976" y="1787220"/>
                </a:lnTo>
                <a:lnTo>
                  <a:pt x="920559" y="1784591"/>
                </a:lnTo>
                <a:lnTo>
                  <a:pt x="988517" y="1781225"/>
                </a:lnTo>
                <a:lnTo>
                  <a:pt x="1054862" y="1777136"/>
                </a:lnTo>
                <a:lnTo>
                  <a:pt x="1119632" y="1772310"/>
                </a:lnTo>
                <a:lnTo>
                  <a:pt x="1182852" y="1766760"/>
                </a:lnTo>
                <a:lnTo>
                  <a:pt x="1244574" y="1760486"/>
                </a:lnTo>
                <a:lnTo>
                  <a:pt x="1304823" y="1753514"/>
                </a:lnTo>
                <a:lnTo>
                  <a:pt x="1363624" y="1745830"/>
                </a:lnTo>
                <a:lnTo>
                  <a:pt x="1421015" y="1737448"/>
                </a:lnTo>
                <a:lnTo>
                  <a:pt x="1477035" y="1728368"/>
                </a:lnTo>
                <a:lnTo>
                  <a:pt x="1531696" y="1718602"/>
                </a:lnTo>
                <a:lnTo>
                  <a:pt x="1585048" y="1708137"/>
                </a:lnTo>
                <a:lnTo>
                  <a:pt x="1637118" y="1697012"/>
                </a:lnTo>
                <a:lnTo>
                  <a:pt x="1687944" y="1685201"/>
                </a:lnTo>
                <a:lnTo>
                  <a:pt x="1737550" y="1672717"/>
                </a:lnTo>
                <a:lnTo>
                  <a:pt x="1785975" y="1659585"/>
                </a:lnTo>
                <a:lnTo>
                  <a:pt x="1833245" y="1645780"/>
                </a:lnTo>
                <a:lnTo>
                  <a:pt x="1879384" y="1631327"/>
                </a:lnTo>
                <a:lnTo>
                  <a:pt x="1924456" y="1616227"/>
                </a:lnTo>
                <a:lnTo>
                  <a:pt x="1968461" y="1600492"/>
                </a:lnTo>
                <a:lnTo>
                  <a:pt x="2011451" y="1584109"/>
                </a:lnTo>
                <a:lnTo>
                  <a:pt x="2053437" y="1567103"/>
                </a:lnTo>
                <a:lnTo>
                  <a:pt x="2094484" y="1549463"/>
                </a:lnTo>
                <a:lnTo>
                  <a:pt x="2134590" y="1531200"/>
                </a:lnTo>
                <a:lnTo>
                  <a:pt x="2173808" y="1512328"/>
                </a:lnTo>
                <a:lnTo>
                  <a:pt x="2212175" y="1492846"/>
                </a:lnTo>
                <a:lnTo>
                  <a:pt x="2249703" y="1472768"/>
                </a:lnTo>
                <a:lnTo>
                  <a:pt x="2286431" y="1452079"/>
                </a:lnTo>
                <a:lnTo>
                  <a:pt x="2322411" y="1430794"/>
                </a:lnTo>
                <a:lnTo>
                  <a:pt x="2357653" y="1408925"/>
                </a:lnTo>
                <a:lnTo>
                  <a:pt x="2392197" y="1386484"/>
                </a:lnTo>
                <a:lnTo>
                  <a:pt x="2426068" y="1363446"/>
                </a:lnTo>
                <a:lnTo>
                  <a:pt x="2459317" y="1339850"/>
                </a:lnTo>
                <a:lnTo>
                  <a:pt x="2491956" y="1315681"/>
                </a:lnTo>
                <a:lnTo>
                  <a:pt x="2524023" y="1290942"/>
                </a:lnTo>
                <a:lnTo>
                  <a:pt x="2555570" y="1265656"/>
                </a:lnTo>
                <a:lnTo>
                  <a:pt x="2586596" y="1239824"/>
                </a:lnTo>
                <a:lnTo>
                  <a:pt x="2617152" y="1213434"/>
                </a:lnTo>
                <a:lnTo>
                  <a:pt x="2647277" y="1186510"/>
                </a:lnTo>
                <a:lnTo>
                  <a:pt x="2676995" y="1159052"/>
                </a:lnTo>
                <a:lnTo>
                  <a:pt x="2706332" y="1131062"/>
                </a:lnTo>
                <a:lnTo>
                  <a:pt x="2735326" y="1102550"/>
                </a:lnTo>
                <a:lnTo>
                  <a:pt x="2764015" y="1073518"/>
                </a:lnTo>
                <a:lnTo>
                  <a:pt x="2792425" y="1043965"/>
                </a:lnTo>
                <a:lnTo>
                  <a:pt x="2820593" y="1013917"/>
                </a:lnTo>
                <a:lnTo>
                  <a:pt x="2848546" y="983361"/>
                </a:lnTo>
                <a:lnTo>
                  <a:pt x="2876321" y="952309"/>
                </a:lnTo>
                <a:lnTo>
                  <a:pt x="2903944" y="920750"/>
                </a:lnTo>
                <a:lnTo>
                  <a:pt x="2931452" y="888720"/>
                </a:lnTo>
                <a:lnTo>
                  <a:pt x="2958884" y="856208"/>
                </a:lnTo>
                <a:lnTo>
                  <a:pt x="2986252" y="823214"/>
                </a:lnTo>
                <a:lnTo>
                  <a:pt x="3013608" y="789749"/>
                </a:lnTo>
                <a:lnTo>
                  <a:pt x="3040977" y="755827"/>
                </a:lnTo>
                <a:lnTo>
                  <a:pt x="3068396" y="721436"/>
                </a:lnTo>
                <a:lnTo>
                  <a:pt x="3095891" y="686587"/>
                </a:lnTo>
                <a:lnTo>
                  <a:pt x="3151251" y="615569"/>
                </a:lnTo>
                <a:lnTo>
                  <a:pt x="3235693" y="505739"/>
                </a:lnTo>
                <a:lnTo>
                  <a:pt x="3265157" y="466902"/>
                </a:lnTo>
                <a:lnTo>
                  <a:pt x="3294049" y="427621"/>
                </a:lnTo>
                <a:lnTo>
                  <a:pt x="3322358" y="387908"/>
                </a:lnTo>
                <a:lnTo>
                  <a:pt x="3350082" y="347751"/>
                </a:lnTo>
                <a:lnTo>
                  <a:pt x="3377222" y="307174"/>
                </a:lnTo>
                <a:lnTo>
                  <a:pt x="3403752" y="266179"/>
                </a:lnTo>
                <a:lnTo>
                  <a:pt x="3429698" y="224764"/>
                </a:lnTo>
                <a:lnTo>
                  <a:pt x="3455022" y="182943"/>
                </a:lnTo>
                <a:lnTo>
                  <a:pt x="3479736" y="140728"/>
                </a:lnTo>
                <a:lnTo>
                  <a:pt x="3503828" y="98107"/>
                </a:lnTo>
                <a:lnTo>
                  <a:pt x="3527285" y="55092"/>
                </a:lnTo>
                <a:lnTo>
                  <a:pt x="3550120" y="11696"/>
                </a:lnTo>
                <a:lnTo>
                  <a:pt x="3556050" y="0"/>
                </a:lnTo>
                <a:close/>
              </a:path>
              <a:path w="6191250" h="4254500">
                <a:moveTo>
                  <a:pt x="6191097" y="0"/>
                </a:moveTo>
                <a:lnTo>
                  <a:pt x="4063555" y="0"/>
                </a:lnTo>
                <a:lnTo>
                  <a:pt x="4042714" y="38100"/>
                </a:lnTo>
                <a:lnTo>
                  <a:pt x="4020731" y="88900"/>
                </a:lnTo>
                <a:lnTo>
                  <a:pt x="4016502" y="101600"/>
                </a:lnTo>
                <a:lnTo>
                  <a:pt x="4008031" y="114300"/>
                </a:lnTo>
                <a:lnTo>
                  <a:pt x="4003789" y="127000"/>
                </a:lnTo>
                <a:lnTo>
                  <a:pt x="3981132" y="177800"/>
                </a:lnTo>
                <a:lnTo>
                  <a:pt x="3957396" y="228600"/>
                </a:lnTo>
                <a:lnTo>
                  <a:pt x="3932834" y="266700"/>
                </a:lnTo>
                <a:lnTo>
                  <a:pt x="3907739" y="317500"/>
                </a:lnTo>
                <a:lnTo>
                  <a:pt x="3882364" y="355600"/>
                </a:lnTo>
                <a:lnTo>
                  <a:pt x="3876459" y="368300"/>
                </a:lnTo>
                <a:lnTo>
                  <a:pt x="3865689" y="393700"/>
                </a:lnTo>
                <a:lnTo>
                  <a:pt x="3859771" y="393700"/>
                </a:lnTo>
                <a:lnTo>
                  <a:pt x="3832644" y="444500"/>
                </a:lnTo>
                <a:lnTo>
                  <a:pt x="3805377" y="482600"/>
                </a:lnTo>
                <a:lnTo>
                  <a:pt x="3777843" y="533400"/>
                </a:lnTo>
                <a:lnTo>
                  <a:pt x="3749891" y="571500"/>
                </a:lnTo>
                <a:lnTo>
                  <a:pt x="3721404" y="622300"/>
                </a:lnTo>
                <a:lnTo>
                  <a:pt x="3715486" y="622300"/>
                </a:lnTo>
                <a:lnTo>
                  <a:pt x="3704729" y="647700"/>
                </a:lnTo>
                <a:lnTo>
                  <a:pt x="3698811" y="647700"/>
                </a:lnTo>
                <a:lnTo>
                  <a:pt x="3667976" y="698500"/>
                </a:lnTo>
                <a:lnTo>
                  <a:pt x="3636467" y="736600"/>
                </a:lnTo>
                <a:lnTo>
                  <a:pt x="3604272" y="774700"/>
                </a:lnTo>
                <a:lnTo>
                  <a:pt x="3571405" y="825500"/>
                </a:lnTo>
                <a:lnTo>
                  <a:pt x="3537851" y="863600"/>
                </a:lnTo>
                <a:lnTo>
                  <a:pt x="3532200" y="863600"/>
                </a:lnTo>
                <a:lnTo>
                  <a:pt x="3529380" y="876300"/>
                </a:lnTo>
                <a:lnTo>
                  <a:pt x="3523729" y="876300"/>
                </a:lnTo>
                <a:lnTo>
                  <a:pt x="3489502" y="914400"/>
                </a:lnTo>
                <a:lnTo>
                  <a:pt x="3454603" y="965200"/>
                </a:lnTo>
                <a:lnTo>
                  <a:pt x="3419017" y="1003300"/>
                </a:lnTo>
                <a:lnTo>
                  <a:pt x="3382759" y="1041400"/>
                </a:lnTo>
                <a:lnTo>
                  <a:pt x="3345827" y="1079500"/>
                </a:lnTo>
                <a:lnTo>
                  <a:pt x="3340176" y="1092200"/>
                </a:lnTo>
                <a:lnTo>
                  <a:pt x="3337356" y="1092200"/>
                </a:lnTo>
                <a:lnTo>
                  <a:pt x="3299764" y="1130300"/>
                </a:lnTo>
                <a:lnTo>
                  <a:pt x="3261626" y="1168400"/>
                </a:lnTo>
                <a:lnTo>
                  <a:pt x="3145332" y="1282700"/>
                </a:lnTo>
                <a:lnTo>
                  <a:pt x="3119920" y="1308100"/>
                </a:lnTo>
                <a:lnTo>
                  <a:pt x="3080626" y="1333500"/>
                </a:lnTo>
                <a:lnTo>
                  <a:pt x="3000565" y="1409700"/>
                </a:lnTo>
                <a:lnTo>
                  <a:pt x="2960065" y="1435100"/>
                </a:lnTo>
                <a:lnTo>
                  <a:pt x="2919425" y="1473200"/>
                </a:lnTo>
                <a:lnTo>
                  <a:pt x="2910954" y="1473200"/>
                </a:lnTo>
                <a:lnTo>
                  <a:pt x="2902483" y="1485900"/>
                </a:lnTo>
                <a:lnTo>
                  <a:pt x="2893999" y="1485900"/>
                </a:lnTo>
                <a:lnTo>
                  <a:pt x="2885529" y="1498600"/>
                </a:lnTo>
                <a:lnTo>
                  <a:pt x="2844533" y="1524000"/>
                </a:lnTo>
                <a:lnTo>
                  <a:pt x="2802852" y="1562100"/>
                </a:lnTo>
                <a:lnTo>
                  <a:pt x="2717457" y="1612900"/>
                </a:lnTo>
                <a:lnTo>
                  <a:pt x="2673743" y="1651000"/>
                </a:lnTo>
                <a:lnTo>
                  <a:pt x="2664828" y="1651000"/>
                </a:lnTo>
                <a:lnTo>
                  <a:pt x="2655392" y="1663700"/>
                </a:lnTo>
                <a:lnTo>
                  <a:pt x="2637028" y="1663700"/>
                </a:lnTo>
                <a:lnTo>
                  <a:pt x="2592667" y="1701800"/>
                </a:lnTo>
                <a:lnTo>
                  <a:pt x="2411120" y="1803400"/>
                </a:lnTo>
                <a:lnTo>
                  <a:pt x="2403094" y="1803400"/>
                </a:lnTo>
                <a:lnTo>
                  <a:pt x="2388082" y="1816100"/>
                </a:lnTo>
                <a:lnTo>
                  <a:pt x="2380056" y="1816100"/>
                </a:lnTo>
                <a:lnTo>
                  <a:pt x="2283815" y="1866900"/>
                </a:lnTo>
                <a:lnTo>
                  <a:pt x="2184870" y="1917700"/>
                </a:lnTo>
                <a:lnTo>
                  <a:pt x="2134374" y="1943100"/>
                </a:lnTo>
                <a:lnTo>
                  <a:pt x="2123084" y="1943100"/>
                </a:lnTo>
                <a:lnTo>
                  <a:pt x="2072233" y="1968500"/>
                </a:lnTo>
                <a:lnTo>
                  <a:pt x="2021243" y="1981200"/>
                </a:lnTo>
                <a:lnTo>
                  <a:pt x="1969985" y="2006600"/>
                </a:lnTo>
                <a:lnTo>
                  <a:pt x="1918322" y="2019300"/>
                </a:lnTo>
                <a:lnTo>
                  <a:pt x="1866112" y="2044700"/>
                </a:lnTo>
                <a:lnTo>
                  <a:pt x="1843519" y="2044700"/>
                </a:lnTo>
                <a:lnTo>
                  <a:pt x="1792376" y="2070100"/>
                </a:lnTo>
                <a:lnTo>
                  <a:pt x="1636217" y="2108200"/>
                </a:lnTo>
                <a:lnTo>
                  <a:pt x="1583715" y="2133600"/>
                </a:lnTo>
                <a:lnTo>
                  <a:pt x="1554327" y="2133600"/>
                </a:lnTo>
                <a:lnTo>
                  <a:pt x="1493012" y="2159000"/>
                </a:lnTo>
                <a:lnTo>
                  <a:pt x="1441170" y="2159000"/>
                </a:lnTo>
                <a:lnTo>
                  <a:pt x="1281557" y="2197100"/>
                </a:lnTo>
                <a:lnTo>
                  <a:pt x="1247406" y="2197100"/>
                </a:lnTo>
                <a:lnTo>
                  <a:pt x="1236383" y="2209800"/>
                </a:lnTo>
                <a:lnTo>
                  <a:pt x="1183538" y="2209800"/>
                </a:lnTo>
                <a:lnTo>
                  <a:pt x="1130160" y="2222500"/>
                </a:lnTo>
                <a:lnTo>
                  <a:pt x="1076363" y="2222500"/>
                </a:lnTo>
                <a:lnTo>
                  <a:pt x="1022311" y="2235200"/>
                </a:lnTo>
                <a:lnTo>
                  <a:pt x="935151" y="2235200"/>
                </a:lnTo>
                <a:lnTo>
                  <a:pt x="922921" y="2247900"/>
                </a:lnTo>
                <a:lnTo>
                  <a:pt x="356743" y="2247900"/>
                </a:lnTo>
                <a:lnTo>
                  <a:pt x="327088" y="2235200"/>
                </a:lnTo>
                <a:lnTo>
                  <a:pt x="216954" y="2235200"/>
                </a:lnTo>
                <a:lnTo>
                  <a:pt x="89877" y="2209800"/>
                </a:lnTo>
                <a:lnTo>
                  <a:pt x="44157" y="2209800"/>
                </a:lnTo>
                <a:lnTo>
                  <a:pt x="0" y="2197100"/>
                </a:lnTo>
                <a:lnTo>
                  <a:pt x="0" y="4216400"/>
                </a:lnTo>
                <a:lnTo>
                  <a:pt x="17767" y="4216400"/>
                </a:lnTo>
                <a:lnTo>
                  <a:pt x="64820" y="4229100"/>
                </a:lnTo>
                <a:lnTo>
                  <a:pt x="159258" y="4229100"/>
                </a:lnTo>
                <a:lnTo>
                  <a:pt x="206641" y="4241800"/>
                </a:lnTo>
                <a:lnTo>
                  <a:pt x="397230" y="4241800"/>
                </a:lnTo>
                <a:lnTo>
                  <a:pt x="445135" y="4254500"/>
                </a:lnTo>
                <a:lnTo>
                  <a:pt x="857224" y="4254500"/>
                </a:lnTo>
                <a:lnTo>
                  <a:pt x="911504" y="4241800"/>
                </a:lnTo>
                <a:lnTo>
                  <a:pt x="1126159" y="4241800"/>
                </a:lnTo>
                <a:lnTo>
                  <a:pt x="1179207" y="4229100"/>
                </a:lnTo>
                <a:lnTo>
                  <a:pt x="1284592" y="4229100"/>
                </a:lnTo>
                <a:lnTo>
                  <a:pt x="1336903" y="4216400"/>
                </a:lnTo>
                <a:lnTo>
                  <a:pt x="1388986" y="4216400"/>
                </a:lnTo>
                <a:lnTo>
                  <a:pt x="1440802" y="4203700"/>
                </a:lnTo>
                <a:lnTo>
                  <a:pt x="1492389" y="4203700"/>
                </a:lnTo>
                <a:lnTo>
                  <a:pt x="1543723" y="4191000"/>
                </a:lnTo>
                <a:lnTo>
                  <a:pt x="1594815" y="4191000"/>
                </a:lnTo>
                <a:lnTo>
                  <a:pt x="1645653" y="4178300"/>
                </a:lnTo>
                <a:lnTo>
                  <a:pt x="1696237" y="4178300"/>
                </a:lnTo>
                <a:lnTo>
                  <a:pt x="1796681" y="4152900"/>
                </a:lnTo>
                <a:lnTo>
                  <a:pt x="1846516" y="4152900"/>
                </a:lnTo>
                <a:lnTo>
                  <a:pt x="2043404" y="4102100"/>
                </a:lnTo>
                <a:lnTo>
                  <a:pt x="2091994" y="4102100"/>
                </a:lnTo>
                <a:lnTo>
                  <a:pt x="2564079" y="3975100"/>
                </a:lnTo>
                <a:lnTo>
                  <a:pt x="2609888" y="3949700"/>
                </a:lnTo>
                <a:lnTo>
                  <a:pt x="2790583" y="3898900"/>
                </a:lnTo>
                <a:lnTo>
                  <a:pt x="2835110" y="3873500"/>
                </a:lnTo>
                <a:lnTo>
                  <a:pt x="2923400" y="3848100"/>
                </a:lnTo>
                <a:lnTo>
                  <a:pt x="2967164" y="3822700"/>
                </a:lnTo>
                <a:lnTo>
                  <a:pt x="3010674" y="3810000"/>
                </a:lnTo>
                <a:lnTo>
                  <a:pt x="3053918" y="3784600"/>
                </a:lnTo>
                <a:lnTo>
                  <a:pt x="3139630" y="3759200"/>
                </a:lnTo>
                <a:lnTo>
                  <a:pt x="3182099" y="3733800"/>
                </a:lnTo>
                <a:lnTo>
                  <a:pt x="3224301" y="3721100"/>
                </a:lnTo>
                <a:lnTo>
                  <a:pt x="3307931" y="3670300"/>
                </a:lnTo>
                <a:lnTo>
                  <a:pt x="3349358" y="3657600"/>
                </a:lnTo>
                <a:lnTo>
                  <a:pt x="3390519" y="3632200"/>
                </a:lnTo>
                <a:lnTo>
                  <a:pt x="3431425" y="3619500"/>
                </a:lnTo>
                <a:lnTo>
                  <a:pt x="3552558" y="3543300"/>
                </a:lnTo>
                <a:lnTo>
                  <a:pt x="3592411" y="3530600"/>
                </a:lnTo>
                <a:lnTo>
                  <a:pt x="3749192" y="3429000"/>
                </a:lnTo>
                <a:lnTo>
                  <a:pt x="3787724" y="3416300"/>
                </a:lnTo>
                <a:lnTo>
                  <a:pt x="3901719" y="3340100"/>
                </a:lnTo>
                <a:lnTo>
                  <a:pt x="4050004" y="3238500"/>
                </a:lnTo>
                <a:lnTo>
                  <a:pt x="4158399" y="3162300"/>
                </a:lnTo>
                <a:lnTo>
                  <a:pt x="4193984" y="3124200"/>
                </a:lnTo>
                <a:lnTo>
                  <a:pt x="4229316" y="3098800"/>
                </a:lnTo>
                <a:lnTo>
                  <a:pt x="4333672" y="3022600"/>
                </a:lnTo>
                <a:lnTo>
                  <a:pt x="4367923" y="2984500"/>
                </a:lnTo>
                <a:lnTo>
                  <a:pt x="4469028" y="2908300"/>
                </a:lnTo>
                <a:lnTo>
                  <a:pt x="4502188" y="2870200"/>
                </a:lnTo>
                <a:lnTo>
                  <a:pt x="4567694" y="2819400"/>
                </a:lnTo>
                <a:lnTo>
                  <a:pt x="4600029" y="2781300"/>
                </a:lnTo>
                <a:lnTo>
                  <a:pt x="4632096" y="2755900"/>
                </a:lnTo>
                <a:lnTo>
                  <a:pt x="4663897" y="2717800"/>
                </a:lnTo>
                <a:lnTo>
                  <a:pt x="4695418" y="2692400"/>
                </a:lnTo>
                <a:lnTo>
                  <a:pt x="4726660" y="2654300"/>
                </a:lnTo>
                <a:lnTo>
                  <a:pt x="4757636" y="2628900"/>
                </a:lnTo>
                <a:lnTo>
                  <a:pt x="4788319" y="2590800"/>
                </a:lnTo>
                <a:lnTo>
                  <a:pt x="4818748" y="2565400"/>
                </a:lnTo>
                <a:lnTo>
                  <a:pt x="4848885" y="2527300"/>
                </a:lnTo>
                <a:lnTo>
                  <a:pt x="4878756" y="2501900"/>
                </a:lnTo>
                <a:lnTo>
                  <a:pt x="4908347" y="2463800"/>
                </a:lnTo>
                <a:lnTo>
                  <a:pt x="4937658" y="2438400"/>
                </a:lnTo>
                <a:lnTo>
                  <a:pt x="4966690" y="2400300"/>
                </a:lnTo>
                <a:lnTo>
                  <a:pt x="4995456" y="2362200"/>
                </a:lnTo>
                <a:lnTo>
                  <a:pt x="5023929" y="2336800"/>
                </a:lnTo>
                <a:lnTo>
                  <a:pt x="5052136" y="2298700"/>
                </a:lnTo>
                <a:lnTo>
                  <a:pt x="5080051" y="2260600"/>
                </a:lnTo>
                <a:lnTo>
                  <a:pt x="5093881" y="2247900"/>
                </a:lnTo>
                <a:lnTo>
                  <a:pt x="5107698" y="2235200"/>
                </a:lnTo>
                <a:lnTo>
                  <a:pt x="5135067" y="2197100"/>
                </a:lnTo>
                <a:lnTo>
                  <a:pt x="5162143" y="2159000"/>
                </a:lnTo>
                <a:lnTo>
                  <a:pt x="5188953" y="2120900"/>
                </a:lnTo>
                <a:lnTo>
                  <a:pt x="5215471" y="2095500"/>
                </a:lnTo>
                <a:lnTo>
                  <a:pt x="5241709" y="2057400"/>
                </a:lnTo>
                <a:lnTo>
                  <a:pt x="5267680" y="2019300"/>
                </a:lnTo>
                <a:lnTo>
                  <a:pt x="5293347" y="1981200"/>
                </a:lnTo>
                <a:lnTo>
                  <a:pt x="5318747" y="1943100"/>
                </a:lnTo>
                <a:lnTo>
                  <a:pt x="5343868" y="1905000"/>
                </a:lnTo>
                <a:lnTo>
                  <a:pt x="5368696" y="1866900"/>
                </a:lnTo>
                <a:lnTo>
                  <a:pt x="5393245" y="1828800"/>
                </a:lnTo>
                <a:lnTo>
                  <a:pt x="5417502" y="1803400"/>
                </a:lnTo>
                <a:lnTo>
                  <a:pt x="5441493" y="1765300"/>
                </a:lnTo>
                <a:lnTo>
                  <a:pt x="5465178" y="1727200"/>
                </a:lnTo>
                <a:lnTo>
                  <a:pt x="5488597" y="1689100"/>
                </a:lnTo>
                <a:lnTo>
                  <a:pt x="5511724" y="1651000"/>
                </a:lnTo>
                <a:lnTo>
                  <a:pt x="5534558" y="1612900"/>
                </a:lnTo>
                <a:lnTo>
                  <a:pt x="5557113" y="1574800"/>
                </a:lnTo>
                <a:lnTo>
                  <a:pt x="5579389" y="1524000"/>
                </a:lnTo>
                <a:lnTo>
                  <a:pt x="5601373" y="1485900"/>
                </a:lnTo>
                <a:lnTo>
                  <a:pt x="5623064" y="1447800"/>
                </a:lnTo>
                <a:lnTo>
                  <a:pt x="5644477" y="1409700"/>
                </a:lnTo>
                <a:lnTo>
                  <a:pt x="5665597" y="1371600"/>
                </a:lnTo>
                <a:lnTo>
                  <a:pt x="5686425" y="1333500"/>
                </a:lnTo>
                <a:lnTo>
                  <a:pt x="5706973" y="1295400"/>
                </a:lnTo>
                <a:lnTo>
                  <a:pt x="5727230" y="1257300"/>
                </a:lnTo>
                <a:lnTo>
                  <a:pt x="5747207" y="1206500"/>
                </a:lnTo>
                <a:lnTo>
                  <a:pt x="5766879" y="1168400"/>
                </a:lnTo>
                <a:lnTo>
                  <a:pt x="5786272" y="1130300"/>
                </a:lnTo>
                <a:lnTo>
                  <a:pt x="5805373" y="1092200"/>
                </a:lnTo>
                <a:lnTo>
                  <a:pt x="5824182" y="1054100"/>
                </a:lnTo>
                <a:lnTo>
                  <a:pt x="5842698" y="1003300"/>
                </a:lnTo>
                <a:lnTo>
                  <a:pt x="5860923" y="965200"/>
                </a:lnTo>
                <a:lnTo>
                  <a:pt x="5878855" y="927100"/>
                </a:lnTo>
                <a:lnTo>
                  <a:pt x="5896495" y="876300"/>
                </a:lnTo>
                <a:lnTo>
                  <a:pt x="5913856" y="838200"/>
                </a:lnTo>
                <a:lnTo>
                  <a:pt x="5930912" y="800100"/>
                </a:lnTo>
                <a:lnTo>
                  <a:pt x="5947676" y="749300"/>
                </a:lnTo>
                <a:lnTo>
                  <a:pt x="5964148" y="711200"/>
                </a:lnTo>
                <a:lnTo>
                  <a:pt x="5980328" y="673100"/>
                </a:lnTo>
                <a:lnTo>
                  <a:pt x="5996216" y="622300"/>
                </a:lnTo>
                <a:lnTo>
                  <a:pt x="6011799" y="584200"/>
                </a:lnTo>
                <a:lnTo>
                  <a:pt x="6027102" y="546100"/>
                </a:lnTo>
                <a:lnTo>
                  <a:pt x="6042101" y="495300"/>
                </a:lnTo>
                <a:lnTo>
                  <a:pt x="6056808" y="457200"/>
                </a:lnTo>
                <a:lnTo>
                  <a:pt x="6071209" y="406400"/>
                </a:lnTo>
                <a:lnTo>
                  <a:pt x="6085332" y="368300"/>
                </a:lnTo>
                <a:lnTo>
                  <a:pt x="6099149" y="317500"/>
                </a:lnTo>
                <a:lnTo>
                  <a:pt x="6112662" y="279400"/>
                </a:lnTo>
                <a:lnTo>
                  <a:pt x="6125883" y="228600"/>
                </a:lnTo>
                <a:lnTo>
                  <a:pt x="6138811" y="190500"/>
                </a:lnTo>
                <a:lnTo>
                  <a:pt x="6151448" y="139700"/>
                </a:lnTo>
                <a:lnTo>
                  <a:pt x="6163767" y="101600"/>
                </a:lnTo>
                <a:lnTo>
                  <a:pt x="6175807" y="50800"/>
                </a:lnTo>
                <a:lnTo>
                  <a:pt x="6187529" y="12700"/>
                </a:lnTo>
                <a:lnTo>
                  <a:pt x="6191097" y="0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3151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97893"/>
            <a:ext cx="18288000" cy="47891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3151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4481" y="2277798"/>
            <a:ext cx="8676801" cy="66306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4481" y="4580882"/>
            <a:ext cx="8671998" cy="432754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315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863192"/>
            <a:ext cx="10704195" cy="1833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21952" y="2183588"/>
            <a:ext cx="14244095" cy="6559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479236" rIns="0" bIns="0" rtlCol="0">
            <a:spAutoFit/>
          </a:bodyPr>
          <a:lstStyle/>
          <a:p>
            <a:pPr marL="12700" marR="5080">
              <a:lnSpc>
                <a:spcPct val="73100"/>
              </a:lnSpc>
              <a:spcBef>
                <a:spcPts val="3275"/>
              </a:spcBef>
            </a:pPr>
            <a:r>
              <a:rPr sz="9750" spc="-160" dirty="0"/>
              <a:t>Software-</a:t>
            </a:r>
            <a:r>
              <a:rPr sz="9750" spc="-114" dirty="0"/>
              <a:t>Defined </a:t>
            </a:r>
            <a:r>
              <a:rPr sz="9750" spc="-120" dirty="0"/>
              <a:t>Perimeter</a:t>
            </a:r>
            <a:r>
              <a:rPr sz="9750" spc="-515" dirty="0"/>
              <a:t> </a:t>
            </a:r>
            <a:r>
              <a:rPr sz="9750" spc="-10" dirty="0"/>
              <a:t>(SDP)</a:t>
            </a:r>
            <a:endParaRPr sz="9750"/>
          </a:p>
        </p:txBody>
      </p:sp>
      <p:sp>
        <p:nvSpPr>
          <p:cNvPr id="3" name="object 3"/>
          <p:cNvSpPr txBox="1"/>
          <p:nvPr/>
        </p:nvSpPr>
        <p:spPr>
          <a:xfrm>
            <a:off x="2244216" y="6508440"/>
            <a:ext cx="3213100" cy="58864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673735" marR="5080" indent="-661670">
              <a:lnSpc>
                <a:spcPct val="74400"/>
              </a:lnSpc>
              <a:spcBef>
                <a:spcPts val="775"/>
              </a:spcBef>
            </a:pP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SDP</a:t>
            </a:r>
            <a:r>
              <a:rPr sz="21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21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CYBERSECURITY INNOVATIONS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"/>
            <a:ext cx="6191250" cy="4254500"/>
          </a:xfrm>
          <a:custGeom>
            <a:avLst/>
            <a:gdLst/>
            <a:ahLst/>
            <a:cxnLst/>
            <a:rect l="l" t="t" r="r" b="b"/>
            <a:pathLst>
              <a:path w="6191250" h="4254500">
                <a:moveTo>
                  <a:pt x="3556050" y="0"/>
                </a:moveTo>
                <a:lnTo>
                  <a:pt x="0" y="0"/>
                </a:lnTo>
                <a:lnTo>
                  <a:pt x="0" y="1729917"/>
                </a:lnTo>
                <a:lnTo>
                  <a:pt x="50723" y="1739404"/>
                </a:lnTo>
                <a:lnTo>
                  <a:pt x="98005" y="1747481"/>
                </a:lnTo>
                <a:lnTo>
                  <a:pt x="145529" y="1754873"/>
                </a:lnTo>
                <a:lnTo>
                  <a:pt x="193255" y="1761604"/>
                </a:lnTo>
                <a:lnTo>
                  <a:pt x="241223" y="1767636"/>
                </a:lnTo>
                <a:lnTo>
                  <a:pt x="289382" y="1772983"/>
                </a:lnTo>
                <a:lnTo>
                  <a:pt x="337756" y="1777631"/>
                </a:lnTo>
                <a:lnTo>
                  <a:pt x="386334" y="1781581"/>
                </a:lnTo>
                <a:lnTo>
                  <a:pt x="435114" y="1784819"/>
                </a:lnTo>
                <a:lnTo>
                  <a:pt x="481647" y="1787220"/>
                </a:lnTo>
                <a:lnTo>
                  <a:pt x="480669" y="1787220"/>
                </a:lnTo>
                <a:lnTo>
                  <a:pt x="531710" y="1789099"/>
                </a:lnTo>
                <a:lnTo>
                  <a:pt x="530694" y="1789099"/>
                </a:lnTo>
                <a:lnTo>
                  <a:pt x="581926" y="1790242"/>
                </a:lnTo>
                <a:lnTo>
                  <a:pt x="580656" y="1790242"/>
                </a:lnTo>
                <a:lnTo>
                  <a:pt x="632066" y="1790611"/>
                </a:lnTo>
                <a:lnTo>
                  <a:pt x="706755" y="1790242"/>
                </a:lnTo>
                <a:lnTo>
                  <a:pt x="779716" y="1789099"/>
                </a:lnTo>
                <a:lnTo>
                  <a:pt x="850976" y="1787220"/>
                </a:lnTo>
                <a:lnTo>
                  <a:pt x="920559" y="1784591"/>
                </a:lnTo>
                <a:lnTo>
                  <a:pt x="988517" y="1781225"/>
                </a:lnTo>
                <a:lnTo>
                  <a:pt x="1054862" y="1777136"/>
                </a:lnTo>
                <a:lnTo>
                  <a:pt x="1119632" y="1772310"/>
                </a:lnTo>
                <a:lnTo>
                  <a:pt x="1182852" y="1766760"/>
                </a:lnTo>
                <a:lnTo>
                  <a:pt x="1244574" y="1760486"/>
                </a:lnTo>
                <a:lnTo>
                  <a:pt x="1304823" y="1753514"/>
                </a:lnTo>
                <a:lnTo>
                  <a:pt x="1363624" y="1745830"/>
                </a:lnTo>
                <a:lnTo>
                  <a:pt x="1421015" y="1737448"/>
                </a:lnTo>
                <a:lnTo>
                  <a:pt x="1477035" y="1728368"/>
                </a:lnTo>
                <a:lnTo>
                  <a:pt x="1531696" y="1718602"/>
                </a:lnTo>
                <a:lnTo>
                  <a:pt x="1585048" y="1708137"/>
                </a:lnTo>
                <a:lnTo>
                  <a:pt x="1637118" y="1697012"/>
                </a:lnTo>
                <a:lnTo>
                  <a:pt x="1687944" y="1685201"/>
                </a:lnTo>
                <a:lnTo>
                  <a:pt x="1737550" y="1672717"/>
                </a:lnTo>
                <a:lnTo>
                  <a:pt x="1785975" y="1659585"/>
                </a:lnTo>
                <a:lnTo>
                  <a:pt x="1833245" y="1645780"/>
                </a:lnTo>
                <a:lnTo>
                  <a:pt x="1879384" y="1631327"/>
                </a:lnTo>
                <a:lnTo>
                  <a:pt x="1924456" y="1616227"/>
                </a:lnTo>
                <a:lnTo>
                  <a:pt x="1968461" y="1600492"/>
                </a:lnTo>
                <a:lnTo>
                  <a:pt x="2011451" y="1584109"/>
                </a:lnTo>
                <a:lnTo>
                  <a:pt x="2053437" y="1567103"/>
                </a:lnTo>
                <a:lnTo>
                  <a:pt x="2094484" y="1549463"/>
                </a:lnTo>
                <a:lnTo>
                  <a:pt x="2134590" y="1531200"/>
                </a:lnTo>
                <a:lnTo>
                  <a:pt x="2173808" y="1512328"/>
                </a:lnTo>
                <a:lnTo>
                  <a:pt x="2212175" y="1492846"/>
                </a:lnTo>
                <a:lnTo>
                  <a:pt x="2249703" y="1472768"/>
                </a:lnTo>
                <a:lnTo>
                  <a:pt x="2286431" y="1452079"/>
                </a:lnTo>
                <a:lnTo>
                  <a:pt x="2322411" y="1430794"/>
                </a:lnTo>
                <a:lnTo>
                  <a:pt x="2357653" y="1408925"/>
                </a:lnTo>
                <a:lnTo>
                  <a:pt x="2392197" y="1386484"/>
                </a:lnTo>
                <a:lnTo>
                  <a:pt x="2426068" y="1363446"/>
                </a:lnTo>
                <a:lnTo>
                  <a:pt x="2459317" y="1339850"/>
                </a:lnTo>
                <a:lnTo>
                  <a:pt x="2491956" y="1315681"/>
                </a:lnTo>
                <a:lnTo>
                  <a:pt x="2524023" y="1290942"/>
                </a:lnTo>
                <a:lnTo>
                  <a:pt x="2555570" y="1265656"/>
                </a:lnTo>
                <a:lnTo>
                  <a:pt x="2586596" y="1239824"/>
                </a:lnTo>
                <a:lnTo>
                  <a:pt x="2617152" y="1213434"/>
                </a:lnTo>
                <a:lnTo>
                  <a:pt x="2647277" y="1186510"/>
                </a:lnTo>
                <a:lnTo>
                  <a:pt x="2676995" y="1159052"/>
                </a:lnTo>
                <a:lnTo>
                  <a:pt x="2706332" y="1131062"/>
                </a:lnTo>
                <a:lnTo>
                  <a:pt x="2735326" y="1102550"/>
                </a:lnTo>
                <a:lnTo>
                  <a:pt x="2764015" y="1073518"/>
                </a:lnTo>
                <a:lnTo>
                  <a:pt x="2792425" y="1043965"/>
                </a:lnTo>
                <a:lnTo>
                  <a:pt x="2820593" y="1013917"/>
                </a:lnTo>
                <a:lnTo>
                  <a:pt x="2848546" y="983361"/>
                </a:lnTo>
                <a:lnTo>
                  <a:pt x="2876321" y="952309"/>
                </a:lnTo>
                <a:lnTo>
                  <a:pt x="2903944" y="920750"/>
                </a:lnTo>
                <a:lnTo>
                  <a:pt x="2931452" y="888720"/>
                </a:lnTo>
                <a:lnTo>
                  <a:pt x="2958884" y="856208"/>
                </a:lnTo>
                <a:lnTo>
                  <a:pt x="2986252" y="823214"/>
                </a:lnTo>
                <a:lnTo>
                  <a:pt x="3013608" y="789749"/>
                </a:lnTo>
                <a:lnTo>
                  <a:pt x="3040977" y="755827"/>
                </a:lnTo>
                <a:lnTo>
                  <a:pt x="3068396" y="721436"/>
                </a:lnTo>
                <a:lnTo>
                  <a:pt x="3095891" y="686587"/>
                </a:lnTo>
                <a:lnTo>
                  <a:pt x="3151251" y="615569"/>
                </a:lnTo>
                <a:lnTo>
                  <a:pt x="3235693" y="505739"/>
                </a:lnTo>
                <a:lnTo>
                  <a:pt x="3265157" y="466902"/>
                </a:lnTo>
                <a:lnTo>
                  <a:pt x="3294049" y="427621"/>
                </a:lnTo>
                <a:lnTo>
                  <a:pt x="3322358" y="387908"/>
                </a:lnTo>
                <a:lnTo>
                  <a:pt x="3350082" y="347751"/>
                </a:lnTo>
                <a:lnTo>
                  <a:pt x="3377222" y="307174"/>
                </a:lnTo>
                <a:lnTo>
                  <a:pt x="3403752" y="266179"/>
                </a:lnTo>
                <a:lnTo>
                  <a:pt x="3429698" y="224764"/>
                </a:lnTo>
                <a:lnTo>
                  <a:pt x="3455022" y="182943"/>
                </a:lnTo>
                <a:lnTo>
                  <a:pt x="3479736" y="140728"/>
                </a:lnTo>
                <a:lnTo>
                  <a:pt x="3503828" y="98107"/>
                </a:lnTo>
                <a:lnTo>
                  <a:pt x="3527285" y="55092"/>
                </a:lnTo>
                <a:lnTo>
                  <a:pt x="3550120" y="11696"/>
                </a:lnTo>
                <a:lnTo>
                  <a:pt x="3556050" y="0"/>
                </a:lnTo>
                <a:close/>
              </a:path>
              <a:path w="6191250" h="4254500">
                <a:moveTo>
                  <a:pt x="6191097" y="0"/>
                </a:moveTo>
                <a:lnTo>
                  <a:pt x="4063555" y="0"/>
                </a:lnTo>
                <a:lnTo>
                  <a:pt x="4042714" y="38100"/>
                </a:lnTo>
                <a:lnTo>
                  <a:pt x="4020731" y="88900"/>
                </a:lnTo>
                <a:lnTo>
                  <a:pt x="4016502" y="101600"/>
                </a:lnTo>
                <a:lnTo>
                  <a:pt x="4008031" y="114300"/>
                </a:lnTo>
                <a:lnTo>
                  <a:pt x="4003789" y="127000"/>
                </a:lnTo>
                <a:lnTo>
                  <a:pt x="3981132" y="177800"/>
                </a:lnTo>
                <a:lnTo>
                  <a:pt x="3957396" y="228600"/>
                </a:lnTo>
                <a:lnTo>
                  <a:pt x="3932834" y="266700"/>
                </a:lnTo>
                <a:lnTo>
                  <a:pt x="3907739" y="317500"/>
                </a:lnTo>
                <a:lnTo>
                  <a:pt x="3882364" y="355600"/>
                </a:lnTo>
                <a:lnTo>
                  <a:pt x="3876459" y="368300"/>
                </a:lnTo>
                <a:lnTo>
                  <a:pt x="3865689" y="393700"/>
                </a:lnTo>
                <a:lnTo>
                  <a:pt x="3859771" y="393700"/>
                </a:lnTo>
                <a:lnTo>
                  <a:pt x="3832644" y="444500"/>
                </a:lnTo>
                <a:lnTo>
                  <a:pt x="3805377" y="482600"/>
                </a:lnTo>
                <a:lnTo>
                  <a:pt x="3777843" y="533400"/>
                </a:lnTo>
                <a:lnTo>
                  <a:pt x="3749891" y="571500"/>
                </a:lnTo>
                <a:lnTo>
                  <a:pt x="3721404" y="622300"/>
                </a:lnTo>
                <a:lnTo>
                  <a:pt x="3715486" y="622300"/>
                </a:lnTo>
                <a:lnTo>
                  <a:pt x="3704729" y="647700"/>
                </a:lnTo>
                <a:lnTo>
                  <a:pt x="3698811" y="647700"/>
                </a:lnTo>
                <a:lnTo>
                  <a:pt x="3667976" y="698500"/>
                </a:lnTo>
                <a:lnTo>
                  <a:pt x="3636467" y="736600"/>
                </a:lnTo>
                <a:lnTo>
                  <a:pt x="3604272" y="774700"/>
                </a:lnTo>
                <a:lnTo>
                  <a:pt x="3571405" y="825500"/>
                </a:lnTo>
                <a:lnTo>
                  <a:pt x="3537851" y="863600"/>
                </a:lnTo>
                <a:lnTo>
                  <a:pt x="3532200" y="863600"/>
                </a:lnTo>
                <a:lnTo>
                  <a:pt x="3529380" y="876300"/>
                </a:lnTo>
                <a:lnTo>
                  <a:pt x="3523729" y="876300"/>
                </a:lnTo>
                <a:lnTo>
                  <a:pt x="3489502" y="914400"/>
                </a:lnTo>
                <a:lnTo>
                  <a:pt x="3454603" y="965200"/>
                </a:lnTo>
                <a:lnTo>
                  <a:pt x="3419017" y="1003300"/>
                </a:lnTo>
                <a:lnTo>
                  <a:pt x="3382759" y="1041400"/>
                </a:lnTo>
                <a:lnTo>
                  <a:pt x="3345827" y="1079500"/>
                </a:lnTo>
                <a:lnTo>
                  <a:pt x="3340176" y="1092200"/>
                </a:lnTo>
                <a:lnTo>
                  <a:pt x="3337356" y="1092200"/>
                </a:lnTo>
                <a:lnTo>
                  <a:pt x="3299764" y="1130300"/>
                </a:lnTo>
                <a:lnTo>
                  <a:pt x="3261626" y="1168400"/>
                </a:lnTo>
                <a:lnTo>
                  <a:pt x="3145332" y="1282700"/>
                </a:lnTo>
                <a:lnTo>
                  <a:pt x="3119920" y="1308100"/>
                </a:lnTo>
                <a:lnTo>
                  <a:pt x="3080626" y="1333500"/>
                </a:lnTo>
                <a:lnTo>
                  <a:pt x="3000565" y="1409700"/>
                </a:lnTo>
                <a:lnTo>
                  <a:pt x="2960065" y="1435100"/>
                </a:lnTo>
                <a:lnTo>
                  <a:pt x="2919425" y="1473200"/>
                </a:lnTo>
                <a:lnTo>
                  <a:pt x="2910954" y="1473200"/>
                </a:lnTo>
                <a:lnTo>
                  <a:pt x="2902483" y="1485900"/>
                </a:lnTo>
                <a:lnTo>
                  <a:pt x="2893999" y="1485900"/>
                </a:lnTo>
                <a:lnTo>
                  <a:pt x="2885529" y="1498600"/>
                </a:lnTo>
                <a:lnTo>
                  <a:pt x="2844533" y="1524000"/>
                </a:lnTo>
                <a:lnTo>
                  <a:pt x="2802852" y="1562100"/>
                </a:lnTo>
                <a:lnTo>
                  <a:pt x="2717457" y="1612900"/>
                </a:lnTo>
                <a:lnTo>
                  <a:pt x="2673743" y="1651000"/>
                </a:lnTo>
                <a:lnTo>
                  <a:pt x="2664828" y="1651000"/>
                </a:lnTo>
                <a:lnTo>
                  <a:pt x="2655392" y="1663700"/>
                </a:lnTo>
                <a:lnTo>
                  <a:pt x="2637028" y="1663700"/>
                </a:lnTo>
                <a:lnTo>
                  <a:pt x="2592667" y="1701800"/>
                </a:lnTo>
                <a:lnTo>
                  <a:pt x="2411120" y="1803400"/>
                </a:lnTo>
                <a:lnTo>
                  <a:pt x="2403094" y="1803400"/>
                </a:lnTo>
                <a:lnTo>
                  <a:pt x="2388082" y="1816100"/>
                </a:lnTo>
                <a:lnTo>
                  <a:pt x="2380056" y="1816100"/>
                </a:lnTo>
                <a:lnTo>
                  <a:pt x="2283815" y="1866900"/>
                </a:lnTo>
                <a:lnTo>
                  <a:pt x="2184870" y="1917700"/>
                </a:lnTo>
                <a:lnTo>
                  <a:pt x="2134374" y="1943100"/>
                </a:lnTo>
                <a:lnTo>
                  <a:pt x="2123084" y="1943100"/>
                </a:lnTo>
                <a:lnTo>
                  <a:pt x="2072233" y="1968500"/>
                </a:lnTo>
                <a:lnTo>
                  <a:pt x="2021243" y="1981200"/>
                </a:lnTo>
                <a:lnTo>
                  <a:pt x="1969985" y="2006600"/>
                </a:lnTo>
                <a:lnTo>
                  <a:pt x="1918322" y="2019300"/>
                </a:lnTo>
                <a:lnTo>
                  <a:pt x="1866112" y="2044700"/>
                </a:lnTo>
                <a:lnTo>
                  <a:pt x="1843519" y="2044700"/>
                </a:lnTo>
                <a:lnTo>
                  <a:pt x="1792376" y="2070100"/>
                </a:lnTo>
                <a:lnTo>
                  <a:pt x="1636217" y="2108200"/>
                </a:lnTo>
                <a:lnTo>
                  <a:pt x="1583715" y="2133600"/>
                </a:lnTo>
                <a:lnTo>
                  <a:pt x="1554327" y="2133600"/>
                </a:lnTo>
                <a:lnTo>
                  <a:pt x="1493012" y="2159000"/>
                </a:lnTo>
                <a:lnTo>
                  <a:pt x="1441170" y="2159000"/>
                </a:lnTo>
                <a:lnTo>
                  <a:pt x="1281557" y="2197100"/>
                </a:lnTo>
                <a:lnTo>
                  <a:pt x="1247406" y="2197100"/>
                </a:lnTo>
                <a:lnTo>
                  <a:pt x="1236383" y="2209800"/>
                </a:lnTo>
                <a:lnTo>
                  <a:pt x="1183538" y="2209800"/>
                </a:lnTo>
                <a:lnTo>
                  <a:pt x="1130160" y="2222500"/>
                </a:lnTo>
                <a:lnTo>
                  <a:pt x="1076363" y="2222500"/>
                </a:lnTo>
                <a:lnTo>
                  <a:pt x="1022311" y="2235200"/>
                </a:lnTo>
                <a:lnTo>
                  <a:pt x="935151" y="2235200"/>
                </a:lnTo>
                <a:lnTo>
                  <a:pt x="922921" y="2247900"/>
                </a:lnTo>
                <a:lnTo>
                  <a:pt x="356743" y="2247900"/>
                </a:lnTo>
                <a:lnTo>
                  <a:pt x="327088" y="2235200"/>
                </a:lnTo>
                <a:lnTo>
                  <a:pt x="216954" y="2235200"/>
                </a:lnTo>
                <a:lnTo>
                  <a:pt x="89877" y="2209800"/>
                </a:lnTo>
                <a:lnTo>
                  <a:pt x="44157" y="2209800"/>
                </a:lnTo>
                <a:lnTo>
                  <a:pt x="0" y="2197100"/>
                </a:lnTo>
                <a:lnTo>
                  <a:pt x="0" y="4216400"/>
                </a:lnTo>
                <a:lnTo>
                  <a:pt x="17767" y="4216400"/>
                </a:lnTo>
                <a:lnTo>
                  <a:pt x="64820" y="4229100"/>
                </a:lnTo>
                <a:lnTo>
                  <a:pt x="159258" y="4229100"/>
                </a:lnTo>
                <a:lnTo>
                  <a:pt x="206641" y="4241800"/>
                </a:lnTo>
                <a:lnTo>
                  <a:pt x="397230" y="4241800"/>
                </a:lnTo>
                <a:lnTo>
                  <a:pt x="445135" y="4254500"/>
                </a:lnTo>
                <a:lnTo>
                  <a:pt x="857224" y="4254500"/>
                </a:lnTo>
                <a:lnTo>
                  <a:pt x="911504" y="4241800"/>
                </a:lnTo>
                <a:lnTo>
                  <a:pt x="1126159" y="4241800"/>
                </a:lnTo>
                <a:lnTo>
                  <a:pt x="1179207" y="4229100"/>
                </a:lnTo>
                <a:lnTo>
                  <a:pt x="1284592" y="4229100"/>
                </a:lnTo>
                <a:lnTo>
                  <a:pt x="1336903" y="4216400"/>
                </a:lnTo>
                <a:lnTo>
                  <a:pt x="1388986" y="4216400"/>
                </a:lnTo>
                <a:lnTo>
                  <a:pt x="1440802" y="4203700"/>
                </a:lnTo>
                <a:lnTo>
                  <a:pt x="1492389" y="4203700"/>
                </a:lnTo>
                <a:lnTo>
                  <a:pt x="1543723" y="4191000"/>
                </a:lnTo>
                <a:lnTo>
                  <a:pt x="1594815" y="4191000"/>
                </a:lnTo>
                <a:lnTo>
                  <a:pt x="1645653" y="4178300"/>
                </a:lnTo>
                <a:lnTo>
                  <a:pt x="1696237" y="4178300"/>
                </a:lnTo>
                <a:lnTo>
                  <a:pt x="1796681" y="4152900"/>
                </a:lnTo>
                <a:lnTo>
                  <a:pt x="1846516" y="4152900"/>
                </a:lnTo>
                <a:lnTo>
                  <a:pt x="2043404" y="4102100"/>
                </a:lnTo>
                <a:lnTo>
                  <a:pt x="2091994" y="4102100"/>
                </a:lnTo>
                <a:lnTo>
                  <a:pt x="2564079" y="3975100"/>
                </a:lnTo>
                <a:lnTo>
                  <a:pt x="2609888" y="3949700"/>
                </a:lnTo>
                <a:lnTo>
                  <a:pt x="2790583" y="3898900"/>
                </a:lnTo>
                <a:lnTo>
                  <a:pt x="2835110" y="3873500"/>
                </a:lnTo>
                <a:lnTo>
                  <a:pt x="2923400" y="3848100"/>
                </a:lnTo>
                <a:lnTo>
                  <a:pt x="2967164" y="3822700"/>
                </a:lnTo>
                <a:lnTo>
                  <a:pt x="3010674" y="3810000"/>
                </a:lnTo>
                <a:lnTo>
                  <a:pt x="3053918" y="3784600"/>
                </a:lnTo>
                <a:lnTo>
                  <a:pt x="3139630" y="3759200"/>
                </a:lnTo>
                <a:lnTo>
                  <a:pt x="3182099" y="3733800"/>
                </a:lnTo>
                <a:lnTo>
                  <a:pt x="3224301" y="3721100"/>
                </a:lnTo>
                <a:lnTo>
                  <a:pt x="3307931" y="3670300"/>
                </a:lnTo>
                <a:lnTo>
                  <a:pt x="3349358" y="3657600"/>
                </a:lnTo>
                <a:lnTo>
                  <a:pt x="3390519" y="3632200"/>
                </a:lnTo>
                <a:lnTo>
                  <a:pt x="3431425" y="3619500"/>
                </a:lnTo>
                <a:lnTo>
                  <a:pt x="3552558" y="3543300"/>
                </a:lnTo>
                <a:lnTo>
                  <a:pt x="3592411" y="3530600"/>
                </a:lnTo>
                <a:lnTo>
                  <a:pt x="3749192" y="3429000"/>
                </a:lnTo>
                <a:lnTo>
                  <a:pt x="3787724" y="3416300"/>
                </a:lnTo>
                <a:lnTo>
                  <a:pt x="3901719" y="3340100"/>
                </a:lnTo>
                <a:lnTo>
                  <a:pt x="4050004" y="3238500"/>
                </a:lnTo>
                <a:lnTo>
                  <a:pt x="4158399" y="3162300"/>
                </a:lnTo>
                <a:lnTo>
                  <a:pt x="4193984" y="3124200"/>
                </a:lnTo>
                <a:lnTo>
                  <a:pt x="4229316" y="3098800"/>
                </a:lnTo>
                <a:lnTo>
                  <a:pt x="4333672" y="3022600"/>
                </a:lnTo>
                <a:lnTo>
                  <a:pt x="4367923" y="2984500"/>
                </a:lnTo>
                <a:lnTo>
                  <a:pt x="4469028" y="2908300"/>
                </a:lnTo>
                <a:lnTo>
                  <a:pt x="4502188" y="2870200"/>
                </a:lnTo>
                <a:lnTo>
                  <a:pt x="4567694" y="2819400"/>
                </a:lnTo>
                <a:lnTo>
                  <a:pt x="4600029" y="2781300"/>
                </a:lnTo>
                <a:lnTo>
                  <a:pt x="4632096" y="2755900"/>
                </a:lnTo>
                <a:lnTo>
                  <a:pt x="4663897" y="2717800"/>
                </a:lnTo>
                <a:lnTo>
                  <a:pt x="4695418" y="2692400"/>
                </a:lnTo>
                <a:lnTo>
                  <a:pt x="4726660" y="2654300"/>
                </a:lnTo>
                <a:lnTo>
                  <a:pt x="4757636" y="2628900"/>
                </a:lnTo>
                <a:lnTo>
                  <a:pt x="4788319" y="2590800"/>
                </a:lnTo>
                <a:lnTo>
                  <a:pt x="4818748" y="2565400"/>
                </a:lnTo>
                <a:lnTo>
                  <a:pt x="4848885" y="2527300"/>
                </a:lnTo>
                <a:lnTo>
                  <a:pt x="4878756" y="2501900"/>
                </a:lnTo>
                <a:lnTo>
                  <a:pt x="4908347" y="2463800"/>
                </a:lnTo>
                <a:lnTo>
                  <a:pt x="4937658" y="2438400"/>
                </a:lnTo>
                <a:lnTo>
                  <a:pt x="4966690" y="2400300"/>
                </a:lnTo>
                <a:lnTo>
                  <a:pt x="4995456" y="2362200"/>
                </a:lnTo>
                <a:lnTo>
                  <a:pt x="5023929" y="2336800"/>
                </a:lnTo>
                <a:lnTo>
                  <a:pt x="5052136" y="2298700"/>
                </a:lnTo>
                <a:lnTo>
                  <a:pt x="5080051" y="2260600"/>
                </a:lnTo>
                <a:lnTo>
                  <a:pt x="5093881" y="2247900"/>
                </a:lnTo>
                <a:lnTo>
                  <a:pt x="5107698" y="2235200"/>
                </a:lnTo>
                <a:lnTo>
                  <a:pt x="5135067" y="2197100"/>
                </a:lnTo>
                <a:lnTo>
                  <a:pt x="5162143" y="2159000"/>
                </a:lnTo>
                <a:lnTo>
                  <a:pt x="5188953" y="2120900"/>
                </a:lnTo>
                <a:lnTo>
                  <a:pt x="5215471" y="2095500"/>
                </a:lnTo>
                <a:lnTo>
                  <a:pt x="5241709" y="2057400"/>
                </a:lnTo>
                <a:lnTo>
                  <a:pt x="5267680" y="2019300"/>
                </a:lnTo>
                <a:lnTo>
                  <a:pt x="5293347" y="1981200"/>
                </a:lnTo>
                <a:lnTo>
                  <a:pt x="5318747" y="1943100"/>
                </a:lnTo>
                <a:lnTo>
                  <a:pt x="5343868" y="1905000"/>
                </a:lnTo>
                <a:lnTo>
                  <a:pt x="5368696" y="1866900"/>
                </a:lnTo>
                <a:lnTo>
                  <a:pt x="5393245" y="1828800"/>
                </a:lnTo>
                <a:lnTo>
                  <a:pt x="5417502" y="1803400"/>
                </a:lnTo>
                <a:lnTo>
                  <a:pt x="5441493" y="1765300"/>
                </a:lnTo>
                <a:lnTo>
                  <a:pt x="5465178" y="1727200"/>
                </a:lnTo>
                <a:lnTo>
                  <a:pt x="5488597" y="1689100"/>
                </a:lnTo>
                <a:lnTo>
                  <a:pt x="5511724" y="1651000"/>
                </a:lnTo>
                <a:lnTo>
                  <a:pt x="5534558" y="1612900"/>
                </a:lnTo>
                <a:lnTo>
                  <a:pt x="5557113" y="1574800"/>
                </a:lnTo>
                <a:lnTo>
                  <a:pt x="5579389" y="1524000"/>
                </a:lnTo>
                <a:lnTo>
                  <a:pt x="5601373" y="1485900"/>
                </a:lnTo>
                <a:lnTo>
                  <a:pt x="5623064" y="1447800"/>
                </a:lnTo>
                <a:lnTo>
                  <a:pt x="5644477" y="1409700"/>
                </a:lnTo>
                <a:lnTo>
                  <a:pt x="5665597" y="1371600"/>
                </a:lnTo>
                <a:lnTo>
                  <a:pt x="5686425" y="1333500"/>
                </a:lnTo>
                <a:lnTo>
                  <a:pt x="5706973" y="1295400"/>
                </a:lnTo>
                <a:lnTo>
                  <a:pt x="5727230" y="1257300"/>
                </a:lnTo>
                <a:lnTo>
                  <a:pt x="5747207" y="1206500"/>
                </a:lnTo>
                <a:lnTo>
                  <a:pt x="5766879" y="1168400"/>
                </a:lnTo>
                <a:lnTo>
                  <a:pt x="5786272" y="1130300"/>
                </a:lnTo>
                <a:lnTo>
                  <a:pt x="5805373" y="1092200"/>
                </a:lnTo>
                <a:lnTo>
                  <a:pt x="5824182" y="1054100"/>
                </a:lnTo>
                <a:lnTo>
                  <a:pt x="5842698" y="1003300"/>
                </a:lnTo>
                <a:lnTo>
                  <a:pt x="5860923" y="965200"/>
                </a:lnTo>
                <a:lnTo>
                  <a:pt x="5878855" y="927100"/>
                </a:lnTo>
                <a:lnTo>
                  <a:pt x="5896495" y="876300"/>
                </a:lnTo>
                <a:lnTo>
                  <a:pt x="5913856" y="838200"/>
                </a:lnTo>
                <a:lnTo>
                  <a:pt x="5930912" y="800100"/>
                </a:lnTo>
                <a:lnTo>
                  <a:pt x="5947676" y="749300"/>
                </a:lnTo>
                <a:lnTo>
                  <a:pt x="5964148" y="711200"/>
                </a:lnTo>
                <a:lnTo>
                  <a:pt x="5980328" y="673100"/>
                </a:lnTo>
                <a:lnTo>
                  <a:pt x="5996216" y="622300"/>
                </a:lnTo>
                <a:lnTo>
                  <a:pt x="6011799" y="584200"/>
                </a:lnTo>
                <a:lnTo>
                  <a:pt x="6027102" y="546100"/>
                </a:lnTo>
                <a:lnTo>
                  <a:pt x="6042101" y="495300"/>
                </a:lnTo>
                <a:lnTo>
                  <a:pt x="6056808" y="457200"/>
                </a:lnTo>
                <a:lnTo>
                  <a:pt x="6071209" y="406400"/>
                </a:lnTo>
                <a:lnTo>
                  <a:pt x="6085332" y="368300"/>
                </a:lnTo>
                <a:lnTo>
                  <a:pt x="6099149" y="317500"/>
                </a:lnTo>
                <a:lnTo>
                  <a:pt x="6112662" y="279400"/>
                </a:lnTo>
                <a:lnTo>
                  <a:pt x="6125883" y="228600"/>
                </a:lnTo>
                <a:lnTo>
                  <a:pt x="6138811" y="190500"/>
                </a:lnTo>
                <a:lnTo>
                  <a:pt x="6151448" y="139700"/>
                </a:lnTo>
                <a:lnTo>
                  <a:pt x="6163767" y="101600"/>
                </a:lnTo>
                <a:lnTo>
                  <a:pt x="6175807" y="50800"/>
                </a:lnTo>
                <a:lnTo>
                  <a:pt x="6187529" y="12700"/>
                </a:lnTo>
                <a:lnTo>
                  <a:pt x="6191097" y="0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1602" y="901064"/>
            <a:ext cx="4246880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spc="-180" dirty="0"/>
              <a:t>What</a:t>
            </a:r>
            <a:r>
              <a:rPr sz="4900" spc="-409" dirty="0"/>
              <a:t> </a:t>
            </a:r>
            <a:r>
              <a:rPr sz="4900" spc="-135" dirty="0"/>
              <a:t>is</a:t>
            </a:r>
            <a:r>
              <a:rPr sz="4900" spc="-405" dirty="0"/>
              <a:t> </a:t>
            </a:r>
            <a:r>
              <a:rPr sz="4900" spc="-35" dirty="0"/>
              <a:t>a</a:t>
            </a:r>
            <a:r>
              <a:rPr sz="4900" spc="-405" dirty="0"/>
              <a:t> </a:t>
            </a:r>
            <a:r>
              <a:rPr sz="4900" spc="-105" dirty="0"/>
              <a:t>SDP?</a:t>
            </a:r>
            <a:endParaRPr sz="49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5470" y="0"/>
            <a:ext cx="5932528" cy="10286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68207" y="4042796"/>
            <a:ext cx="14084935" cy="454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42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spc="-35" dirty="0">
                <a:solidFill>
                  <a:srgbClr val="FFFFFF"/>
                </a:solidFill>
                <a:latin typeface="Arial MT"/>
                <a:cs typeface="Arial MT"/>
              </a:rPr>
              <a:t>Software-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Defined</a:t>
            </a:r>
            <a:r>
              <a:rPr sz="42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spc="-20" dirty="0">
                <a:solidFill>
                  <a:srgbClr val="FFFFFF"/>
                </a:solidFill>
                <a:latin typeface="Arial MT"/>
                <a:cs typeface="Arial MT"/>
              </a:rPr>
              <a:t>Perimeter</a:t>
            </a:r>
            <a:r>
              <a:rPr sz="42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(SDP)</a:t>
            </a:r>
            <a:r>
              <a:rPr sz="42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42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42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modern</a:t>
            </a:r>
            <a:r>
              <a:rPr sz="42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spc="-10" dirty="0">
                <a:solidFill>
                  <a:srgbClr val="FFFFFF"/>
                </a:solidFill>
                <a:latin typeface="Arial MT"/>
                <a:cs typeface="Arial MT"/>
              </a:rPr>
              <a:t>security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architecture</a:t>
            </a:r>
            <a:r>
              <a:rPr sz="425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425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hides</a:t>
            </a:r>
            <a:r>
              <a:rPr sz="425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425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spc="-10" dirty="0">
                <a:solidFill>
                  <a:srgbClr val="FFFFFF"/>
                </a:solidFill>
                <a:latin typeface="Arial MT"/>
                <a:cs typeface="Arial MT"/>
              </a:rPr>
              <a:t>organization’s</a:t>
            </a:r>
            <a:r>
              <a:rPr sz="425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infrastructure</a:t>
            </a:r>
            <a:r>
              <a:rPr sz="425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spc="-20" dirty="0">
                <a:solidFill>
                  <a:srgbClr val="FFFFFF"/>
                </a:solidFill>
                <a:latin typeface="Arial MT"/>
                <a:cs typeface="Arial MT"/>
              </a:rPr>
              <a:t>from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42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public</a:t>
            </a:r>
            <a:r>
              <a:rPr sz="425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internet</a:t>
            </a:r>
            <a:r>
              <a:rPr sz="425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42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only</a:t>
            </a:r>
            <a:r>
              <a:rPr sz="425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allows</a:t>
            </a:r>
            <a:r>
              <a:rPr sz="425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access</a:t>
            </a:r>
            <a:r>
              <a:rPr sz="425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42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spc="-10" dirty="0">
                <a:solidFill>
                  <a:srgbClr val="FFFFFF"/>
                </a:solidFill>
                <a:latin typeface="Arial MT"/>
                <a:cs typeface="Arial MT"/>
              </a:rPr>
              <a:t>resources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after</a:t>
            </a:r>
            <a:r>
              <a:rPr sz="4250" spc="-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spc="-10" dirty="0">
                <a:solidFill>
                  <a:srgbClr val="FFFFFF"/>
                </a:solidFill>
                <a:latin typeface="Arial MT"/>
                <a:cs typeface="Arial MT"/>
              </a:rPr>
              <a:t>verifying</a:t>
            </a:r>
            <a:r>
              <a:rPr sz="425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425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user’s</a:t>
            </a:r>
            <a:r>
              <a:rPr sz="425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spc="5" dirty="0">
                <a:solidFill>
                  <a:srgbClr val="FFFFFF"/>
                </a:solidFill>
                <a:latin typeface="Arial MT"/>
                <a:cs typeface="Arial MT"/>
              </a:rPr>
              <a:t>iden</a:t>
            </a:r>
            <a:r>
              <a:rPr sz="4250" spc="10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4250" spc="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4250" spc="10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4250" spc="-540" dirty="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sz="4250" spc="15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425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spc="-10" dirty="0">
                <a:solidFill>
                  <a:srgbClr val="FFFFFF"/>
                </a:solidFill>
                <a:latin typeface="Arial MT"/>
                <a:cs typeface="Arial MT"/>
              </a:rPr>
              <a:t>device,</a:t>
            </a:r>
            <a:r>
              <a:rPr sz="4250" spc="-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425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context.</a:t>
            </a:r>
            <a:r>
              <a:rPr sz="425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spc="-20" dirty="0">
                <a:solidFill>
                  <a:srgbClr val="FFFFFF"/>
                </a:solidFill>
                <a:latin typeface="Arial MT"/>
                <a:cs typeface="Arial MT"/>
              </a:rPr>
              <a:t>It’s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often</a:t>
            </a:r>
            <a:r>
              <a:rPr sz="425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described</a:t>
            </a:r>
            <a:r>
              <a:rPr sz="425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425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“zero</a:t>
            </a:r>
            <a:r>
              <a:rPr sz="425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trust</a:t>
            </a:r>
            <a:r>
              <a:rPr sz="425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network</a:t>
            </a:r>
            <a:r>
              <a:rPr sz="425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spc="-10" dirty="0">
                <a:solidFill>
                  <a:srgbClr val="FFFFFF"/>
                </a:solidFill>
                <a:latin typeface="Arial MT"/>
                <a:cs typeface="Arial MT"/>
              </a:rPr>
              <a:t>access”</a:t>
            </a:r>
            <a:r>
              <a:rPr sz="4250" spc="-2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dirty="0">
                <a:solidFill>
                  <a:srgbClr val="FFFFFF"/>
                </a:solidFill>
                <a:latin typeface="Arial MT"/>
                <a:cs typeface="Arial MT"/>
              </a:rPr>
              <a:t>(ZTNA)</a:t>
            </a:r>
            <a:r>
              <a:rPr sz="425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spc="-35" dirty="0">
                <a:solidFill>
                  <a:srgbClr val="FFFFFF"/>
                </a:solidFill>
                <a:latin typeface="Arial MT"/>
                <a:cs typeface="Arial MT"/>
              </a:rPr>
              <a:t>in </a:t>
            </a:r>
            <a:r>
              <a:rPr sz="4250" spc="-10" dirty="0">
                <a:solidFill>
                  <a:srgbClr val="FFFFFF"/>
                </a:solidFill>
                <a:latin typeface="Arial MT"/>
                <a:cs typeface="Arial MT"/>
              </a:rPr>
              <a:t>practice.</a:t>
            </a:r>
            <a:endParaRPr sz="4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"/>
            <a:ext cx="6191250" cy="4254500"/>
          </a:xfrm>
          <a:custGeom>
            <a:avLst/>
            <a:gdLst/>
            <a:ahLst/>
            <a:cxnLst/>
            <a:rect l="l" t="t" r="r" b="b"/>
            <a:pathLst>
              <a:path w="6191250" h="4254500">
                <a:moveTo>
                  <a:pt x="3556050" y="0"/>
                </a:moveTo>
                <a:lnTo>
                  <a:pt x="0" y="0"/>
                </a:lnTo>
                <a:lnTo>
                  <a:pt x="0" y="1729917"/>
                </a:lnTo>
                <a:lnTo>
                  <a:pt x="50723" y="1739404"/>
                </a:lnTo>
                <a:lnTo>
                  <a:pt x="98005" y="1747481"/>
                </a:lnTo>
                <a:lnTo>
                  <a:pt x="145529" y="1754873"/>
                </a:lnTo>
                <a:lnTo>
                  <a:pt x="193255" y="1761604"/>
                </a:lnTo>
                <a:lnTo>
                  <a:pt x="241223" y="1767636"/>
                </a:lnTo>
                <a:lnTo>
                  <a:pt x="289382" y="1772983"/>
                </a:lnTo>
                <a:lnTo>
                  <a:pt x="337756" y="1777631"/>
                </a:lnTo>
                <a:lnTo>
                  <a:pt x="386334" y="1781581"/>
                </a:lnTo>
                <a:lnTo>
                  <a:pt x="435114" y="1784819"/>
                </a:lnTo>
                <a:lnTo>
                  <a:pt x="481647" y="1787220"/>
                </a:lnTo>
                <a:lnTo>
                  <a:pt x="480669" y="1787220"/>
                </a:lnTo>
                <a:lnTo>
                  <a:pt x="531710" y="1789099"/>
                </a:lnTo>
                <a:lnTo>
                  <a:pt x="530694" y="1789099"/>
                </a:lnTo>
                <a:lnTo>
                  <a:pt x="581926" y="1790242"/>
                </a:lnTo>
                <a:lnTo>
                  <a:pt x="580656" y="1790242"/>
                </a:lnTo>
                <a:lnTo>
                  <a:pt x="632066" y="1790611"/>
                </a:lnTo>
                <a:lnTo>
                  <a:pt x="706755" y="1790242"/>
                </a:lnTo>
                <a:lnTo>
                  <a:pt x="779716" y="1789099"/>
                </a:lnTo>
                <a:lnTo>
                  <a:pt x="850976" y="1787220"/>
                </a:lnTo>
                <a:lnTo>
                  <a:pt x="920559" y="1784591"/>
                </a:lnTo>
                <a:lnTo>
                  <a:pt x="988517" y="1781225"/>
                </a:lnTo>
                <a:lnTo>
                  <a:pt x="1054862" y="1777136"/>
                </a:lnTo>
                <a:lnTo>
                  <a:pt x="1119632" y="1772310"/>
                </a:lnTo>
                <a:lnTo>
                  <a:pt x="1182852" y="1766760"/>
                </a:lnTo>
                <a:lnTo>
                  <a:pt x="1244574" y="1760486"/>
                </a:lnTo>
                <a:lnTo>
                  <a:pt x="1304823" y="1753514"/>
                </a:lnTo>
                <a:lnTo>
                  <a:pt x="1363624" y="1745830"/>
                </a:lnTo>
                <a:lnTo>
                  <a:pt x="1421015" y="1737448"/>
                </a:lnTo>
                <a:lnTo>
                  <a:pt x="1477035" y="1728368"/>
                </a:lnTo>
                <a:lnTo>
                  <a:pt x="1531696" y="1718602"/>
                </a:lnTo>
                <a:lnTo>
                  <a:pt x="1585048" y="1708137"/>
                </a:lnTo>
                <a:lnTo>
                  <a:pt x="1637118" y="1697012"/>
                </a:lnTo>
                <a:lnTo>
                  <a:pt x="1687944" y="1685201"/>
                </a:lnTo>
                <a:lnTo>
                  <a:pt x="1737550" y="1672717"/>
                </a:lnTo>
                <a:lnTo>
                  <a:pt x="1785975" y="1659585"/>
                </a:lnTo>
                <a:lnTo>
                  <a:pt x="1833245" y="1645780"/>
                </a:lnTo>
                <a:lnTo>
                  <a:pt x="1879384" y="1631327"/>
                </a:lnTo>
                <a:lnTo>
                  <a:pt x="1924456" y="1616227"/>
                </a:lnTo>
                <a:lnTo>
                  <a:pt x="1968461" y="1600492"/>
                </a:lnTo>
                <a:lnTo>
                  <a:pt x="2011451" y="1584109"/>
                </a:lnTo>
                <a:lnTo>
                  <a:pt x="2053437" y="1567103"/>
                </a:lnTo>
                <a:lnTo>
                  <a:pt x="2094484" y="1549463"/>
                </a:lnTo>
                <a:lnTo>
                  <a:pt x="2134590" y="1531200"/>
                </a:lnTo>
                <a:lnTo>
                  <a:pt x="2173808" y="1512328"/>
                </a:lnTo>
                <a:lnTo>
                  <a:pt x="2212175" y="1492846"/>
                </a:lnTo>
                <a:lnTo>
                  <a:pt x="2249703" y="1472768"/>
                </a:lnTo>
                <a:lnTo>
                  <a:pt x="2286431" y="1452079"/>
                </a:lnTo>
                <a:lnTo>
                  <a:pt x="2322411" y="1430794"/>
                </a:lnTo>
                <a:lnTo>
                  <a:pt x="2357653" y="1408925"/>
                </a:lnTo>
                <a:lnTo>
                  <a:pt x="2392197" y="1386484"/>
                </a:lnTo>
                <a:lnTo>
                  <a:pt x="2426068" y="1363446"/>
                </a:lnTo>
                <a:lnTo>
                  <a:pt x="2459317" y="1339850"/>
                </a:lnTo>
                <a:lnTo>
                  <a:pt x="2491956" y="1315681"/>
                </a:lnTo>
                <a:lnTo>
                  <a:pt x="2524023" y="1290942"/>
                </a:lnTo>
                <a:lnTo>
                  <a:pt x="2555570" y="1265656"/>
                </a:lnTo>
                <a:lnTo>
                  <a:pt x="2586596" y="1239824"/>
                </a:lnTo>
                <a:lnTo>
                  <a:pt x="2617152" y="1213434"/>
                </a:lnTo>
                <a:lnTo>
                  <a:pt x="2647277" y="1186510"/>
                </a:lnTo>
                <a:lnTo>
                  <a:pt x="2676995" y="1159052"/>
                </a:lnTo>
                <a:lnTo>
                  <a:pt x="2706332" y="1131062"/>
                </a:lnTo>
                <a:lnTo>
                  <a:pt x="2735326" y="1102550"/>
                </a:lnTo>
                <a:lnTo>
                  <a:pt x="2764015" y="1073518"/>
                </a:lnTo>
                <a:lnTo>
                  <a:pt x="2792425" y="1043965"/>
                </a:lnTo>
                <a:lnTo>
                  <a:pt x="2820593" y="1013917"/>
                </a:lnTo>
                <a:lnTo>
                  <a:pt x="2848546" y="983361"/>
                </a:lnTo>
                <a:lnTo>
                  <a:pt x="2876321" y="952309"/>
                </a:lnTo>
                <a:lnTo>
                  <a:pt x="2903944" y="920750"/>
                </a:lnTo>
                <a:lnTo>
                  <a:pt x="2931452" y="888720"/>
                </a:lnTo>
                <a:lnTo>
                  <a:pt x="2958884" y="856208"/>
                </a:lnTo>
                <a:lnTo>
                  <a:pt x="2986252" y="823214"/>
                </a:lnTo>
                <a:lnTo>
                  <a:pt x="3013608" y="789749"/>
                </a:lnTo>
                <a:lnTo>
                  <a:pt x="3040977" y="755827"/>
                </a:lnTo>
                <a:lnTo>
                  <a:pt x="3068396" y="721436"/>
                </a:lnTo>
                <a:lnTo>
                  <a:pt x="3095891" y="686587"/>
                </a:lnTo>
                <a:lnTo>
                  <a:pt x="3151251" y="615569"/>
                </a:lnTo>
                <a:lnTo>
                  <a:pt x="3235693" y="505739"/>
                </a:lnTo>
                <a:lnTo>
                  <a:pt x="3265157" y="466902"/>
                </a:lnTo>
                <a:lnTo>
                  <a:pt x="3294049" y="427621"/>
                </a:lnTo>
                <a:lnTo>
                  <a:pt x="3322358" y="387908"/>
                </a:lnTo>
                <a:lnTo>
                  <a:pt x="3350082" y="347751"/>
                </a:lnTo>
                <a:lnTo>
                  <a:pt x="3377222" y="307174"/>
                </a:lnTo>
                <a:lnTo>
                  <a:pt x="3403752" y="266179"/>
                </a:lnTo>
                <a:lnTo>
                  <a:pt x="3429698" y="224764"/>
                </a:lnTo>
                <a:lnTo>
                  <a:pt x="3455022" y="182943"/>
                </a:lnTo>
                <a:lnTo>
                  <a:pt x="3479736" y="140728"/>
                </a:lnTo>
                <a:lnTo>
                  <a:pt x="3503828" y="98107"/>
                </a:lnTo>
                <a:lnTo>
                  <a:pt x="3527285" y="55092"/>
                </a:lnTo>
                <a:lnTo>
                  <a:pt x="3550120" y="11696"/>
                </a:lnTo>
                <a:lnTo>
                  <a:pt x="3556050" y="0"/>
                </a:lnTo>
                <a:close/>
              </a:path>
              <a:path w="6191250" h="4254500">
                <a:moveTo>
                  <a:pt x="6191097" y="0"/>
                </a:moveTo>
                <a:lnTo>
                  <a:pt x="4063555" y="0"/>
                </a:lnTo>
                <a:lnTo>
                  <a:pt x="4042714" y="38100"/>
                </a:lnTo>
                <a:lnTo>
                  <a:pt x="4020731" y="88900"/>
                </a:lnTo>
                <a:lnTo>
                  <a:pt x="4016502" y="101600"/>
                </a:lnTo>
                <a:lnTo>
                  <a:pt x="4008031" y="114300"/>
                </a:lnTo>
                <a:lnTo>
                  <a:pt x="4003789" y="127000"/>
                </a:lnTo>
                <a:lnTo>
                  <a:pt x="3981132" y="177800"/>
                </a:lnTo>
                <a:lnTo>
                  <a:pt x="3957396" y="228600"/>
                </a:lnTo>
                <a:lnTo>
                  <a:pt x="3932834" y="266700"/>
                </a:lnTo>
                <a:lnTo>
                  <a:pt x="3907739" y="317500"/>
                </a:lnTo>
                <a:lnTo>
                  <a:pt x="3882364" y="355600"/>
                </a:lnTo>
                <a:lnTo>
                  <a:pt x="3876459" y="368300"/>
                </a:lnTo>
                <a:lnTo>
                  <a:pt x="3865689" y="393700"/>
                </a:lnTo>
                <a:lnTo>
                  <a:pt x="3859771" y="393700"/>
                </a:lnTo>
                <a:lnTo>
                  <a:pt x="3832644" y="444500"/>
                </a:lnTo>
                <a:lnTo>
                  <a:pt x="3805377" y="482600"/>
                </a:lnTo>
                <a:lnTo>
                  <a:pt x="3777843" y="533400"/>
                </a:lnTo>
                <a:lnTo>
                  <a:pt x="3749891" y="571500"/>
                </a:lnTo>
                <a:lnTo>
                  <a:pt x="3721404" y="622300"/>
                </a:lnTo>
                <a:lnTo>
                  <a:pt x="3715486" y="622300"/>
                </a:lnTo>
                <a:lnTo>
                  <a:pt x="3704729" y="647700"/>
                </a:lnTo>
                <a:lnTo>
                  <a:pt x="3698811" y="647700"/>
                </a:lnTo>
                <a:lnTo>
                  <a:pt x="3667976" y="698500"/>
                </a:lnTo>
                <a:lnTo>
                  <a:pt x="3636467" y="736600"/>
                </a:lnTo>
                <a:lnTo>
                  <a:pt x="3604272" y="774700"/>
                </a:lnTo>
                <a:lnTo>
                  <a:pt x="3571405" y="825500"/>
                </a:lnTo>
                <a:lnTo>
                  <a:pt x="3537851" y="863600"/>
                </a:lnTo>
                <a:lnTo>
                  <a:pt x="3532200" y="863600"/>
                </a:lnTo>
                <a:lnTo>
                  <a:pt x="3529380" y="876300"/>
                </a:lnTo>
                <a:lnTo>
                  <a:pt x="3523729" y="876300"/>
                </a:lnTo>
                <a:lnTo>
                  <a:pt x="3489502" y="914400"/>
                </a:lnTo>
                <a:lnTo>
                  <a:pt x="3454603" y="965200"/>
                </a:lnTo>
                <a:lnTo>
                  <a:pt x="3419017" y="1003300"/>
                </a:lnTo>
                <a:lnTo>
                  <a:pt x="3382759" y="1041400"/>
                </a:lnTo>
                <a:lnTo>
                  <a:pt x="3345827" y="1079500"/>
                </a:lnTo>
                <a:lnTo>
                  <a:pt x="3340176" y="1092200"/>
                </a:lnTo>
                <a:lnTo>
                  <a:pt x="3337356" y="1092200"/>
                </a:lnTo>
                <a:lnTo>
                  <a:pt x="3299764" y="1130300"/>
                </a:lnTo>
                <a:lnTo>
                  <a:pt x="3261626" y="1168400"/>
                </a:lnTo>
                <a:lnTo>
                  <a:pt x="3145332" y="1282700"/>
                </a:lnTo>
                <a:lnTo>
                  <a:pt x="3119920" y="1308100"/>
                </a:lnTo>
                <a:lnTo>
                  <a:pt x="3080626" y="1333500"/>
                </a:lnTo>
                <a:lnTo>
                  <a:pt x="3000565" y="1409700"/>
                </a:lnTo>
                <a:lnTo>
                  <a:pt x="2960065" y="1435100"/>
                </a:lnTo>
                <a:lnTo>
                  <a:pt x="2919425" y="1473200"/>
                </a:lnTo>
                <a:lnTo>
                  <a:pt x="2910954" y="1473200"/>
                </a:lnTo>
                <a:lnTo>
                  <a:pt x="2902483" y="1485900"/>
                </a:lnTo>
                <a:lnTo>
                  <a:pt x="2893999" y="1485900"/>
                </a:lnTo>
                <a:lnTo>
                  <a:pt x="2885529" y="1498600"/>
                </a:lnTo>
                <a:lnTo>
                  <a:pt x="2844533" y="1524000"/>
                </a:lnTo>
                <a:lnTo>
                  <a:pt x="2802852" y="1562100"/>
                </a:lnTo>
                <a:lnTo>
                  <a:pt x="2717457" y="1612900"/>
                </a:lnTo>
                <a:lnTo>
                  <a:pt x="2673743" y="1651000"/>
                </a:lnTo>
                <a:lnTo>
                  <a:pt x="2664828" y="1651000"/>
                </a:lnTo>
                <a:lnTo>
                  <a:pt x="2655392" y="1663700"/>
                </a:lnTo>
                <a:lnTo>
                  <a:pt x="2637028" y="1663700"/>
                </a:lnTo>
                <a:lnTo>
                  <a:pt x="2592667" y="1701800"/>
                </a:lnTo>
                <a:lnTo>
                  <a:pt x="2411120" y="1803400"/>
                </a:lnTo>
                <a:lnTo>
                  <a:pt x="2403094" y="1803400"/>
                </a:lnTo>
                <a:lnTo>
                  <a:pt x="2388082" y="1816100"/>
                </a:lnTo>
                <a:lnTo>
                  <a:pt x="2380056" y="1816100"/>
                </a:lnTo>
                <a:lnTo>
                  <a:pt x="2283815" y="1866900"/>
                </a:lnTo>
                <a:lnTo>
                  <a:pt x="2184870" y="1917700"/>
                </a:lnTo>
                <a:lnTo>
                  <a:pt x="2134374" y="1943100"/>
                </a:lnTo>
                <a:lnTo>
                  <a:pt x="2123084" y="1943100"/>
                </a:lnTo>
                <a:lnTo>
                  <a:pt x="2072233" y="1968500"/>
                </a:lnTo>
                <a:lnTo>
                  <a:pt x="2021243" y="1981200"/>
                </a:lnTo>
                <a:lnTo>
                  <a:pt x="1969985" y="2006600"/>
                </a:lnTo>
                <a:lnTo>
                  <a:pt x="1918322" y="2019300"/>
                </a:lnTo>
                <a:lnTo>
                  <a:pt x="1866112" y="2044700"/>
                </a:lnTo>
                <a:lnTo>
                  <a:pt x="1843519" y="2044700"/>
                </a:lnTo>
                <a:lnTo>
                  <a:pt x="1792376" y="2070100"/>
                </a:lnTo>
                <a:lnTo>
                  <a:pt x="1636217" y="2108200"/>
                </a:lnTo>
                <a:lnTo>
                  <a:pt x="1583715" y="2133600"/>
                </a:lnTo>
                <a:lnTo>
                  <a:pt x="1554327" y="2133600"/>
                </a:lnTo>
                <a:lnTo>
                  <a:pt x="1493012" y="2159000"/>
                </a:lnTo>
                <a:lnTo>
                  <a:pt x="1441170" y="2159000"/>
                </a:lnTo>
                <a:lnTo>
                  <a:pt x="1281557" y="2197100"/>
                </a:lnTo>
                <a:lnTo>
                  <a:pt x="1247406" y="2197100"/>
                </a:lnTo>
                <a:lnTo>
                  <a:pt x="1236383" y="2209800"/>
                </a:lnTo>
                <a:lnTo>
                  <a:pt x="1183538" y="2209800"/>
                </a:lnTo>
                <a:lnTo>
                  <a:pt x="1130160" y="2222500"/>
                </a:lnTo>
                <a:lnTo>
                  <a:pt x="1076363" y="2222500"/>
                </a:lnTo>
                <a:lnTo>
                  <a:pt x="1022311" y="2235200"/>
                </a:lnTo>
                <a:lnTo>
                  <a:pt x="935151" y="2235200"/>
                </a:lnTo>
                <a:lnTo>
                  <a:pt x="922921" y="2247900"/>
                </a:lnTo>
                <a:lnTo>
                  <a:pt x="356743" y="2247900"/>
                </a:lnTo>
                <a:lnTo>
                  <a:pt x="327088" y="2235200"/>
                </a:lnTo>
                <a:lnTo>
                  <a:pt x="216954" y="2235200"/>
                </a:lnTo>
                <a:lnTo>
                  <a:pt x="89877" y="2209800"/>
                </a:lnTo>
                <a:lnTo>
                  <a:pt x="44157" y="2209800"/>
                </a:lnTo>
                <a:lnTo>
                  <a:pt x="0" y="2197100"/>
                </a:lnTo>
                <a:lnTo>
                  <a:pt x="0" y="4216400"/>
                </a:lnTo>
                <a:lnTo>
                  <a:pt x="17767" y="4216400"/>
                </a:lnTo>
                <a:lnTo>
                  <a:pt x="64820" y="4229100"/>
                </a:lnTo>
                <a:lnTo>
                  <a:pt x="159258" y="4229100"/>
                </a:lnTo>
                <a:lnTo>
                  <a:pt x="206641" y="4241800"/>
                </a:lnTo>
                <a:lnTo>
                  <a:pt x="397230" y="4241800"/>
                </a:lnTo>
                <a:lnTo>
                  <a:pt x="445135" y="4254500"/>
                </a:lnTo>
                <a:lnTo>
                  <a:pt x="857224" y="4254500"/>
                </a:lnTo>
                <a:lnTo>
                  <a:pt x="911504" y="4241800"/>
                </a:lnTo>
                <a:lnTo>
                  <a:pt x="1126159" y="4241800"/>
                </a:lnTo>
                <a:lnTo>
                  <a:pt x="1179207" y="4229100"/>
                </a:lnTo>
                <a:lnTo>
                  <a:pt x="1284592" y="4229100"/>
                </a:lnTo>
                <a:lnTo>
                  <a:pt x="1336903" y="4216400"/>
                </a:lnTo>
                <a:lnTo>
                  <a:pt x="1388986" y="4216400"/>
                </a:lnTo>
                <a:lnTo>
                  <a:pt x="1440802" y="4203700"/>
                </a:lnTo>
                <a:lnTo>
                  <a:pt x="1492389" y="4203700"/>
                </a:lnTo>
                <a:lnTo>
                  <a:pt x="1543723" y="4191000"/>
                </a:lnTo>
                <a:lnTo>
                  <a:pt x="1594815" y="4191000"/>
                </a:lnTo>
                <a:lnTo>
                  <a:pt x="1645653" y="4178300"/>
                </a:lnTo>
                <a:lnTo>
                  <a:pt x="1696237" y="4178300"/>
                </a:lnTo>
                <a:lnTo>
                  <a:pt x="1796681" y="4152900"/>
                </a:lnTo>
                <a:lnTo>
                  <a:pt x="1846516" y="4152900"/>
                </a:lnTo>
                <a:lnTo>
                  <a:pt x="2043404" y="4102100"/>
                </a:lnTo>
                <a:lnTo>
                  <a:pt x="2091994" y="4102100"/>
                </a:lnTo>
                <a:lnTo>
                  <a:pt x="2564079" y="3975100"/>
                </a:lnTo>
                <a:lnTo>
                  <a:pt x="2609888" y="3949700"/>
                </a:lnTo>
                <a:lnTo>
                  <a:pt x="2790583" y="3898900"/>
                </a:lnTo>
                <a:lnTo>
                  <a:pt x="2835110" y="3873500"/>
                </a:lnTo>
                <a:lnTo>
                  <a:pt x="2923400" y="3848100"/>
                </a:lnTo>
                <a:lnTo>
                  <a:pt x="2967164" y="3822700"/>
                </a:lnTo>
                <a:lnTo>
                  <a:pt x="3010674" y="3810000"/>
                </a:lnTo>
                <a:lnTo>
                  <a:pt x="3053918" y="3784600"/>
                </a:lnTo>
                <a:lnTo>
                  <a:pt x="3139630" y="3759200"/>
                </a:lnTo>
                <a:lnTo>
                  <a:pt x="3182099" y="3733800"/>
                </a:lnTo>
                <a:lnTo>
                  <a:pt x="3224301" y="3721100"/>
                </a:lnTo>
                <a:lnTo>
                  <a:pt x="3307931" y="3670300"/>
                </a:lnTo>
                <a:lnTo>
                  <a:pt x="3349358" y="3657600"/>
                </a:lnTo>
                <a:lnTo>
                  <a:pt x="3390519" y="3632200"/>
                </a:lnTo>
                <a:lnTo>
                  <a:pt x="3431425" y="3619500"/>
                </a:lnTo>
                <a:lnTo>
                  <a:pt x="3552558" y="3543300"/>
                </a:lnTo>
                <a:lnTo>
                  <a:pt x="3592411" y="3530600"/>
                </a:lnTo>
                <a:lnTo>
                  <a:pt x="3749192" y="3429000"/>
                </a:lnTo>
                <a:lnTo>
                  <a:pt x="3787724" y="3416300"/>
                </a:lnTo>
                <a:lnTo>
                  <a:pt x="3901719" y="3340100"/>
                </a:lnTo>
                <a:lnTo>
                  <a:pt x="4050004" y="3238500"/>
                </a:lnTo>
                <a:lnTo>
                  <a:pt x="4158399" y="3162300"/>
                </a:lnTo>
                <a:lnTo>
                  <a:pt x="4193984" y="3124200"/>
                </a:lnTo>
                <a:lnTo>
                  <a:pt x="4229316" y="3098800"/>
                </a:lnTo>
                <a:lnTo>
                  <a:pt x="4333672" y="3022600"/>
                </a:lnTo>
                <a:lnTo>
                  <a:pt x="4367923" y="2984500"/>
                </a:lnTo>
                <a:lnTo>
                  <a:pt x="4469028" y="2908300"/>
                </a:lnTo>
                <a:lnTo>
                  <a:pt x="4502188" y="2870200"/>
                </a:lnTo>
                <a:lnTo>
                  <a:pt x="4567694" y="2819400"/>
                </a:lnTo>
                <a:lnTo>
                  <a:pt x="4600029" y="2781300"/>
                </a:lnTo>
                <a:lnTo>
                  <a:pt x="4632096" y="2755900"/>
                </a:lnTo>
                <a:lnTo>
                  <a:pt x="4663897" y="2717800"/>
                </a:lnTo>
                <a:lnTo>
                  <a:pt x="4695418" y="2692400"/>
                </a:lnTo>
                <a:lnTo>
                  <a:pt x="4726660" y="2654300"/>
                </a:lnTo>
                <a:lnTo>
                  <a:pt x="4757636" y="2628900"/>
                </a:lnTo>
                <a:lnTo>
                  <a:pt x="4788319" y="2590800"/>
                </a:lnTo>
                <a:lnTo>
                  <a:pt x="4818748" y="2565400"/>
                </a:lnTo>
                <a:lnTo>
                  <a:pt x="4848885" y="2527300"/>
                </a:lnTo>
                <a:lnTo>
                  <a:pt x="4878756" y="2501900"/>
                </a:lnTo>
                <a:lnTo>
                  <a:pt x="4908347" y="2463800"/>
                </a:lnTo>
                <a:lnTo>
                  <a:pt x="4937658" y="2438400"/>
                </a:lnTo>
                <a:lnTo>
                  <a:pt x="4966690" y="2400300"/>
                </a:lnTo>
                <a:lnTo>
                  <a:pt x="4995456" y="2362200"/>
                </a:lnTo>
                <a:lnTo>
                  <a:pt x="5023929" y="2336800"/>
                </a:lnTo>
                <a:lnTo>
                  <a:pt x="5052136" y="2298700"/>
                </a:lnTo>
                <a:lnTo>
                  <a:pt x="5080051" y="2260600"/>
                </a:lnTo>
                <a:lnTo>
                  <a:pt x="5093881" y="2247900"/>
                </a:lnTo>
                <a:lnTo>
                  <a:pt x="5107698" y="2235200"/>
                </a:lnTo>
                <a:lnTo>
                  <a:pt x="5135067" y="2197100"/>
                </a:lnTo>
                <a:lnTo>
                  <a:pt x="5162143" y="2159000"/>
                </a:lnTo>
                <a:lnTo>
                  <a:pt x="5188953" y="2120900"/>
                </a:lnTo>
                <a:lnTo>
                  <a:pt x="5215471" y="2095500"/>
                </a:lnTo>
                <a:lnTo>
                  <a:pt x="5241709" y="2057400"/>
                </a:lnTo>
                <a:lnTo>
                  <a:pt x="5267680" y="2019300"/>
                </a:lnTo>
                <a:lnTo>
                  <a:pt x="5293347" y="1981200"/>
                </a:lnTo>
                <a:lnTo>
                  <a:pt x="5318747" y="1943100"/>
                </a:lnTo>
                <a:lnTo>
                  <a:pt x="5343868" y="1905000"/>
                </a:lnTo>
                <a:lnTo>
                  <a:pt x="5368696" y="1866900"/>
                </a:lnTo>
                <a:lnTo>
                  <a:pt x="5393245" y="1828800"/>
                </a:lnTo>
                <a:lnTo>
                  <a:pt x="5417502" y="1803400"/>
                </a:lnTo>
                <a:lnTo>
                  <a:pt x="5441493" y="1765300"/>
                </a:lnTo>
                <a:lnTo>
                  <a:pt x="5465178" y="1727200"/>
                </a:lnTo>
                <a:lnTo>
                  <a:pt x="5488597" y="1689100"/>
                </a:lnTo>
                <a:lnTo>
                  <a:pt x="5511724" y="1651000"/>
                </a:lnTo>
                <a:lnTo>
                  <a:pt x="5534558" y="1612900"/>
                </a:lnTo>
                <a:lnTo>
                  <a:pt x="5557113" y="1574800"/>
                </a:lnTo>
                <a:lnTo>
                  <a:pt x="5579389" y="1524000"/>
                </a:lnTo>
                <a:lnTo>
                  <a:pt x="5601373" y="1485900"/>
                </a:lnTo>
                <a:lnTo>
                  <a:pt x="5623064" y="1447800"/>
                </a:lnTo>
                <a:lnTo>
                  <a:pt x="5644477" y="1409700"/>
                </a:lnTo>
                <a:lnTo>
                  <a:pt x="5665597" y="1371600"/>
                </a:lnTo>
                <a:lnTo>
                  <a:pt x="5686425" y="1333500"/>
                </a:lnTo>
                <a:lnTo>
                  <a:pt x="5706973" y="1295400"/>
                </a:lnTo>
                <a:lnTo>
                  <a:pt x="5727230" y="1257300"/>
                </a:lnTo>
                <a:lnTo>
                  <a:pt x="5747207" y="1206500"/>
                </a:lnTo>
                <a:lnTo>
                  <a:pt x="5766879" y="1168400"/>
                </a:lnTo>
                <a:lnTo>
                  <a:pt x="5786272" y="1130300"/>
                </a:lnTo>
                <a:lnTo>
                  <a:pt x="5805373" y="1092200"/>
                </a:lnTo>
                <a:lnTo>
                  <a:pt x="5824182" y="1054100"/>
                </a:lnTo>
                <a:lnTo>
                  <a:pt x="5842698" y="1003300"/>
                </a:lnTo>
                <a:lnTo>
                  <a:pt x="5860923" y="965200"/>
                </a:lnTo>
                <a:lnTo>
                  <a:pt x="5878855" y="927100"/>
                </a:lnTo>
                <a:lnTo>
                  <a:pt x="5896495" y="876300"/>
                </a:lnTo>
                <a:lnTo>
                  <a:pt x="5913856" y="838200"/>
                </a:lnTo>
                <a:lnTo>
                  <a:pt x="5930912" y="800100"/>
                </a:lnTo>
                <a:lnTo>
                  <a:pt x="5947676" y="749300"/>
                </a:lnTo>
                <a:lnTo>
                  <a:pt x="5964148" y="711200"/>
                </a:lnTo>
                <a:lnTo>
                  <a:pt x="5980328" y="673100"/>
                </a:lnTo>
                <a:lnTo>
                  <a:pt x="5996216" y="622300"/>
                </a:lnTo>
                <a:lnTo>
                  <a:pt x="6011799" y="584200"/>
                </a:lnTo>
                <a:lnTo>
                  <a:pt x="6027102" y="546100"/>
                </a:lnTo>
                <a:lnTo>
                  <a:pt x="6042101" y="495300"/>
                </a:lnTo>
                <a:lnTo>
                  <a:pt x="6056808" y="457200"/>
                </a:lnTo>
                <a:lnTo>
                  <a:pt x="6071209" y="406400"/>
                </a:lnTo>
                <a:lnTo>
                  <a:pt x="6085332" y="368300"/>
                </a:lnTo>
                <a:lnTo>
                  <a:pt x="6099149" y="317500"/>
                </a:lnTo>
                <a:lnTo>
                  <a:pt x="6112662" y="279400"/>
                </a:lnTo>
                <a:lnTo>
                  <a:pt x="6125883" y="228600"/>
                </a:lnTo>
                <a:lnTo>
                  <a:pt x="6138811" y="190500"/>
                </a:lnTo>
                <a:lnTo>
                  <a:pt x="6151448" y="139700"/>
                </a:lnTo>
                <a:lnTo>
                  <a:pt x="6163767" y="101600"/>
                </a:lnTo>
                <a:lnTo>
                  <a:pt x="6175807" y="50800"/>
                </a:lnTo>
                <a:lnTo>
                  <a:pt x="6187529" y="12700"/>
                </a:lnTo>
                <a:lnTo>
                  <a:pt x="6191097" y="0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1602" y="901064"/>
            <a:ext cx="421322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spc="-180" dirty="0"/>
              <a:t>What</a:t>
            </a:r>
            <a:r>
              <a:rPr sz="4900" spc="-409" dirty="0"/>
              <a:t> </a:t>
            </a:r>
            <a:r>
              <a:rPr sz="4900" spc="-135" dirty="0"/>
              <a:t>is</a:t>
            </a:r>
            <a:r>
              <a:rPr sz="4900" spc="-405" dirty="0"/>
              <a:t> </a:t>
            </a:r>
            <a:r>
              <a:rPr sz="4900" spc="-35" dirty="0"/>
              <a:t>a</a:t>
            </a:r>
            <a:r>
              <a:rPr sz="4900" spc="-405" dirty="0"/>
              <a:t> </a:t>
            </a:r>
            <a:r>
              <a:rPr sz="4900" spc="-105" dirty="0"/>
              <a:t>VSP?</a:t>
            </a:r>
            <a:endParaRPr sz="49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5470" y="0"/>
            <a:ext cx="5932528" cy="10286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7573" y="4243192"/>
            <a:ext cx="104775" cy="104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500898" y="3954839"/>
            <a:ext cx="1873250" cy="550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perimeter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57795" y="3954839"/>
            <a:ext cx="1192530" cy="550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(VSP)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33856" y="3954839"/>
            <a:ext cx="1388110" cy="550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around</a:t>
            </a:r>
            <a:endParaRPr sz="345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7573" y="6071992"/>
            <a:ext cx="104775" cy="1047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373917" y="5783638"/>
            <a:ext cx="5347970" cy="550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57985" algn="l"/>
                <a:tab pos="2427605" algn="l"/>
                <a:tab pos="3805554" algn="l"/>
              </a:tabLst>
            </a:pP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around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25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entire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network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21991" y="3870333"/>
            <a:ext cx="7895590" cy="307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900"/>
              </a:lnSpc>
              <a:spcBef>
                <a:spcPts val="100"/>
              </a:spcBef>
              <a:tabLst>
                <a:tab pos="956310" algn="l"/>
                <a:tab pos="2265045" algn="l"/>
                <a:tab pos="4116704" algn="l"/>
                <a:tab pos="4768850" algn="l"/>
                <a:tab pos="6374765" algn="l"/>
              </a:tabLst>
            </a:pPr>
            <a:r>
              <a:rPr sz="3450" spc="-25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25" dirty="0">
                <a:solidFill>
                  <a:srgbClr val="FFFFFF"/>
                </a:solidFill>
                <a:latin typeface="Arial MT"/>
                <a:cs typeface="Arial MT"/>
              </a:rPr>
              <a:t>SDP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creates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virtual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security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applications</a:t>
            </a:r>
            <a:r>
              <a:rPr sz="34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instead</a:t>
            </a:r>
            <a:r>
              <a:rPr sz="34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3450" spc="3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around</a:t>
            </a:r>
            <a:r>
              <a:rPr sz="34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networks.</a:t>
            </a:r>
            <a:endParaRPr sz="3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3450">
              <a:latin typeface="Arial MT"/>
              <a:cs typeface="Arial MT"/>
            </a:endParaRPr>
          </a:p>
          <a:p>
            <a:pPr marL="12700" marR="6350">
              <a:lnSpc>
                <a:spcPct val="115900"/>
              </a:lnSpc>
              <a:tabLst>
                <a:tab pos="2293620" algn="l"/>
                <a:tab pos="4084320" algn="l"/>
                <a:tab pos="5506085" algn="l"/>
                <a:tab pos="6033135" algn="l"/>
              </a:tabLst>
            </a:pP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Traditional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security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builds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perimeter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(firewalls,</a:t>
            </a:r>
            <a:r>
              <a:rPr sz="3450" spc="-22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VPNs).</a:t>
            </a:r>
            <a:endParaRPr sz="345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57573" y="7900792"/>
            <a:ext cx="104775" cy="10477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221991" y="7527932"/>
            <a:ext cx="1349946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900"/>
              </a:lnSpc>
              <a:spcBef>
                <a:spcPts val="100"/>
              </a:spcBef>
              <a:tabLst>
                <a:tab pos="1121410" algn="l"/>
                <a:tab pos="2468880" algn="l"/>
                <a:tab pos="2921000" algn="l"/>
                <a:tab pos="4978400" algn="l"/>
                <a:tab pos="7472680" algn="l"/>
                <a:tab pos="8411845" algn="l"/>
                <a:tab pos="10757535" algn="l"/>
                <a:tab pos="11473180" algn="l"/>
                <a:tab pos="12635230" algn="l"/>
              </a:tabLst>
            </a:pPr>
            <a:r>
              <a:rPr sz="3450" spc="-25" dirty="0">
                <a:solidFill>
                  <a:srgbClr val="FFFFFF"/>
                </a:solidFill>
                <a:latin typeface="Arial MT"/>
                <a:cs typeface="Arial MT"/>
              </a:rPr>
              <a:t>SDP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builds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perimeter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dynamically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2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individually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25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20" dirty="0">
                <a:solidFill>
                  <a:srgbClr val="FFFFFF"/>
                </a:solidFill>
                <a:latin typeface="Arial MT"/>
                <a:cs typeface="Arial MT"/>
              </a:rPr>
              <a:t>each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450" spc="-20" dirty="0">
                <a:solidFill>
                  <a:srgbClr val="FFFFFF"/>
                </a:solidFill>
                <a:latin typeface="Arial MT"/>
                <a:cs typeface="Arial MT"/>
              </a:rPr>
              <a:t>user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each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 application.</a:t>
            </a:r>
            <a:endParaRPr sz="3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"/>
            <a:ext cx="6191250" cy="4254500"/>
          </a:xfrm>
          <a:custGeom>
            <a:avLst/>
            <a:gdLst/>
            <a:ahLst/>
            <a:cxnLst/>
            <a:rect l="l" t="t" r="r" b="b"/>
            <a:pathLst>
              <a:path w="6191250" h="4254500">
                <a:moveTo>
                  <a:pt x="3556050" y="0"/>
                </a:moveTo>
                <a:lnTo>
                  <a:pt x="0" y="0"/>
                </a:lnTo>
                <a:lnTo>
                  <a:pt x="0" y="1729917"/>
                </a:lnTo>
                <a:lnTo>
                  <a:pt x="50723" y="1739404"/>
                </a:lnTo>
                <a:lnTo>
                  <a:pt x="98005" y="1747481"/>
                </a:lnTo>
                <a:lnTo>
                  <a:pt x="145529" y="1754873"/>
                </a:lnTo>
                <a:lnTo>
                  <a:pt x="193255" y="1761604"/>
                </a:lnTo>
                <a:lnTo>
                  <a:pt x="241223" y="1767636"/>
                </a:lnTo>
                <a:lnTo>
                  <a:pt x="289382" y="1772983"/>
                </a:lnTo>
                <a:lnTo>
                  <a:pt x="337756" y="1777631"/>
                </a:lnTo>
                <a:lnTo>
                  <a:pt x="386334" y="1781581"/>
                </a:lnTo>
                <a:lnTo>
                  <a:pt x="435114" y="1784819"/>
                </a:lnTo>
                <a:lnTo>
                  <a:pt x="481647" y="1787220"/>
                </a:lnTo>
                <a:lnTo>
                  <a:pt x="480669" y="1787220"/>
                </a:lnTo>
                <a:lnTo>
                  <a:pt x="531710" y="1789099"/>
                </a:lnTo>
                <a:lnTo>
                  <a:pt x="530694" y="1789099"/>
                </a:lnTo>
                <a:lnTo>
                  <a:pt x="581926" y="1790242"/>
                </a:lnTo>
                <a:lnTo>
                  <a:pt x="580656" y="1790242"/>
                </a:lnTo>
                <a:lnTo>
                  <a:pt x="632066" y="1790611"/>
                </a:lnTo>
                <a:lnTo>
                  <a:pt x="706755" y="1790242"/>
                </a:lnTo>
                <a:lnTo>
                  <a:pt x="779716" y="1789099"/>
                </a:lnTo>
                <a:lnTo>
                  <a:pt x="850976" y="1787220"/>
                </a:lnTo>
                <a:lnTo>
                  <a:pt x="920559" y="1784591"/>
                </a:lnTo>
                <a:lnTo>
                  <a:pt x="988517" y="1781225"/>
                </a:lnTo>
                <a:lnTo>
                  <a:pt x="1054862" y="1777136"/>
                </a:lnTo>
                <a:lnTo>
                  <a:pt x="1119632" y="1772310"/>
                </a:lnTo>
                <a:lnTo>
                  <a:pt x="1182852" y="1766760"/>
                </a:lnTo>
                <a:lnTo>
                  <a:pt x="1244574" y="1760486"/>
                </a:lnTo>
                <a:lnTo>
                  <a:pt x="1304823" y="1753514"/>
                </a:lnTo>
                <a:lnTo>
                  <a:pt x="1363624" y="1745830"/>
                </a:lnTo>
                <a:lnTo>
                  <a:pt x="1421015" y="1737448"/>
                </a:lnTo>
                <a:lnTo>
                  <a:pt x="1477035" y="1728368"/>
                </a:lnTo>
                <a:lnTo>
                  <a:pt x="1531696" y="1718602"/>
                </a:lnTo>
                <a:lnTo>
                  <a:pt x="1585048" y="1708137"/>
                </a:lnTo>
                <a:lnTo>
                  <a:pt x="1637118" y="1697012"/>
                </a:lnTo>
                <a:lnTo>
                  <a:pt x="1687944" y="1685201"/>
                </a:lnTo>
                <a:lnTo>
                  <a:pt x="1737550" y="1672717"/>
                </a:lnTo>
                <a:lnTo>
                  <a:pt x="1785975" y="1659585"/>
                </a:lnTo>
                <a:lnTo>
                  <a:pt x="1833245" y="1645780"/>
                </a:lnTo>
                <a:lnTo>
                  <a:pt x="1879384" y="1631327"/>
                </a:lnTo>
                <a:lnTo>
                  <a:pt x="1924456" y="1616227"/>
                </a:lnTo>
                <a:lnTo>
                  <a:pt x="1968461" y="1600492"/>
                </a:lnTo>
                <a:lnTo>
                  <a:pt x="2011451" y="1584109"/>
                </a:lnTo>
                <a:lnTo>
                  <a:pt x="2053437" y="1567103"/>
                </a:lnTo>
                <a:lnTo>
                  <a:pt x="2094484" y="1549463"/>
                </a:lnTo>
                <a:lnTo>
                  <a:pt x="2134590" y="1531200"/>
                </a:lnTo>
                <a:lnTo>
                  <a:pt x="2173808" y="1512328"/>
                </a:lnTo>
                <a:lnTo>
                  <a:pt x="2212175" y="1492846"/>
                </a:lnTo>
                <a:lnTo>
                  <a:pt x="2249703" y="1472768"/>
                </a:lnTo>
                <a:lnTo>
                  <a:pt x="2286431" y="1452079"/>
                </a:lnTo>
                <a:lnTo>
                  <a:pt x="2322411" y="1430794"/>
                </a:lnTo>
                <a:lnTo>
                  <a:pt x="2357653" y="1408925"/>
                </a:lnTo>
                <a:lnTo>
                  <a:pt x="2392197" y="1386484"/>
                </a:lnTo>
                <a:lnTo>
                  <a:pt x="2426068" y="1363446"/>
                </a:lnTo>
                <a:lnTo>
                  <a:pt x="2459317" y="1339850"/>
                </a:lnTo>
                <a:lnTo>
                  <a:pt x="2491956" y="1315681"/>
                </a:lnTo>
                <a:lnTo>
                  <a:pt x="2524023" y="1290942"/>
                </a:lnTo>
                <a:lnTo>
                  <a:pt x="2555570" y="1265656"/>
                </a:lnTo>
                <a:lnTo>
                  <a:pt x="2586596" y="1239824"/>
                </a:lnTo>
                <a:lnTo>
                  <a:pt x="2617152" y="1213434"/>
                </a:lnTo>
                <a:lnTo>
                  <a:pt x="2647277" y="1186510"/>
                </a:lnTo>
                <a:lnTo>
                  <a:pt x="2676995" y="1159052"/>
                </a:lnTo>
                <a:lnTo>
                  <a:pt x="2706332" y="1131062"/>
                </a:lnTo>
                <a:lnTo>
                  <a:pt x="2735326" y="1102550"/>
                </a:lnTo>
                <a:lnTo>
                  <a:pt x="2764015" y="1073518"/>
                </a:lnTo>
                <a:lnTo>
                  <a:pt x="2792425" y="1043965"/>
                </a:lnTo>
                <a:lnTo>
                  <a:pt x="2820593" y="1013917"/>
                </a:lnTo>
                <a:lnTo>
                  <a:pt x="2848546" y="983361"/>
                </a:lnTo>
                <a:lnTo>
                  <a:pt x="2876321" y="952309"/>
                </a:lnTo>
                <a:lnTo>
                  <a:pt x="2903944" y="920750"/>
                </a:lnTo>
                <a:lnTo>
                  <a:pt x="2931452" y="888720"/>
                </a:lnTo>
                <a:lnTo>
                  <a:pt x="2958884" y="856208"/>
                </a:lnTo>
                <a:lnTo>
                  <a:pt x="2986252" y="823214"/>
                </a:lnTo>
                <a:lnTo>
                  <a:pt x="3013608" y="789749"/>
                </a:lnTo>
                <a:lnTo>
                  <a:pt x="3040977" y="755827"/>
                </a:lnTo>
                <a:lnTo>
                  <a:pt x="3068396" y="721436"/>
                </a:lnTo>
                <a:lnTo>
                  <a:pt x="3095891" y="686587"/>
                </a:lnTo>
                <a:lnTo>
                  <a:pt x="3151251" y="615569"/>
                </a:lnTo>
                <a:lnTo>
                  <a:pt x="3235693" y="505739"/>
                </a:lnTo>
                <a:lnTo>
                  <a:pt x="3265157" y="466902"/>
                </a:lnTo>
                <a:lnTo>
                  <a:pt x="3294049" y="427621"/>
                </a:lnTo>
                <a:lnTo>
                  <a:pt x="3322358" y="387908"/>
                </a:lnTo>
                <a:lnTo>
                  <a:pt x="3350082" y="347751"/>
                </a:lnTo>
                <a:lnTo>
                  <a:pt x="3377222" y="307174"/>
                </a:lnTo>
                <a:lnTo>
                  <a:pt x="3403752" y="266179"/>
                </a:lnTo>
                <a:lnTo>
                  <a:pt x="3429698" y="224764"/>
                </a:lnTo>
                <a:lnTo>
                  <a:pt x="3455022" y="182943"/>
                </a:lnTo>
                <a:lnTo>
                  <a:pt x="3479736" y="140728"/>
                </a:lnTo>
                <a:lnTo>
                  <a:pt x="3503828" y="98107"/>
                </a:lnTo>
                <a:lnTo>
                  <a:pt x="3527285" y="55092"/>
                </a:lnTo>
                <a:lnTo>
                  <a:pt x="3550120" y="11696"/>
                </a:lnTo>
                <a:lnTo>
                  <a:pt x="3556050" y="0"/>
                </a:lnTo>
                <a:close/>
              </a:path>
              <a:path w="6191250" h="4254500">
                <a:moveTo>
                  <a:pt x="6191097" y="0"/>
                </a:moveTo>
                <a:lnTo>
                  <a:pt x="4063555" y="0"/>
                </a:lnTo>
                <a:lnTo>
                  <a:pt x="4042714" y="38100"/>
                </a:lnTo>
                <a:lnTo>
                  <a:pt x="4020731" y="88900"/>
                </a:lnTo>
                <a:lnTo>
                  <a:pt x="4016502" y="101600"/>
                </a:lnTo>
                <a:lnTo>
                  <a:pt x="4008031" y="114300"/>
                </a:lnTo>
                <a:lnTo>
                  <a:pt x="4003789" y="127000"/>
                </a:lnTo>
                <a:lnTo>
                  <a:pt x="3981132" y="177800"/>
                </a:lnTo>
                <a:lnTo>
                  <a:pt x="3957396" y="228600"/>
                </a:lnTo>
                <a:lnTo>
                  <a:pt x="3932834" y="266700"/>
                </a:lnTo>
                <a:lnTo>
                  <a:pt x="3907739" y="317500"/>
                </a:lnTo>
                <a:lnTo>
                  <a:pt x="3882364" y="355600"/>
                </a:lnTo>
                <a:lnTo>
                  <a:pt x="3876459" y="368300"/>
                </a:lnTo>
                <a:lnTo>
                  <a:pt x="3865689" y="393700"/>
                </a:lnTo>
                <a:lnTo>
                  <a:pt x="3859771" y="393700"/>
                </a:lnTo>
                <a:lnTo>
                  <a:pt x="3832644" y="444500"/>
                </a:lnTo>
                <a:lnTo>
                  <a:pt x="3805377" y="482600"/>
                </a:lnTo>
                <a:lnTo>
                  <a:pt x="3777843" y="533400"/>
                </a:lnTo>
                <a:lnTo>
                  <a:pt x="3749891" y="571500"/>
                </a:lnTo>
                <a:lnTo>
                  <a:pt x="3721404" y="622300"/>
                </a:lnTo>
                <a:lnTo>
                  <a:pt x="3715486" y="622300"/>
                </a:lnTo>
                <a:lnTo>
                  <a:pt x="3704729" y="647700"/>
                </a:lnTo>
                <a:lnTo>
                  <a:pt x="3698811" y="647700"/>
                </a:lnTo>
                <a:lnTo>
                  <a:pt x="3667976" y="698500"/>
                </a:lnTo>
                <a:lnTo>
                  <a:pt x="3636467" y="736600"/>
                </a:lnTo>
                <a:lnTo>
                  <a:pt x="3604272" y="774700"/>
                </a:lnTo>
                <a:lnTo>
                  <a:pt x="3571405" y="825500"/>
                </a:lnTo>
                <a:lnTo>
                  <a:pt x="3537851" y="863600"/>
                </a:lnTo>
                <a:lnTo>
                  <a:pt x="3532200" y="863600"/>
                </a:lnTo>
                <a:lnTo>
                  <a:pt x="3529380" y="876300"/>
                </a:lnTo>
                <a:lnTo>
                  <a:pt x="3523729" y="876300"/>
                </a:lnTo>
                <a:lnTo>
                  <a:pt x="3489502" y="914400"/>
                </a:lnTo>
                <a:lnTo>
                  <a:pt x="3454603" y="965200"/>
                </a:lnTo>
                <a:lnTo>
                  <a:pt x="3419017" y="1003300"/>
                </a:lnTo>
                <a:lnTo>
                  <a:pt x="3382759" y="1041400"/>
                </a:lnTo>
                <a:lnTo>
                  <a:pt x="3345827" y="1079500"/>
                </a:lnTo>
                <a:lnTo>
                  <a:pt x="3340176" y="1092200"/>
                </a:lnTo>
                <a:lnTo>
                  <a:pt x="3337356" y="1092200"/>
                </a:lnTo>
                <a:lnTo>
                  <a:pt x="3299764" y="1130300"/>
                </a:lnTo>
                <a:lnTo>
                  <a:pt x="3261626" y="1168400"/>
                </a:lnTo>
                <a:lnTo>
                  <a:pt x="3145332" y="1282700"/>
                </a:lnTo>
                <a:lnTo>
                  <a:pt x="3119920" y="1308100"/>
                </a:lnTo>
                <a:lnTo>
                  <a:pt x="3080626" y="1333500"/>
                </a:lnTo>
                <a:lnTo>
                  <a:pt x="3000565" y="1409700"/>
                </a:lnTo>
                <a:lnTo>
                  <a:pt x="2960065" y="1435100"/>
                </a:lnTo>
                <a:lnTo>
                  <a:pt x="2919425" y="1473200"/>
                </a:lnTo>
                <a:lnTo>
                  <a:pt x="2910954" y="1473200"/>
                </a:lnTo>
                <a:lnTo>
                  <a:pt x="2902483" y="1485900"/>
                </a:lnTo>
                <a:lnTo>
                  <a:pt x="2893999" y="1485900"/>
                </a:lnTo>
                <a:lnTo>
                  <a:pt x="2885529" y="1498600"/>
                </a:lnTo>
                <a:lnTo>
                  <a:pt x="2844533" y="1524000"/>
                </a:lnTo>
                <a:lnTo>
                  <a:pt x="2802852" y="1562100"/>
                </a:lnTo>
                <a:lnTo>
                  <a:pt x="2717457" y="1612900"/>
                </a:lnTo>
                <a:lnTo>
                  <a:pt x="2673743" y="1651000"/>
                </a:lnTo>
                <a:lnTo>
                  <a:pt x="2664828" y="1651000"/>
                </a:lnTo>
                <a:lnTo>
                  <a:pt x="2655392" y="1663700"/>
                </a:lnTo>
                <a:lnTo>
                  <a:pt x="2637028" y="1663700"/>
                </a:lnTo>
                <a:lnTo>
                  <a:pt x="2592667" y="1701800"/>
                </a:lnTo>
                <a:lnTo>
                  <a:pt x="2411120" y="1803400"/>
                </a:lnTo>
                <a:lnTo>
                  <a:pt x="2403094" y="1803400"/>
                </a:lnTo>
                <a:lnTo>
                  <a:pt x="2388082" y="1816100"/>
                </a:lnTo>
                <a:lnTo>
                  <a:pt x="2380056" y="1816100"/>
                </a:lnTo>
                <a:lnTo>
                  <a:pt x="2283815" y="1866900"/>
                </a:lnTo>
                <a:lnTo>
                  <a:pt x="2184870" y="1917700"/>
                </a:lnTo>
                <a:lnTo>
                  <a:pt x="2134374" y="1943100"/>
                </a:lnTo>
                <a:lnTo>
                  <a:pt x="2123084" y="1943100"/>
                </a:lnTo>
                <a:lnTo>
                  <a:pt x="2072233" y="1968500"/>
                </a:lnTo>
                <a:lnTo>
                  <a:pt x="2021243" y="1981200"/>
                </a:lnTo>
                <a:lnTo>
                  <a:pt x="1969985" y="2006600"/>
                </a:lnTo>
                <a:lnTo>
                  <a:pt x="1918322" y="2019300"/>
                </a:lnTo>
                <a:lnTo>
                  <a:pt x="1866112" y="2044700"/>
                </a:lnTo>
                <a:lnTo>
                  <a:pt x="1843519" y="2044700"/>
                </a:lnTo>
                <a:lnTo>
                  <a:pt x="1792376" y="2070100"/>
                </a:lnTo>
                <a:lnTo>
                  <a:pt x="1636217" y="2108200"/>
                </a:lnTo>
                <a:lnTo>
                  <a:pt x="1583715" y="2133600"/>
                </a:lnTo>
                <a:lnTo>
                  <a:pt x="1554327" y="2133600"/>
                </a:lnTo>
                <a:lnTo>
                  <a:pt x="1493012" y="2159000"/>
                </a:lnTo>
                <a:lnTo>
                  <a:pt x="1441170" y="2159000"/>
                </a:lnTo>
                <a:lnTo>
                  <a:pt x="1281557" y="2197100"/>
                </a:lnTo>
                <a:lnTo>
                  <a:pt x="1247406" y="2197100"/>
                </a:lnTo>
                <a:lnTo>
                  <a:pt x="1236383" y="2209800"/>
                </a:lnTo>
                <a:lnTo>
                  <a:pt x="1183538" y="2209800"/>
                </a:lnTo>
                <a:lnTo>
                  <a:pt x="1130160" y="2222500"/>
                </a:lnTo>
                <a:lnTo>
                  <a:pt x="1076363" y="2222500"/>
                </a:lnTo>
                <a:lnTo>
                  <a:pt x="1022311" y="2235200"/>
                </a:lnTo>
                <a:lnTo>
                  <a:pt x="935151" y="2235200"/>
                </a:lnTo>
                <a:lnTo>
                  <a:pt x="922921" y="2247900"/>
                </a:lnTo>
                <a:lnTo>
                  <a:pt x="356743" y="2247900"/>
                </a:lnTo>
                <a:lnTo>
                  <a:pt x="327088" y="2235200"/>
                </a:lnTo>
                <a:lnTo>
                  <a:pt x="216954" y="2235200"/>
                </a:lnTo>
                <a:lnTo>
                  <a:pt x="89877" y="2209800"/>
                </a:lnTo>
                <a:lnTo>
                  <a:pt x="44157" y="2209800"/>
                </a:lnTo>
                <a:lnTo>
                  <a:pt x="0" y="2197100"/>
                </a:lnTo>
                <a:lnTo>
                  <a:pt x="0" y="4216400"/>
                </a:lnTo>
                <a:lnTo>
                  <a:pt x="17767" y="4216400"/>
                </a:lnTo>
                <a:lnTo>
                  <a:pt x="64820" y="4229100"/>
                </a:lnTo>
                <a:lnTo>
                  <a:pt x="159258" y="4229100"/>
                </a:lnTo>
                <a:lnTo>
                  <a:pt x="206641" y="4241800"/>
                </a:lnTo>
                <a:lnTo>
                  <a:pt x="397230" y="4241800"/>
                </a:lnTo>
                <a:lnTo>
                  <a:pt x="445135" y="4254500"/>
                </a:lnTo>
                <a:lnTo>
                  <a:pt x="857224" y="4254500"/>
                </a:lnTo>
                <a:lnTo>
                  <a:pt x="911504" y="4241800"/>
                </a:lnTo>
                <a:lnTo>
                  <a:pt x="1126159" y="4241800"/>
                </a:lnTo>
                <a:lnTo>
                  <a:pt x="1179207" y="4229100"/>
                </a:lnTo>
                <a:lnTo>
                  <a:pt x="1284592" y="4229100"/>
                </a:lnTo>
                <a:lnTo>
                  <a:pt x="1336903" y="4216400"/>
                </a:lnTo>
                <a:lnTo>
                  <a:pt x="1388986" y="4216400"/>
                </a:lnTo>
                <a:lnTo>
                  <a:pt x="1440802" y="4203700"/>
                </a:lnTo>
                <a:lnTo>
                  <a:pt x="1492389" y="4203700"/>
                </a:lnTo>
                <a:lnTo>
                  <a:pt x="1543723" y="4191000"/>
                </a:lnTo>
                <a:lnTo>
                  <a:pt x="1594815" y="4191000"/>
                </a:lnTo>
                <a:lnTo>
                  <a:pt x="1645653" y="4178300"/>
                </a:lnTo>
                <a:lnTo>
                  <a:pt x="1696237" y="4178300"/>
                </a:lnTo>
                <a:lnTo>
                  <a:pt x="1796681" y="4152900"/>
                </a:lnTo>
                <a:lnTo>
                  <a:pt x="1846516" y="4152900"/>
                </a:lnTo>
                <a:lnTo>
                  <a:pt x="2043404" y="4102100"/>
                </a:lnTo>
                <a:lnTo>
                  <a:pt x="2091994" y="4102100"/>
                </a:lnTo>
                <a:lnTo>
                  <a:pt x="2564079" y="3975100"/>
                </a:lnTo>
                <a:lnTo>
                  <a:pt x="2609888" y="3949700"/>
                </a:lnTo>
                <a:lnTo>
                  <a:pt x="2790583" y="3898900"/>
                </a:lnTo>
                <a:lnTo>
                  <a:pt x="2835110" y="3873500"/>
                </a:lnTo>
                <a:lnTo>
                  <a:pt x="2923400" y="3848100"/>
                </a:lnTo>
                <a:lnTo>
                  <a:pt x="2967164" y="3822700"/>
                </a:lnTo>
                <a:lnTo>
                  <a:pt x="3010674" y="3810000"/>
                </a:lnTo>
                <a:lnTo>
                  <a:pt x="3053918" y="3784600"/>
                </a:lnTo>
                <a:lnTo>
                  <a:pt x="3139630" y="3759200"/>
                </a:lnTo>
                <a:lnTo>
                  <a:pt x="3182099" y="3733800"/>
                </a:lnTo>
                <a:lnTo>
                  <a:pt x="3224301" y="3721100"/>
                </a:lnTo>
                <a:lnTo>
                  <a:pt x="3307931" y="3670300"/>
                </a:lnTo>
                <a:lnTo>
                  <a:pt x="3349358" y="3657600"/>
                </a:lnTo>
                <a:lnTo>
                  <a:pt x="3390519" y="3632200"/>
                </a:lnTo>
                <a:lnTo>
                  <a:pt x="3431425" y="3619500"/>
                </a:lnTo>
                <a:lnTo>
                  <a:pt x="3552558" y="3543300"/>
                </a:lnTo>
                <a:lnTo>
                  <a:pt x="3592411" y="3530600"/>
                </a:lnTo>
                <a:lnTo>
                  <a:pt x="3749192" y="3429000"/>
                </a:lnTo>
                <a:lnTo>
                  <a:pt x="3787724" y="3416300"/>
                </a:lnTo>
                <a:lnTo>
                  <a:pt x="3901719" y="3340100"/>
                </a:lnTo>
                <a:lnTo>
                  <a:pt x="4050004" y="3238500"/>
                </a:lnTo>
                <a:lnTo>
                  <a:pt x="4158399" y="3162300"/>
                </a:lnTo>
                <a:lnTo>
                  <a:pt x="4193984" y="3124200"/>
                </a:lnTo>
                <a:lnTo>
                  <a:pt x="4229316" y="3098800"/>
                </a:lnTo>
                <a:lnTo>
                  <a:pt x="4333672" y="3022600"/>
                </a:lnTo>
                <a:lnTo>
                  <a:pt x="4367923" y="2984500"/>
                </a:lnTo>
                <a:lnTo>
                  <a:pt x="4469028" y="2908300"/>
                </a:lnTo>
                <a:lnTo>
                  <a:pt x="4502188" y="2870200"/>
                </a:lnTo>
                <a:lnTo>
                  <a:pt x="4567694" y="2819400"/>
                </a:lnTo>
                <a:lnTo>
                  <a:pt x="4600029" y="2781300"/>
                </a:lnTo>
                <a:lnTo>
                  <a:pt x="4632096" y="2755900"/>
                </a:lnTo>
                <a:lnTo>
                  <a:pt x="4663897" y="2717800"/>
                </a:lnTo>
                <a:lnTo>
                  <a:pt x="4695418" y="2692400"/>
                </a:lnTo>
                <a:lnTo>
                  <a:pt x="4726660" y="2654300"/>
                </a:lnTo>
                <a:lnTo>
                  <a:pt x="4757636" y="2628900"/>
                </a:lnTo>
                <a:lnTo>
                  <a:pt x="4788319" y="2590800"/>
                </a:lnTo>
                <a:lnTo>
                  <a:pt x="4818748" y="2565400"/>
                </a:lnTo>
                <a:lnTo>
                  <a:pt x="4848885" y="2527300"/>
                </a:lnTo>
                <a:lnTo>
                  <a:pt x="4878756" y="2501900"/>
                </a:lnTo>
                <a:lnTo>
                  <a:pt x="4908347" y="2463800"/>
                </a:lnTo>
                <a:lnTo>
                  <a:pt x="4937658" y="2438400"/>
                </a:lnTo>
                <a:lnTo>
                  <a:pt x="4966690" y="2400300"/>
                </a:lnTo>
                <a:lnTo>
                  <a:pt x="4995456" y="2362200"/>
                </a:lnTo>
                <a:lnTo>
                  <a:pt x="5023929" y="2336800"/>
                </a:lnTo>
                <a:lnTo>
                  <a:pt x="5052136" y="2298700"/>
                </a:lnTo>
                <a:lnTo>
                  <a:pt x="5080051" y="2260600"/>
                </a:lnTo>
                <a:lnTo>
                  <a:pt x="5093881" y="2247900"/>
                </a:lnTo>
                <a:lnTo>
                  <a:pt x="5107698" y="2235200"/>
                </a:lnTo>
                <a:lnTo>
                  <a:pt x="5135067" y="2197100"/>
                </a:lnTo>
                <a:lnTo>
                  <a:pt x="5162143" y="2159000"/>
                </a:lnTo>
                <a:lnTo>
                  <a:pt x="5188953" y="2120900"/>
                </a:lnTo>
                <a:lnTo>
                  <a:pt x="5215471" y="2095500"/>
                </a:lnTo>
                <a:lnTo>
                  <a:pt x="5241709" y="2057400"/>
                </a:lnTo>
                <a:lnTo>
                  <a:pt x="5267680" y="2019300"/>
                </a:lnTo>
                <a:lnTo>
                  <a:pt x="5293347" y="1981200"/>
                </a:lnTo>
                <a:lnTo>
                  <a:pt x="5318747" y="1943100"/>
                </a:lnTo>
                <a:lnTo>
                  <a:pt x="5343868" y="1905000"/>
                </a:lnTo>
                <a:lnTo>
                  <a:pt x="5368696" y="1866900"/>
                </a:lnTo>
                <a:lnTo>
                  <a:pt x="5393245" y="1828800"/>
                </a:lnTo>
                <a:lnTo>
                  <a:pt x="5417502" y="1803400"/>
                </a:lnTo>
                <a:lnTo>
                  <a:pt x="5441493" y="1765300"/>
                </a:lnTo>
                <a:lnTo>
                  <a:pt x="5465178" y="1727200"/>
                </a:lnTo>
                <a:lnTo>
                  <a:pt x="5488597" y="1689100"/>
                </a:lnTo>
                <a:lnTo>
                  <a:pt x="5511724" y="1651000"/>
                </a:lnTo>
                <a:lnTo>
                  <a:pt x="5534558" y="1612900"/>
                </a:lnTo>
                <a:lnTo>
                  <a:pt x="5557113" y="1574800"/>
                </a:lnTo>
                <a:lnTo>
                  <a:pt x="5579389" y="1524000"/>
                </a:lnTo>
                <a:lnTo>
                  <a:pt x="5601373" y="1485900"/>
                </a:lnTo>
                <a:lnTo>
                  <a:pt x="5623064" y="1447800"/>
                </a:lnTo>
                <a:lnTo>
                  <a:pt x="5644477" y="1409700"/>
                </a:lnTo>
                <a:lnTo>
                  <a:pt x="5665597" y="1371600"/>
                </a:lnTo>
                <a:lnTo>
                  <a:pt x="5686425" y="1333500"/>
                </a:lnTo>
                <a:lnTo>
                  <a:pt x="5706973" y="1295400"/>
                </a:lnTo>
                <a:lnTo>
                  <a:pt x="5727230" y="1257300"/>
                </a:lnTo>
                <a:lnTo>
                  <a:pt x="5747207" y="1206500"/>
                </a:lnTo>
                <a:lnTo>
                  <a:pt x="5766879" y="1168400"/>
                </a:lnTo>
                <a:lnTo>
                  <a:pt x="5786272" y="1130300"/>
                </a:lnTo>
                <a:lnTo>
                  <a:pt x="5805373" y="1092200"/>
                </a:lnTo>
                <a:lnTo>
                  <a:pt x="5824182" y="1054100"/>
                </a:lnTo>
                <a:lnTo>
                  <a:pt x="5842698" y="1003300"/>
                </a:lnTo>
                <a:lnTo>
                  <a:pt x="5860923" y="965200"/>
                </a:lnTo>
                <a:lnTo>
                  <a:pt x="5878855" y="927100"/>
                </a:lnTo>
                <a:lnTo>
                  <a:pt x="5896495" y="876300"/>
                </a:lnTo>
                <a:lnTo>
                  <a:pt x="5913856" y="838200"/>
                </a:lnTo>
                <a:lnTo>
                  <a:pt x="5930912" y="800100"/>
                </a:lnTo>
                <a:lnTo>
                  <a:pt x="5947676" y="749300"/>
                </a:lnTo>
                <a:lnTo>
                  <a:pt x="5964148" y="711200"/>
                </a:lnTo>
                <a:lnTo>
                  <a:pt x="5980328" y="673100"/>
                </a:lnTo>
                <a:lnTo>
                  <a:pt x="5996216" y="622300"/>
                </a:lnTo>
                <a:lnTo>
                  <a:pt x="6011799" y="584200"/>
                </a:lnTo>
                <a:lnTo>
                  <a:pt x="6027102" y="546100"/>
                </a:lnTo>
                <a:lnTo>
                  <a:pt x="6042101" y="495300"/>
                </a:lnTo>
                <a:lnTo>
                  <a:pt x="6056808" y="457200"/>
                </a:lnTo>
                <a:lnTo>
                  <a:pt x="6071209" y="406400"/>
                </a:lnTo>
                <a:lnTo>
                  <a:pt x="6085332" y="368300"/>
                </a:lnTo>
                <a:lnTo>
                  <a:pt x="6099149" y="317500"/>
                </a:lnTo>
                <a:lnTo>
                  <a:pt x="6112662" y="279400"/>
                </a:lnTo>
                <a:lnTo>
                  <a:pt x="6125883" y="228600"/>
                </a:lnTo>
                <a:lnTo>
                  <a:pt x="6138811" y="190500"/>
                </a:lnTo>
                <a:lnTo>
                  <a:pt x="6151448" y="139700"/>
                </a:lnTo>
                <a:lnTo>
                  <a:pt x="6163767" y="101600"/>
                </a:lnTo>
                <a:lnTo>
                  <a:pt x="6175807" y="50800"/>
                </a:lnTo>
                <a:lnTo>
                  <a:pt x="6187529" y="12700"/>
                </a:lnTo>
                <a:lnTo>
                  <a:pt x="6191097" y="0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92223" y="5318613"/>
            <a:ext cx="4399280" cy="811530"/>
          </a:xfrm>
          <a:custGeom>
            <a:avLst/>
            <a:gdLst/>
            <a:ahLst/>
            <a:cxnLst/>
            <a:rect l="l" t="t" r="r" b="b"/>
            <a:pathLst>
              <a:path w="4399280" h="811529">
                <a:moveTo>
                  <a:pt x="4037601" y="811326"/>
                </a:moveTo>
                <a:lnTo>
                  <a:pt x="361950" y="811326"/>
                </a:lnTo>
                <a:lnTo>
                  <a:pt x="312835" y="808023"/>
                </a:lnTo>
                <a:lnTo>
                  <a:pt x="265729" y="798398"/>
                </a:lnTo>
                <a:lnTo>
                  <a:pt x="221062" y="782883"/>
                </a:lnTo>
                <a:lnTo>
                  <a:pt x="179266" y="761910"/>
                </a:lnTo>
                <a:lnTo>
                  <a:pt x="140773" y="735910"/>
                </a:lnTo>
                <a:lnTo>
                  <a:pt x="106012" y="705314"/>
                </a:lnTo>
                <a:lnTo>
                  <a:pt x="75416" y="670554"/>
                </a:lnTo>
                <a:lnTo>
                  <a:pt x="49416" y="632060"/>
                </a:lnTo>
                <a:lnTo>
                  <a:pt x="28443" y="590264"/>
                </a:lnTo>
                <a:lnTo>
                  <a:pt x="12929" y="545597"/>
                </a:lnTo>
                <a:lnTo>
                  <a:pt x="3304" y="498491"/>
                </a:lnTo>
                <a:lnTo>
                  <a:pt x="0" y="449377"/>
                </a:lnTo>
                <a:lnTo>
                  <a:pt x="0" y="361950"/>
                </a:lnTo>
                <a:lnTo>
                  <a:pt x="3304" y="312835"/>
                </a:lnTo>
                <a:lnTo>
                  <a:pt x="12929" y="265729"/>
                </a:lnTo>
                <a:lnTo>
                  <a:pt x="28443" y="221062"/>
                </a:lnTo>
                <a:lnTo>
                  <a:pt x="49416" y="179266"/>
                </a:lnTo>
                <a:lnTo>
                  <a:pt x="75416" y="140773"/>
                </a:lnTo>
                <a:lnTo>
                  <a:pt x="106012" y="106012"/>
                </a:lnTo>
                <a:lnTo>
                  <a:pt x="140773" y="75416"/>
                </a:lnTo>
                <a:lnTo>
                  <a:pt x="179266" y="49416"/>
                </a:lnTo>
                <a:lnTo>
                  <a:pt x="221062" y="28443"/>
                </a:lnTo>
                <a:lnTo>
                  <a:pt x="265729" y="12929"/>
                </a:lnTo>
                <a:lnTo>
                  <a:pt x="312835" y="3304"/>
                </a:lnTo>
                <a:lnTo>
                  <a:pt x="361950" y="0"/>
                </a:lnTo>
                <a:lnTo>
                  <a:pt x="4037601" y="0"/>
                </a:lnTo>
                <a:lnTo>
                  <a:pt x="4086716" y="3304"/>
                </a:lnTo>
                <a:lnTo>
                  <a:pt x="4133822" y="12929"/>
                </a:lnTo>
                <a:lnTo>
                  <a:pt x="4178489" y="28443"/>
                </a:lnTo>
                <a:lnTo>
                  <a:pt x="4220285" y="49416"/>
                </a:lnTo>
                <a:lnTo>
                  <a:pt x="4258779" y="75416"/>
                </a:lnTo>
                <a:lnTo>
                  <a:pt x="4293539" y="106012"/>
                </a:lnTo>
                <a:lnTo>
                  <a:pt x="4324135" y="140773"/>
                </a:lnTo>
                <a:lnTo>
                  <a:pt x="4350135" y="179266"/>
                </a:lnTo>
                <a:lnTo>
                  <a:pt x="4371108" y="221062"/>
                </a:lnTo>
                <a:lnTo>
                  <a:pt x="4386623" y="265729"/>
                </a:lnTo>
                <a:lnTo>
                  <a:pt x="4396248" y="312835"/>
                </a:lnTo>
                <a:lnTo>
                  <a:pt x="4398913" y="352450"/>
                </a:lnTo>
                <a:lnTo>
                  <a:pt x="4398913" y="458876"/>
                </a:lnTo>
                <a:lnTo>
                  <a:pt x="4396248" y="498491"/>
                </a:lnTo>
                <a:lnTo>
                  <a:pt x="4386623" y="545597"/>
                </a:lnTo>
                <a:lnTo>
                  <a:pt x="4371108" y="590264"/>
                </a:lnTo>
                <a:lnTo>
                  <a:pt x="4350135" y="632060"/>
                </a:lnTo>
                <a:lnTo>
                  <a:pt x="4324135" y="670554"/>
                </a:lnTo>
                <a:lnTo>
                  <a:pt x="4293539" y="705314"/>
                </a:lnTo>
                <a:lnTo>
                  <a:pt x="4258779" y="735910"/>
                </a:lnTo>
                <a:lnTo>
                  <a:pt x="4220285" y="761910"/>
                </a:lnTo>
                <a:lnTo>
                  <a:pt x="4178489" y="782883"/>
                </a:lnTo>
                <a:lnTo>
                  <a:pt x="4133822" y="798398"/>
                </a:lnTo>
                <a:lnTo>
                  <a:pt x="4086716" y="808023"/>
                </a:lnTo>
                <a:lnTo>
                  <a:pt x="4037601" y="811326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95610" y="5324391"/>
            <a:ext cx="1792605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Default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FFFFFF"/>
                </a:solidFill>
                <a:latin typeface="Arial MT"/>
                <a:cs typeface="Arial MT"/>
              </a:rPr>
              <a:t>deny</a:t>
            </a:r>
            <a:endParaRPr sz="24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2223" y="4165303"/>
            <a:ext cx="4399194" cy="9818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13122" y="4234613"/>
            <a:ext cx="2557780" cy="647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50" b="1" spc="-10" dirty="0">
                <a:latin typeface="Arial"/>
                <a:cs typeface="Arial"/>
              </a:rPr>
              <a:t>CONCEPT</a:t>
            </a:r>
            <a:endParaRPr sz="4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92223" y="6253765"/>
            <a:ext cx="4399280" cy="811530"/>
          </a:xfrm>
          <a:custGeom>
            <a:avLst/>
            <a:gdLst/>
            <a:ahLst/>
            <a:cxnLst/>
            <a:rect l="l" t="t" r="r" b="b"/>
            <a:pathLst>
              <a:path w="4399280" h="811529">
                <a:moveTo>
                  <a:pt x="4037601" y="811326"/>
                </a:moveTo>
                <a:lnTo>
                  <a:pt x="361950" y="811326"/>
                </a:lnTo>
                <a:lnTo>
                  <a:pt x="312835" y="808022"/>
                </a:lnTo>
                <a:lnTo>
                  <a:pt x="265729" y="798397"/>
                </a:lnTo>
                <a:lnTo>
                  <a:pt x="221062" y="782883"/>
                </a:lnTo>
                <a:lnTo>
                  <a:pt x="179266" y="761910"/>
                </a:lnTo>
                <a:lnTo>
                  <a:pt x="140773" y="735910"/>
                </a:lnTo>
                <a:lnTo>
                  <a:pt x="106012" y="705314"/>
                </a:lnTo>
                <a:lnTo>
                  <a:pt x="75416" y="670553"/>
                </a:lnTo>
                <a:lnTo>
                  <a:pt x="49416" y="632060"/>
                </a:lnTo>
                <a:lnTo>
                  <a:pt x="28443" y="590264"/>
                </a:lnTo>
                <a:lnTo>
                  <a:pt x="12929" y="545597"/>
                </a:lnTo>
                <a:lnTo>
                  <a:pt x="3304" y="498491"/>
                </a:lnTo>
                <a:lnTo>
                  <a:pt x="0" y="449376"/>
                </a:lnTo>
                <a:lnTo>
                  <a:pt x="0" y="361950"/>
                </a:lnTo>
                <a:lnTo>
                  <a:pt x="3304" y="312835"/>
                </a:lnTo>
                <a:lnTo>
                  <a:pt x="12929" y="265729"/>
                </a:lnTo>
                <a:lnTo>
                  <a:pt x="28443" y="221062"/>
                </a:lnTo>
                <a:lnTo>
                  <a:pt x="49416" y="179267"/>
                </a:lnTo>
                <a:lnTo>
                  <a:pt x="75416" y="140773"/>
                </a:lnTo>
                <a:lnTo>
                  <a:pt x="106012" y="106012"/>
                </a:lnTo>
                <a:lnTo>
                  <a:pt x="140773" y="75417"/>
                </a:lnTo>
                <a:lnTo>
                  <a:pt x="179266" y="49416"/>
                </a:lnTo>
                <a:lnTo>
                  <a:pt x="221062" y="28443"/>
                </a:lnTo>
                <a:lnTo>
                  <a:pt x="265729" y="12929"/>
                </a:lnTo>
                <a:lnTo>
                  <a:pt x="312835" y="3304"/>
                </a:lnTo>
                <a:lnTo>
                  <a:pt x="361950" y="0"/>
                </a:lnTo>
                <a:lnTo>
                  <a:pt x="4037601" y="0"/>
                </a:lnTo>
                <a:lnTo>
                  <a:pt x="4086716" y="3304"/>
                </a:lnTo>
                <a:lnTo>
                  <a:pt x="4133822" y="12929"/>
                </a:lnTo>
                <a:lnTo>
                  <a:pt x="4178489" y="28443"/>
                </a:lnTo>
                <a:lnTo>
                  <a:pt x="4220285" y="49416"/>
                </a:lnTo>
                <a:lnTo>
                  <a:pt x="4258779" y="75417"/>
                </a:lnTo>
                <a:lnTo>
                  <a:pt x="4293539" y="106012"/>
                </a:lnTo>
                <a:lnTo>
                  <a:pt x="4324135" y="140773"/>
                </a:lnTo>
                <a:lnTo>
                  <a:pt x="4350135" y="179267"/>
                </a:lnTo>
                <a:lnTo>
                  <a:pt x="4371108" y="221062"/>
                </a:lnTo>
                <a:lnTo>
                  <a:pt x="4386623" y="265729"/>
                </a:lnTo>
                <a:lnTo>
                  <a:pt x="4396248" y="312835"/>
                </a:lnTo>
                <a:lnTo>
                  <a:pt x="4398913" y="352450"/>
                </a:lnTo>
                <a:lnTo>
                  <a:pt x="4398913" y="458876"/>
                </a:lnTo>
                <a:lnTo>
                  <a:pt x="4396248" y="498491"/>
                </a:lnTo>
                <a:lnTo>
                  <a:pt x="4386623" y="545597"/>
                </a:lnTo>
                <a:lnTo>
                  <a:pt x="4371108" y="590264"/>
                </a:lnTo>
                <a:lnTo>
                  <a:pt x="4350135" y="632060"/>
                </a:lnTo>
                <a:lnTo>
                  <a:pt x="4324135" y="670553"/>
                </a:lnTo>
                <a:lnTo>
                  <a:pt x="4293539" y="705314"/>
                </a:lnTo>
                <a:lnTo>
                  <a:pt x="4258779" y="735910"/>
                </a:lnTo>
                <a:lnTo>
                  <a:pt x="4220285" y="761910"/>
                </a:lnTo>
                <a:lnTo>
                  <a:pt x="4178489" y="782883"/>
                </a:lnTo>
                <a:lnTo>
                  <a:pt x="4133822" y="798397"/>
                </a:lnTo>
                <a:lnTo>
                  <a:pt x="4086716" y="808022"/>
                </a:lnTo>
                <a:lnTo>
                  <a:pt x="4037601" y="811326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57137" y="6259544"/>
            <a:ext cx="3070225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Identity-based</a:t>
            </a:r>
            <a:r>
              <a:rPr sz="2450" spc="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access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92223" y="7189258"/>
            <a:ext cx="4399280" cy="811530"/>
          </a:xfrm>
          <a:custGeom>
            <a:avLst/>
            <a:gdLst/>
            <a:ahLst/>
            <a:cxnLst/>
            <a:rect l="l" t="t" r="r" b="b"/>
            <a:pathLst>
              <a:path w="4399280" h="811529">
                <a:moveTo>
                  <a:pt x="4037601" y="811326"/>
                </a:moveTo>
                <a:lnTo>
                  <a:pt x="361950" y="811326"/>
                </a:lnTo>
                <a:lnTo>
                  <a:pt x="312835" y="808022"/>
                </a:lnTo>
                <a:lnTo>
                  <a:pt x="265729" y="798397"/>
                </a:lnTo>
                <a:lnTo>
                  <a:pt x="221062" y="782883"/>
                </a:lnTo>
                <a:lnTo>
                  <a:pt x="179266" y="761910"/>
                </a:lnTo>
                <a:lnTo>
                  <a:pt x="140773" y="735910"/>
                </a:lnTo>
                <a:lnTo>
                  <a:pt x="106012" y="705314"/>
                </a:lnTo>
                <a:lnTo>
                  <a:pt x="75416" y="670554"/>
                </a:lnTo>
                <a:lnTo>
                  <a:pt x="49416" y="632060"/>
                </a:lnTo>
                <a:lnTo>
                  <a:pt x="28443" y="590264"/>
                </a:lnTo>
                <a:lnTo>
                  <a:pt x="12929" y="545597"/>
                </a:lnTo>
                <a:lnTo>
                  <a:pt x="3304" y="498491"/>
                </a:lnTo>
                <a:lnTo>
                  <a:pt x="0" y="449376"/>
                </a:lnTo>
                <a:lnTo>
                  <a:pt x="0" y="361950"/>
                </a:lnTo>
                <a:lnTo>
                  <a:pt x="3304" y="312835"/>
                </a:lnTo>
                <a:lnTo>
                  <a:pt x="12929" y="265729"/>
                </a:lnTo>
                <a:lnTo>
                  <a:pt x="28443" y="221062"/>
                </a:lnTo>
                <a:lnTo>
                  <a:pt x="49416" y="179267"/>
                </a:lnTo>
                <a:lnTo>
                  <a:pt x="75416" y="140773"/>
                </a:lnTo>
                <a:lnTo>
                  <a:pt x="106012" y="106012"/>
                </a:lnTo>
                <a:lnTo>
                  <a:pt x="140773" y="75417"/>
                </a:lnTo>
                <a:lnTo>
                  <a:pt x="179266" y="49417"/>
                </a:lnTo>
                <a:lnTo>
                  <a:pt x="221062" y="28444"/>
                </a:lnTo>
                <a:lnTo>
                  <a:pt x="265729" y="12929"/>
                </a:lnTo>
                <a:lnTo>
                  <a:pt x="312835" y="3304"/>
                </a:lnTo>
                <a:lnTo>
                  <a:pt x="361950" y="0"/>
                </a:lnTo>
                <a:lnTo>
                  <a:pt x="4037601" y="0"/>
                </a:lnTo>
                <a:lnTo>
                  <a:pt x="4086716" y="3304"/>
                </a:lnTo>
                <a:lnTo>
                  <a:pt x="4133822" y="12929"/>
                </a:lnTo>
                <a:lnTo>
                  <a:pt x="4178489" y="28444"/>
                </a:lnTo>
                <a:lnTo>
                  <a:pt x="4220285" y="49417"/>
                </a:lnTo>
                <a:lnTo>
                  <a:pt x="4258779" y="75417"/>
                </a:lnTo>
                <a:lnTo>
                  <a:pt x="4293539" y="106012"/>
                </a:lnTo>
                <a:lnTo>
                  <a:pt x="4324135" y="140773"/>
                </a:lnTo>
                <a:lnTo>
                  <a:pt x="4350135" y="179267"/>
                </a:lnTo>
                <a:lnTo>
                  <a:pt x="4371108" y="221062"/>
                </a:lnTo>
                <a:lnTo>
                  <a:pt x="4386623" y="265729"/>
                </a:lnTo>
                <a:lnTo>
                  <a:pt x="4396248" y="312835"/>
                </a:lnTo>
                <a:lnTo>
                  <a:pt x="4398913" y="352450"/>
                </a:lnTo>
                <a:lnTo>
                  <a:pt x="4398913" y="458876"/>
                </a:lnTo>
                <a:lnTo>
                  <a:pt x="4396248" y="498491"/>
                </a:lnTo>
                <a:lnTo>
                  <a:pt x="4386623" y="545597"/>
                </a:lnTo>
                <a:lnTo>
                  <a:pt x="4371108" y="590264"/>
                </a:lnTo>
                <a:lnTo>
                  <a:pt x="4350135" y="632060"/>
                </a:lnTo>
                <a:lnTo>
                  <a:pt x="4324135" y="670554"/>
                </a:lnTo>
                <a:lnTo>
                  <a:pt x="4293539" y="705314"/>
                </a:lnTo>
                <a:lnTo>
                  <a:pt x="4258779" y="735910"/>
                </a:lnTo>
                <a:lnTo>
                  <a:pt x="4220285" y="761910"/>
                </a:lnTo>
                <a:lnTo>
                  <a:pt x="4178489" y="782883"/>
                </a:lnTo>
                <a:lnTo>
                  <a:pt x="4133822" y="798397"/>
                </a:lnTo>
                <a:lnTo>
                  <a:pt x="4086716" y="808022"/>
                </a:lnTo>
                <a:lnTo>
                  <a:pt x="4037601" y="811326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97334" y="7195036"/>
            <a:ext cx="2789555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Micro-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segmentation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92223" y="8124410"/>
            <a:ext cx="4399280" cy="811530"/>
          </a:xfrm>
          <a:custGeom>
            <a:avLst/>
            <a:gdLst/>
            <a:ahLst/>
            <a:cxnLst/>
            <a:rect l="l" t="t" r="r" b="b"/>
            <a:pathLst>
              <a:path w="4399280" h="811529">
                <a:moveTo>
                  <a:pt x="4037601" y="811326"/>
                </a:moveTo>
                <a:lnTo>
                  <a:pt x="361950" y="811326"/>
                </a:lnTo>
                <a:lnTo>
                  <a:pt x="312835" y="808022"/>
                </a:lnTo>
                <a:lnTo>
                  <a:pt x="265729" y="798397"/>
                </a:lnTo>
                <a:lnTo>
                  <a:pt x="221062" y="782883"/>
                </a:lnTo>
                <a:lnTo>
                  <a:pt x="179266" y="761910"/>
                </a:lnTo>
                <a:lnTo>
                  <a:pt x="140773" y="735910"/>
                </a:lnTo>
                <a:lnTo>
                  <a:pt x="106012" y="705314"/>
                </a:lnTo>
                <a:lnTo>
                  <a:pt x="75416" y="670554"/>
                </a:lnTo>
                <a:lnTo>
                  <a:pt x="49416" y="632060"/>
                </a:lnTo>
                <a:lnTo>
                  <a:pt x="28443" y="590264"/>
                </a:lnTo>
                <a:lnTo>
                  <a:pt x="12929" y="545597"/>
                </a:lnTo>
                <a:lnTo>
                  <a:pt x="3304" y="498491"/>
                </a:lnTo>
                <a:lnTo>
                  <a:pt x="0" y="449377"/>
                </a:lnTo>
                <a:lnTo>
                  <a:pt x="0" y="361950"/>
                </a:lnTo>
                <a:lnTo>
                  <a:pt x="3304" y="312835"/>
                </a:lnTo>
                <a:lnTo>
                  <a:pt x="12929" y="265729"/>
                </a:lnTo>
                <a:lnTo>
                  <a:pt x="28443" y="221062"/>
                </a:lnTo>
                <a:lnTo>
                  <a:pt x="49416" y="179267"/>
                </a:lnTo>
                <a:lnTo>
                  <a:pt x="75416" y="140773"/>
                </a:lnTo>
                <a:lnTo>
                  <a:pt x="106012" y="106012"/>
                </a:lnTo>
                <a:lnTo>
                  <a:pt x="140773" y="75417"/>
                </a:lnTo>
                <a:lnTo>
                  <a:pt x="179266" y="49416"/>
                </a:lnTo>
                <a:lnTo>
                  <a:pt x="221062" y="28443"/>
                </a:lnTo>
                <a:lnTo>
                  <a:pt x="265729" y="12929"/>
                </a:lnTo>
                <a:lnTo>
                  <a:pt x="312835" y="3304"/>
                </a:lnTo>
                <a:lnTo>
                  <a:pt x="361950" y="0"/>
                </a:lnTo>
                <a:lnTo>
                  <a:pt x="4037601" y="0"/>
                </a:lnTo>
                <a:lnTo>
                  <a:pt x="4086716" y="3304"/>
                </a:lnTo>
                <a:lnTo>
                  <a:pt x="4133822" y="12929"/>
                </a:lnTo>
                <a:lnTo>
                  <a:pt x="4178489" y="28443"/>
                </a:lnTo>
                <a:lnTo>
                  <a:pt x="4220285" y="49416"/>
                </a:lnTo>
                <a:lnTo>
                  <a:pt x="4258779" y="75417"/>
                </a:lnTo>
                <a:lnTo>
                  <a:pt x="4293539" y="106012"/>
                </a:lnTo>
                <a:lnTo>
                  <a:pt x="4324135" y="140773"/>
                </a:lnTo>
                <a:lnTo>
                  <a:pt x="4350135" y="179267"/>
                </a:lnTo>
                <a:lnTo>
                  <a:pt x="4371108" y="221062"/>
                </a:lnTo>
                <a:lnTo>
                  <a:pt x="4386623" y="265729"/>
                </a:lnTo>
                <a:lnTo>
                  <a:pt x="4396248" y="312835"/>
                </a:lnTo>
                <a:lnTo>
                  <a:pt x="4398913" y="352450"/>
                </a:lnTo>
                <a:lnTo>
                  <a:pt x="4398913" y="458876"/>
                </a:lnTo>
                <a:lnTo>
                  <a:pt x="4396248" y="498491"/>
                </a:lnTo>
                <a:lnTo>
                  <a:pt x="4386623" y="545597"/>
                </a:lnTo>
                <a:lnTo>
                  <a:pt x="4371108" y="590264"/>
                </a:lnTo>
                <a:lnTo>
                  <a:pt x="4350135" y="632060"/>
                </a:lnTo>
                <a:lnTo>
                  <a:pt x="4324135" y="670554"/>
                </a:lnTo>
                <a:lnTo>
                  <a:pt x="4293539" y="705314"/>
                </a:lnTo>
                <a:lnTo>
                  <a:pt x="4258779" y="735910"/>
                </a:lnTo>
                <a:lnTo>
                  <a:pt x="4220285" y="761910"/>
                </a:lnTo>
                <a:lnTo>
                  <a:pt x="4178489" y="782883"/>
                </a:lnTo>
                <a:lnTo>
                  <a:pt x="4133822" y="798397"/>
                </a:lnTo>
                <a:lnTo>
                  <a:pt x="4086716" y="808022"/>
                </a:lnTo>
                <a:lnTo>
                  <a:pt x="4037601" y="811326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487188" y="8130188"/>
            <a:ext cx="3209925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Invisible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attack</a:t>
            </a:r>
            <a:r>
              <a:rPr sz="245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surface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83260" y="5318613"/>
            <a:ext cx="9124315" cy="811530"/>
          </a:xfrm>
          <a:custGeom>
            <a:avLst/>
            <a:gdLst/>
            <a:ahLst/>
            <a:cxnLst/>
            <a:rect l="l" t="t" r="r" b="b"/>
            <a:pathLst>
              <a:path w="9124315" h="811529">
                <a:moveTo>
                  <a:pt x="8761917" y="811327"/>
                </a:moveTo>
                <a:lnTo>
                  <a:pt x="361949" y="811327"/>
                </a:lnTo>
                <a:lnTo>
                  <a:pt x="312835" y="808023"/>
                </a:lnTo>
                <a:lnTo>
                  <a:pt x="265729" y="798398"/>
                </a:lnTo>
                <a:lnTo>
                  <a:pt x="221062" y="782883"/>
                </a:lnTo>
                <a:lnTo>
                  <a:pt x="179267" y="761910"/>
                </a:lnTo>
                <a:lnTo>
                  <a:pt x="140773" y="735910"/>
                </a:lnTo>
                <a:lnTo>
                  <a:pt x="106012" y="705314"/>
                </a:lnTo>
                <a:lnTo>
                  <a:pt x="75416" y="670553"/>
                </a:lnTo>
                <a:lnTo>
                  <a:pt x="49416" y="632060"/>
                </a:lnTo>
                <a:lnTo>
                  <a:pt x="28443" y="590264"/>
                </a:lnTo>
                <a:lnTo>
                  <a:pt x="12929" y="545597"/>
                </a:lnTo>
                <a:lnTo>
                  <a:pt x="3304" y="498491"/>
                </a:lnTo>
                <a:lnTo>
                  <a:pt x="0" y="449377"/>
                </a:lnTo>
                <a:lnTo>
                  <a:pt x="0" y="361949"/>
                </a:lnTo>
                <a:lnTo>
                  <a:pt x="3304" y="312835"/>
                </a:lnTo>
                <a:lnTo>
                  <a:pt x="12929" y="265729"/>
                </a:lnTo>
                <a:lnTo>
                  <a:pt x="28443" y="221062"/>
                </a:lnTo>
                <a:lnTo>
                  <a:pt x="49416" y="179266"/>
                </a:lnTo>
                <a:lnTo>
                  <a:pt x="75416" y="140773"/>
                </a:lnTo>
                <a:lnTo>
                  <a:pt x="106012" y="106012"/>
                </a:lnTo>
                <a:lnTo>
                  <a:pt x="140773" y="75416"/>
                </a:lnTo>
                <a:lnTo>
                  <a:pt x="179267" y="49416"/>
                </a:lnTo>
                <a:lnTo>
                  <a:pt x="221062" y="28443"/>
                </a:lnTo>
                <a:lnTo>
                  <a:pt x="265729" y="12929"/>
                </a:lnTo>
                <a:lnTo>
                  <a:pt x="312835" y="3304"/>
                </a:lnTo>
                <a:lnTo>
                  <a:pt x="361949" y="0"/>
                </a:lnTo>
                <a:lnTo>
                  <a:pt x="8761917" y="0"/>
                </a:lnTo>
                <a:lnTo>
                  <a:pt x="8811031" y="3304"/>
                </a:lnTo>
                <a:lnTo>
                  <a:pt x="8858137" y="12929"/>
                </a:lnTo>
                <a:lnTo>
                  <a:pt x="8902804" y="28443"/>
                </a:lnTo>
                <a:lnTo>
                  <a:pt x="8944600" y="49416"/>
                </a:lnTo>
                <a:lnTo>
                  <a:pt x="8983094" y="75416"/>
                </a:lnTo>
                <a:lnTo>
                  <a:pt x="9017854" y="106012"/>
                </a:lnTo>
                <a:lnTo>
                  <a:pt x="9048450" y="140773"/>
                </a:lnTo>
                <a:lnTo>
                  <a:pt x="9074450" y="179266"/>
                </a:lnTo>
                <a:lnTo>
                  <a:pt x="9095423" y="221062"/>
                </a:lnTo>
                <a:lnTo>
                  <a:pt x="9110938" y="265729"/>
                </a:lnTo>
                <a:lnTo>
                  <a:pt x="9120563" y="312835"/>
                </a:lnTo>
                <a:lnTo>
                  <a:pt x="9123867" y="361949"/>
                </a:lnTo>
                <a:lnTo>
                  <a:pt x="9123867" y="449377"/>
                </a:lnTo>
                <a:lnTo>
                  <a:pt x="9120563" y="498491"/>
                </a:lnTo>
                <a:lnTo>
                  <a:pt x="9110938" y="545597"/>
                </a:lnTo>
                <a:lnTo>
                  <a:pt x="9095423" y="590264"/>
                </a:lnTo>
                <a:lnTo>
                  <a:pt x="9074450" y="632060"/>
                </a:lnTo>
                <a:lnTo>
                  <a:pt x="9048450" y="670553"/>
                </a:lnTo>
                <a:lnTo>
                  <a:pt x="9017854" y="705314"/>
                </a:lnTo>
                <a:lnTo>
                  <a:pt x="8983094" y="735910"/>
                </a:lnTo>
                <a:lnTo>
                  <a:pt x="8944600" y="761910"/>
                </a:lnTo>
                <a:lnTo>
                  <a:pt x="8902804" y="782883"/>
                </a:lnTo>
                <a:lnTo>
                  <a:pt x="8858137" y="798398"/>
                </a:lnTo>
                <a:lnTo>
                  <a:pt x="8811031" y="808023"/>
                </a:lnTo>
                <a:lnTo>
                  <a:pt x="8761917" y="811327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7083260" y="8124410"/>
            <a:ext cx="11205210" cy="2162810"/>
            <a:chOff x="7083260" y="8124410"/>
            <a:chExt cx="11205210" cy="216281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52333" y="8456807"/>
              <a:ext cx="7235665" cy="183019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083260" y="8124410"/>
              <a:ext cx="9124315" cy="811530"/>
            </a:xfrm>
            <a:custGeom>
              <a:avLst/>
              <a:gdLst/>
              <a:ahLst/>
              <a:cxnLst/>
              <a:rect l="l" t="t" r="r" b="b"/>
              <a:pathLst>
                <a:path w="9124315" h="811529">
                  <a:moveTo>
                    <a:pt x="8761917" y="811326"/>
                  </a:moveTo>
                  <a:lnTo>
                    <a:pt x="361949" y="811326"/>
                  </a:lnTo>
                  <a:lnTo>
                    <a:pt x="312835" y="808022"/>
                  </a:lnTo>
                  <a:lnTo>
                    <a:pt x="265729" y="798397"/>
                  </a:lnTo>
                  <a:lnTo>
                    <a:pt x="221062" y="782883"/>
                  </a:lnTo>
                  <a:lnTo>
                    <a:pt x="179267" y="761910"/>
                  </a:lnTo>
                  <a:lnTo>
                    <a:pt x="140773" y="735910"/>
                  </a:lnTo>
                  <a:lnTo>
                    <a:pt x="106012" y="705314"/>
                  </a:lnTo>
                  <a:lnTo>
                    <a:pt x="75416" y="670553"/>
                  </a:lnTo>
                  <a:lnTo>
                    <a:pt x="49416" y="632060"/>
                  </a:lnTo>
                  <a:lnTo>
                    <a:pt x="28443" y="590264"/>
                  </a:lnTo>
                  <a:lnTo>
                    <a:pt x="12929" y="545597"/>
                  </a:lnTo>
                  <a:lnTo>
                    <a:pt x="3304" y="498491"/>
                  </a:lnTo>
                  <a:lnTo>
                    <a:pt x="0" y="449376"/>
                  </a:lnTo>
                  <a:lnTo>
                    <a:pt x="0" y="361949"/>
                  </a:lnTo>
                  <a:lnTo>
                    <a:pt x="3304" y="312835"/>
                  </a:lnTo>
                  <a:lnTo>
                    <a:pt x="12929" y="265729"/>
                  </a:lnTo>
                  <a:lnTo>
                    <a:pt x="28443" y="221062"/>
                  </a:lnTo>
                  <a:lnTo>
                    <a:pt x="49416" y="179267"/>
                  </a:lnTo>
                  <a:lnTo>
                    <a:pt x="75416" y="140773"/>
                  </a:lnTo>
                  <a:lnTo>
                    <a:pt x="106012" y="106012"/>
                  </a:lnTo>
                  <a:lnTo>
                    <a:pt x="140773" y="75416"/>
                  </a:lnTo>
                  <a:lnTo>
                    <a:pt x="179267" y="49416"/>
                  </a:lnTo>
                  <a:lnTo>
                    <a:pt x="221062" y="28443"/>
                  </a:lnTo>
                  <a:lnTo>
                    <a:pt x="265729" y="12929"/>
                  </a:lnTo>
                  <a:lnTo>
                    <a:pt x="312835" y="3304"/>
                  </a:lnTo>
                  <a:lnTo>
                    <a:pt x="361949" y="0"/>
                  </a:lnTo>
                  <a:lnTo>
                    <a:pt x="8761917" y="0"/>
                  </a:lnTo>
                  <a:lnTo>
                    <a:pt x="8811031" y="3304"/>
                  </a:lnTo>
                  <a:lnTo>
                    <a:pt x="8858137" y="12929"/>
                  </a:lnTo>
                  <a:lnTo>
                    <a:pt x="8902804" y="28443"/>
                  </a:lnTo>
                  <a:lnTo>
                    <a:pt x="8944600" y="49416"/>
                  </a:lnTo>
                  <a:lnTo>
                    <a:pt x="8983094" y="75416"/>
                  </a:lnTo>
                  <a:lnTo>
                    <a:pt x="9017854" y="106012"/>
                  </a:lnTo>
                  <a:lnTo>
                    <a:pt x="9048450" y="140773"/>
                  </a:lnTo>
                  <a:lnTo>
                    <a:pt x="9074450" y="179267"/>
                  </a:lnTo>
                  <a:lnTo>
                    <a:pt x="9095423" y="221062"/>
                  </a:lnTo>
                  <a:lnTo>
                    <a:pt x="9110938" y="265729"/>
                  </a:lnTo>
                  <a:lnTo>
                    <a:pt x="9120563" y="312835"/>
                  </a:lnTo>
                  <a:lnTo>
                    <a:pt x="9123867" y="361949"/>
                  </a:lnTo>
                  <a:lnTo>
                    <a:pt x="9123867" y="449376"/>
                  </a:lnTo>
                  <a:lnTo>
                    <a:pt x="9120563" y="498491"/>
                  </a:lnTo>
                  <a:lnTo>
                    <a:pt x="9110938" y="545597"/>
                  </a:lnTo>
                  <a:lnTo>
                    <a:pt x="9095423" y="590264"/>
                  </a:lnTo>
                  <a:lnTo>
                    <a:pt x="9074450" y="632060"/>
                  </a:lnTo>
                  <a:lnTo>
                    <a:pt x="9048450" y="670553"/>
                  </a:lnTo>
                  <a:lnTo>
                    <a:pt x="9017854" y="705314"/>
                  </a:lnTo>
                  <a:lnTo>
                    <a:pt x="8983094" y="735910"/>
                  </a:lnTo>
                  <a:lnTo>
                    <a:pt x="8944600" y="761910"/>
                  </a:lnTo>
                  <a:lnTo>
                    <a:pt x="8902804" y="782883"/>
                  </a:lnTo>
                  <a:lnTo>
                    <a:pt x="8858137" y="798397"/>
                  </a:lnTo>
                  <a:lnTo>
                    <a:pt x="8811031" y="808022"/>
                  </a:lnTo>
                  <a:lnTo>
                    <a:pt x="8761917" y="811326"/>
                  </a:lnTo>
                  <a:close/>
                </a:path>
              </a:pathLst>
            </a:custGeom>
            <a:solidFill>
              <a:srgbClr val="2020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398725" y="5324391"/>
            <a:ext cx="8493125" cy="6800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161030" marR="5080" indent="-3148965">
              <a:lnSpc>
                <a:spcPct val="74000"/>
              </a:lnSpc>
              <a:spcBef>
                <a:spcPts val="890"/>
              </a:spcBef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Nothing</a:t>
            </a:r>
            <a:r>
              <a:rPr sz="24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4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visible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sz="24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accessible</a:t>
            </a:r>
            <a:r>
              <a:rPr sz="24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until</a:t>
            </a:r>
            <a:r>
              <a:rPr sz="24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4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authenticated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authorized.</a:t>
            </a:r>
            <a:endParaRPr sz="245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3260" y="4165303"/>
            <a:ext cx="9123866" cy="98186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747977" y="4234613"/>
            <a:ext cx="3794760" cy="647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50" b="1" spc="-10" dirty="0">
                <a:latin typeface="Arial"/>
                <a:cs typeface="Arial"/>
              </a:rPr>
              <a:t>DECLARATION</a:t>
            </a:r>
            <a:endParaRPr sz="40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083260" y="6253765"/>
            <a:ext cx="9124315" cy="811530"/>
          </a:xfrm>
          <a:custGeom>
            <a:avLst/>
            <a:gdLst/>
            <a:ahLst/>
            <a:cxnLst/>
            <a:rect l="l" t="t" r="r" b="b"/>
            <a:pathLst>
              <a:path w="9124315" h="811529">
                <a:moveTo>
                  <a:pt x="8761917" y="811326"/>
                </a:moveTo>
                <a:lnTo>
                  <a:pt x="361949" y="811326"/>
                </a:lnTo>
                <a:lnTo>
                  <a:pt x="312835" y="808022"/>
                </a:lnTo>
                <a:lnTo>
                  <a:pt x="265729" y="798397"/>
                </a:lnTo>
                <a:lnTo>
                  <a:pt x="221062" y="782882"/>
                </a:lnTo>
                <a:lnTo>
                  <a:pt x="179267" y="761910"/>
                </a:lnTo>
                <a:lnTo>
                  <a:pt x="140773" y="735910"/>
                </a:lnTo>
                <a:lnTo>
                  <a:pt x="106012" y="705314"/>
                </a:lnTo>
                <a:lnTo>
                  <a:pt x="75416" y="670553"/>
                </a:lnTo>
                <a:lnTo>
                  <a:pt x="49416" y="632060"/>
                </a:lnTo>
                <a:lnTo>
                  <a:pt x="28443" y="590264"/>
                </a:lnTo>
                <a:lnTo>
                  <a:pt x="12929" y="545597"/>
                </a:lnTo>
                <a:lnTo>
                  <a:pt x="3304" y="498491"/>
                </a:lnTo>
                <a:lnTo>
                  <a:pt x="0" y="449376"/>
                </a:lnTo>
                <a:lnTo>
                  <a:pt x="0" y="361949"/>
                </a:lnTo>
                <a:lnTo>
                  <a:pt x="3304" y="312835"/>
                </a:lnTo>
                <a:lnTo>
                  <a:pt x="12929" y="265729"/>
                </a:lnTo>
                <a:lnTo>
                  <a:pt x="28443" y="221062"/>
                </a:lnTo>
                <a:lnTo>
                  <a:pt x="49416" y="179267"/>
                </a:lnTo>
                <a:lnTo>
                  <a:pt x="75416" y="140773"/>
                </a:lnTo>
                <a:lnTo>
                  <a:pt x="106012" y="106012"/>
                </a:lnTo>
                <a:lnTo>
                  <a:pt x="140773" y="75416"/>
                </a:lnTo>
                <a:lnTo>
                  <a:pt x="179267" y="49416"/>
                </a:lnTo>
                <a:lnTo>
                  <a:pt x="221062" y="28443"/>
                </a:lnTo>
                <a:lnTo>
                  <a:pt x="265729" y="12929"/>
                </a:lnTo>
                <a:lnTo>
                  <a:pt x="312835" y="3304"/>
                </a:lnTo>
                <a:lnTo>
                  <a:pt x="361949" y="0"/>
                </a:lnTo>
                <a:lnTo>
                  <a:pt x="8761917" y="0"/>
                </a:lnTo>
                <a:lnTo>
                  <a:pt x="8811031" y="3304"/>
                </a:lnTo>
                <a:lnTo>
                  <a:pt x="8858137" y="12929"/>
                </a:lnTo>
                <a:lnTo>
                  <a:pt x="8902804" y="28443"/>
                </a:lnTo>
                <a:lnTo>
                  <a:pt x="8944600" y="49416"/>
                </a:lnTo>
                <a:lnTo>
                  <a:pt x="8983094" y="75416"/>
                </a:lnTo>
                <a:lnTo>
                  <a:pt x="9017854" y="106012"/>
                </a:lnTo>
                <a:lnTo>
                  <a:pt x="9048450" y="140773"/>
                </a:lnTo>
                <a:lnTo>
                  <a:pt x="9074450" y="179267"/>
                </a:lnTo>
                <a:lnTo>
                  <a:pt x="9095423" y="221062"/>
                </a:lnTo>
                <a:lnTo>
                  <a:pt x="9110938" y="265729"/>
                </a:lnTo>
                <a:lnTo>
                  <a:pt x="9120563" y="312835"/>
                </a:lnTo>
                <a:lnTo>
                  <a:pt x="9123867" y="361949"/>
                </a:lnTo>
                <a:lnTo>
                  <a:pt x="9123867" y="449376"/>
                </a:lnTo>
                <a:lnTo>
                  <a:pt x="9120563" y="498491"/>
                </a:lnTo>
                <a:lnTo>
                  <a:pt x="9110938" y="545597"/>
                </a:lnTo>
                <a:lnTo>
                  <a:pt x="9095423" y="590264"/>
                </a:lnTo>
                <a:lnTo>
                  <a:pt x="9074450" y="632060"/>
                </a:lnTo>
                <a:lnTo>
                  <a:pt x="9048450" y="670553"/>
                </a:lnTo>
                <a:lnTo>
                  <a:pt x="9017854" y="705314"/>
                </a:lnTo>
                <a:lnTo>
                  <a:pt x="8983094" y="735910"/>
                </a:lnTo>
                <a:lnTo>
                  <a:pt x="8944600" y="761910"/>
                </a:lnTo>
                <a:lnTo>
                  <a:pt x="8902804" y="782882"/>
                </a:lnTo>
                <a:lnTo>
                  <a:pt x="8858137" y="798397"/>
                </a:lnTo>
                <a:lnTo>
                  <a:pt x="8811031" y="808022"/>
                </a:lnTo>
                <a:lnTo>
                  <a:pt x="8761917" y="811326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293504" y="6259544"/>
            <a:ext cx="8703310" cy="6800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4132579" marR="5080" indent="-4120515">
              <a:lnSpc>
                <a:spcPct val="74000"/>
              </a:lnSpc>
              <a:spcBef>
                <a:spcPts val="890"/>
              </a:spcBef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Access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depends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who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is,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network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they’re </a:t>
            </a:r>
            <a:r>
              <a:rPr sz="2450" spc="-25" dirty="0">
                <a:solidFill>
                  <a:srgbClr val="FFFFFF"/>
                </a:solidFill>
                <a:latin typeface="Arial MT"/>
                <a:cs typeface="Arial MT"/>
              </a:rPr>
              <a:t>on.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083260" y="7189258"/>
            <a:ext cx="9124315" cy="811530"/>
          </a:xfrm>
          <a:custGeom>
            <a:avLst/>
            <a:gdLst/>
            <a:ahLst/>
            <a:cxnLst/>
            <a:rect l="l" t="t" r="r" b="b"/>
            <a:pathLst>
              <a:path w="9124315" h="811529">
                <a:moveTo>
                  <a:pt x="8761917" y="811326"/>
                </a:moveTo>
                <a:lnTo>
                  <a:pt x="361949" y="811326"/>
                </a:lnTo>
                <a:lnTo>
                  <a:pt x="312835" y="808022"/>
                </a:lnTo>
                <a:lnTo>
                  <a:pt x="265729" y="798397"/>
                </a:lnTo>
                <a:lnTo>
                  <a:pt x="221062" y="782882"/>
                </a:lnTo>
                <a:lnTo>
                  <a:pt x="179267" y="761910"/>
                </a:lnTo>
                <a:lnTo>
                  <a:pt x="140773" y="735910"/>
                </a:lnTo>
                <a:lnTo>
                  <a:pt x="106012" y="705314"/>
                </a:lnTo>
                <a:lnTo>
                  <a:pt x="75416" y="670553"/>
                </a:lnTo>
                <a:lnTo>
                  <a:pt x="49416" y="632060"/>
                </a:lnTo>
                <a:lnTo>
                  <a:pt x="28443" y="590264"/>
                </a:lnTo>
                <a:lnTo>
                  <a:pt x="12929" y="545597"/>
                </a:lnTo>
                <a:lnTo>
                  <a:pt x="3304" y="498491"/>
                </a:lnTo>
                <a:lnTo>
                  <a:pt x="0" y="449376"/>
                </a:lnTo>
                <a:lnTo>
                  <a:pt x="0" y="361949"/>
                </a:lnTo>
                <a:lnTo>
                  <a:pt x="3304" y="312835"/>
                </a:lnTo>
                <a:lnTo>
                  <a:pt x="12929" y="265729"/>
                </a:lnTo>
                <a:lnTo>
                  <a:pt x="28443" y="221062"/>
                </a:lnTo>
                <a:lnTo>
                  <a:pt x="49416" y="179266"/>
                </a:lnTo>
                <a:lnTo>
                  <a:pt x="75416" y="140773"/>
                </a:lnTo>
                <a:lnTo>
                  <a:pt x="106012" y="106012"/>
                </a:lnTo>
                <a:lnTo>
                  <a:pt x="140773" y="75416"/>
                </a:lnTo>
                <a:lnTo>
                  <a:pt x="179267" y="49416"/>
                </a:lnTo>
                <a:lnTo>
                  <a:pt x="221062" y="28443"/>
                </a:lnTo>
                <a:lnTo>
                  <a:pt x="265729" y="12929"/>
                </a:lnTo>
                <a:lnTo>
                  <a:pt x="312835" y="3304"/>
                </a:lnTo>
                <a:lnTo>
                  <a:pt x="361949" y="0"/>
                </a:lnTo>
                <a:lnTo>
                  <a:pt x="8761917" y="0"/>
                </a:lnTo>
                <a:lnTo>
                  <a:pt x="8811031" y="3304"/>
                </a:lnTo>
                <a:lnTo>
                  <a:pt x="8858137" y="12929"/>
                </a:lnTo>
                <a:lnTo>
                  <a:pt x="8902804" y="28443"/>
                </a:lnTo>
                <a:lnTo>
                  <a:pt x="8944600" y="49416"/>
                </a:lnTo>
                <a:lnTo>
                  <a:pt x="8983094" y="75416"/>
                </a:lnTo>
                <a:lnTo>
                  <a:pt x="9017854" y="106012"/>
                </a:lnTo>
                <a:lnTo>
                  <a:pt x="9048450" y="140773"/>
                </a:lnTo>
                <a:lnTo>
                  <a:pt x="9074450" y="179266"/>
                </a:lnTo>
                <a:lnTo>
                  <a:pt x="9095423" y="221062"/>
                </a:lnTo>
                <a:lnTo>
                  <a:pt x="9110938" y="265729"/>
                </a:lnTo>
                <a:lnTo>
                  <a:pt x="9120563" y="312835"/>
                </a:lnTo>
                <a:lnTo>
                  <a:pt x="9123867" y="361949"/>
                </a:lnTo>
                <a:lnTo>
                  <a:pt x="9123867" y="449376"/>
                </a:lnTo>
                <a:lnTo>
                  <a:pt x="9120563" y="498491"/>
                </a:lnTo>
                <a:lnTo>
                  <a:pt x="9110938" y="545597"/>
                </a:lnTo>
                <a:lnTo>
                  <a:pt x="9095423" y="590264"/>
                </a:lnTo>
                <a:lnTo>
                  <a:pt x="9074450" y="632060"/>
                </a:lnTo>
                <a:lnTo>
                  <a:pt x="9048450" y="670553"/>
                </a:lnTo>
                <a:lnTo>
                  <a:pt x="9017854" y="705314"/>
                </a:lnTo>
                <a:lnTo>
                  <a:pt x="8983094" y="735910"/>
                </a:lnTo>
                <a:lnTo>
                  <a:pt x="8944600" y="761910"/>
                </a:lnTo>
                <a:lnTo>
                  <a:pt x="8902804" y="782882"/>
                </a:lnTo>
                <a:lnTo>
                  <a:pt x="8858137" y="798397"/>
                </a:lnTo>
                <a:lnTo>
                  <a:pt x="8811031" y="808022"/>
                </a:lnTo>
                <a:lnTo>
                  <a:pt x="8761917" y="811326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275942" y="7195036"/>
            <a:ext cx="8738870" cy="6800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791210" marR="5080" indent="-779145">
              <a:lnSpc>
                <a:spcPct val="74000"/>
              </a:lnSpc>
              <a:spcBef>
                <a:spcPts val="890"/>
              </a:spcBef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Each</a:t>
            </a:r>
            <a:r>
              <a:rPr sz="24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sz="24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gets</a:t>
            </a:r>
            <a:r>
              <a:rPr sz="24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4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personalized,</a:t>
            </a:r>
            <a:r>
              <a:rPr sz="24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isolated</a:t>
            </a:r>
            <a:r>
              <a:rPr sz="24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connection</a:t>
            </a:r>
            <a:r>
              <a:rPr sz="24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(a</a:t>
            </a:r>
            <a:r>
              <a:rPr sz="24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“party</a:t>
            </a:r>
            <a:r>
              <a:rPr sz="24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FFFFFF"/>
                </a:solidFill>
                <a:latin typeface="Arial MT"/>
                <a:cs typeface="Arial MT"/>
              </a:rPr>
              <a:t>of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one”)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only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resources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allowed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FFFFFF"/>
                </a:solidFill>
                <a:latin typeface="Arial MT"/>
                <a:cs typeface="Arial MT"/>
              </a:rPr>
              <a:t>use.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23704" y="8130188"/>
            <a:ext cx="8843010" cy="6800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354070" marR="5080" indent="-3342004">
              <a:lnSpc>
                <a:spcPct val="74000"/>
              </a:lnSpc>
              <a:spcBef>
                <a:spcPts val="890"/>
              </a:spcBef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Because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services</a:t>
            </a:r>
            <a:r>
              <a:rPr sz="245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24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245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discoverable,</a:t>
            </a:r>
            <a:r>
              <a:rPr sz="24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scanners</a:t>
            </a:r>
            <a:r>
              <a:rPr sz="245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attackers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can’t</a:t>
            </a:r>
            <a:r>
              <a:rPr sz="24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see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them.</a:t>
            </a:r>
            <a:endParaRPr sz="2450">
              <a:latin typeface="Arial MT"/>
              <a:cs typeface="Arial M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617430" y="0"/>
            <a:ext cx="4667249" cy="3790949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9572" rIns="0" bIns="0" rtlCol="0">
            <a:spAutoFit/>
          </a:bodyPr>
          <a:lstStyle/>
          <a:p>
            <a:pPr marL="499109">
              <a:lnSpc>
                <a:spcPct val="100000"/>
              </a:lnSpc>
              <a:spcBef>
                <a:spcPts val="110"/>
              </a:spcBef>
            </a:pPr>
            <a:r>
              <a:rPr sz="6350" spc="-210" dirty="0"/>
              <a:t>Key</a:t>
            </a:r>
            <a:r>
              <a:rPr sz="6350" spc="-535" dirty="0"/>
              <a:t> </a:t>
            </a:r>
            <a:r>
              <a:rPr sz="6350" spc="-265" dirty="0"/>
              <a:t>concepts</a:t>
            </a:r>
            <a:endParaRPr sz="63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54481" y="2277798"/>
            <a:ext cx="8677275" cy="6630670"/>
            <a:chOff x="2054481" y="2277798"/>
            <a:chExt cx="8677275" cy="66306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4481" y="2277798"/>
              <a:ext cx="8676801" cy="663063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4481" y="4580882"/>
              <a:ext cx="8671998" cy="4327546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1474585" y="2277798"/>
            <a:ext cx="4545330" cy="1404620"/>
          </a:xfrm>
          <a:custGeom>
            <a:avLst/>
            <a:gdLst/>
            <a:ahLst/>
            <a:cxnLst/>
            <a:rect l="l" t="t" r="r" b="b"/>
            <a:pathLst>
              <a:path w="4545330" h="1404620">
                <a:moveTo>
                  <a:pt x="4345055" y="1404249"/>
                </a:moveTo>
                <a:lnTo>
                  <a:pt x="200024" y="1404249"/>
                </a:lnTo>
                <a:lnTo>
                  <a:pt x="160819" y="1400370"/>
                </a:lnTo>
                <a:lnTo>
                  <a:pt x="123478" y="1389023"/>
                </a:lnTo>
                <a:lnTo>
                  <a:pt x="89051" y="1370642"/>
                </a:lnTo>
                <a:lnTo>
                  <a:pt x="58586" y="1345663"/>
                </a:lnTo>
                <a:lnTo>
                  <a:pt x="33606" y="1315198"/>
                </a:lnTo>
                <a:lnTo>
                  <a:pt x="15225" y="1280770"/>
                </a:lnTo>
                <a:lnTo>
                  <a:pt x="3878" y="1243429"/>
                </a:lnTo>
                <a:lnTo>
                  <a:pt x="0" y="1204224"/>
                </a:lnTo>
                <a:lnTo>
                  <a:pt x="0" y="200024"/>
                </a:lnTo>
                <a:lnTo>
                  <a:pt x="3878" y="160819"/>
                </a:lnTo>
                <a:lnTo>
                  <a:pt x="15225" y="123478"/>
                </a:lnTo>
                <a:lnTo>
                  <a:pt x="33606" y="89051"/>
                </a:lnTo>
                <a:lnTo>
                  <a:pt x="58586" y="58586"/>
                </a:lnTo>
                <a:lnTo>
                  <a:pt x="89051" y="33606"/>
                </a:lnTo>
                <a:lnTo>
                  <a:pt x="123478" y="15226"/>
                </a:lnTo>
                <a:lnTo>
                  <a:pt x="160819" y="3878"/>
                </a:lnTo>
                <a:lnTo>
                  <a:pt x="200024" y="0"/>
                </a:lnTo>
                <a:lnTo>
                  <a:pt x="4345055" y="0"/>
                </a:lnTo>
                <a:lnTo>
                  <a:pt x="4384260" y="3878"/>
                </a:lnTo>
                <a:lnTo>
                  <a:pt x="4421601" y="15226"/>
                </a:lnTo>
                <a:lnTo>
                  <a:pt x="4456029" y="33606"/>
                </a:lnTo>
                <a:lnTo>
                  <a:pt x="4486494" y="58586"/>
                </a:lnTo>
                <a:lnTo>
                  <a:pt x="4511473" y="89051"/>
                </a:lnTo>
                <a:lnTo>
                  <a:pt x="4529854" y="123478"/>
                </a:lnTo>
                <a:lnTo>
                  <a:pt x="4541201" y="160819"/>
                </a:lnTo>
                <a:lnTo>
                  <a:pt x="4545080" y="200024"/>
                </a:lnTo>
                <a:lnTo>
                  <a:pt x="4545080" y="1204224"/>
                </a:lnTo>
                <a:lnTo>
                  <a:pt x="4541201" y="1243429"/>
                </a:lnTo>
                <a:lnTo>
                  <a:pt x="4529854" y="1280770"/>
                </a:lnTo>
                <a:lnTo>
                  <a:pt x="4511473" y="1315198"/>
                </a:lnTo>
                <a:lnTo>
                  <a:pt x="4486494" y="1345663"/>
                </a:lnTo>
                <a:lnTo>
                  <a:pt x="4456029" y="1370642"/>
                </a:lnTo>
                <a:lnTo>
                  <a:pt x="4421601" y="1389023"/>
                </a:lnTo>
                <a:lnTo>
                  <a:pt x="4384260" y="1400370"/>
                </a:lnTo>
                <a:lnTo>
                  <a:pt x="4345055" y="1404249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74585" y="3878757"/>
            <a:ext cx="4545330" cy="1404620"/>
          </a:xfrm>
          <a:custGeom>
            <a:avLst/>
            <a:gdLst/>
            <a:ahLst/>
            <a:cxnLst/>
            <a:rect l="l" t="t" r="r" b="b"/>
            <a:pathLst>
              <a:path w="4545330" h="1404620">
                <a:moveTo>
                  <a:pt x="4345055" y="1404249"/>
                </a:moveTo>
                <a:lnTo>
                  <a:pt x="200024" y="1404249"/>
                </a:lnTo>
                <a:lnTo>
                  <a:pt x="160819" y="1400370"/>
                </a:lnTo>
                <a:lnTo>
                  <a:pt x="123478" y="1389023"/>
                </a:lnTo>
                <a:lnTo>
                  <a:pt x="89051" y="1370642"/>
                </a:lnTo>
                <a:lnTo>
                  <a:pt x="58586" y="1345663"/>
                </a:lnTo>
                <a:lnTo>
                  <a:pt x="33606" y="1315198"/>
                </a:lnTo>
                <a:lnTo>
                  <a:pt x="15225" y="1280770"/>
                </a:lnTo>
                <a:lnTo>
                  <a:pt x="3878" y="1243429"/>
                </a:lnTo>
                <a:lnTo>
                  <a:pt x="0" y="1204224"/>
                </a:lnTo>
                <a:lnTo>
                  <a:pt x="0" y="200024"/>
                </a:lnTo>
                <a:lnTo>
                  <a:pt x="3878" y="160819"/>
                </a:lnTo>
                <a:lnTo>
                  <a:pt x="15225" y="123478"/>
                </a:lnTo>
                <a:lnTo>
                  <a:pt x="33606" y="89050"/>
                </a:lnTo>
                <a:lnTo>
                  <a:pt x="58586" y="58585"/>
                </a:lnTo>
                <a:lnTo>
                  <a:pt x="89051" y="33606"/>
                </a:lnTo>
                <a:lnTo>
                  <a:pt x="123478" y="15225"/>
                </a:lnTo>
                <a:lnTo>
                  <a:pt x="160819" y="3878"/>
                </a:lnTo>
                <a:lnTo>
                  <a:pt x="200024" y="0"/>
                </a:lnTo>
                <a:lnTo>
                  <a:pt x="4345055" y="0"/>
                </a:lnTo>
                <a:lnTo>
                  <a:pt x="4384260" y="3878"/>
                </a:lnTo>
                <a:lnTo>
                  <a:pt x="4421601" y="15225"/>
                </a:lnTo>
                <a:lnTo>
                  <a:pt x="4456029" y="33606"/>
                </a:lnTo>
                <a:lnTo>
                  <a:pt x="4486494" y="58585"/>
                </a:lnTo>
                <a:lnTo>
                  <a:pt x="4511473" y="89050"/>
                </a:lnTo>
                <a:lnTo>
                  <a:pt x="4529854" y="123478"/>
                </a:lnTo>
                <a:lnTo>
                  <a:pt x="4541201" y="160819"/>
                </a:lnTo>
                <a:lnTo>
                  <a:pt x="4545080" y="200024"/>
                </a:lnTo>
                <a:lnTo>
                  <a:pt x="4545080" y="1204224"/>
                </a:lnTo>
                <a:lnTo>
                  <a:pt x="4541201" y="1243429"/>
                </a:lnTo>
                <a:lnTo>
                  <a:pt x="4529854" y="1280770"/>
                </a:lnTo>
                <a:lnTo>
                  <a:pt x="4511473" y="1315198"/>
                </a:lnTo>
                <a:lnTo>
                  <a:pt x="4486494" y="1345663"/>
                </a:lnTo>
                <a:lnTo>
                  <a:pt x="4456029" y="1370642"/>
                </a:lnTo>
                <a:lnTo>
                  <a:pt x="4421601" y="1389023"/>
                </a:lnTo>
                <a:lnTo>
                  <a:pt x="4384260" y="1400370"/>
                </a:lnTo>
                <a:lnTo>
                  <a:pt x="4345055" y="1404249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74586" y="5483031"/>
            <a:ext cx="4541520" cy="2185670"/>
          </a:xfrm>
          <a:custGeom>
            <a:avLst/>
            <a:gdLst/>
            <a:ahLst/>
            <a:cxnLst/>
            <a:rect l="l" t="t" r="r" b="b"/>
            <a:pathLst>
              <a:path w="4541519" h="2185670">
                <a:moveTo>
                  <a:pt x="4345056" y="2185299"/>
                </a:moveTo>
                <a:lnTo>
                  <a:pt x="200025" y="2185299"/>
                </a:lnTo>
                <a:lnTo>
                  <a:pt x="160820" y="2181421"/>
                </a:lnTo>
                <a:lnTo>
                  <a:pt x="123479" y="2170074"/>
                </a:lnTo>
                <a:lnTo>
                  <a:pt x="89051" y="2151693"/>
                </a:lnTo>
                <a:lnTo>
                  <a:pt x="58586" y="2126713"/>
                </a:lnTo>
                <a:lnTo>
                  <a:pt x="33606" y="2096248"/>
                </a:lnTo>
                <a:lnTo>
                  <a:pt x="15226" y="2061821"/>
                </a:lnTo>
                <a:lnTo>
                  <a:pt x="3879" y="2024480"/>
                </a:lnTo>
                <a:lnTo>
                  <a:pt x="0" y="1985274"/>
                </a:lnTo>
                <a:lnTo>
                  <a:pt x="0" y="200025"/>
                </a:lnTo>
                <a:lnTo>
                  <a:pt x="3879" y="160819"/>
                </a:lnTo>
                <a:lnTo>
                  <a:pt x="15226" y="123478"/>
                </a:lnTo>
                <a:lnTo>
                  <a:pt x="33606" y="89051"/>
                </a:lnTo>
                <a:lnTo>
                  <a:pt x="58586" y="58585"/>
                </a:lnTo>
                <a:lnTo>
                  <a:pt x="89051" y="33606"/>
                </a:lnTo>
                <a:lnTo>
                  <a:pt x="123479" y="15226"/>
                </a:lnTo>
                <a:lnTo>
                  <a:pt x="160820" y="3879"/>
                </a:lnTo>
                <a:lnTo>
                  <a:pt x="200025" y="0"/>
                </a:lnTo>
                <a:lnTo>
                  <a:pt x="4345056" y="0"/>
                </a:lnTo>
                <a:lnTo>
                  <a:pt x="4384261" y="3879"/>
                </a:lnTo>
                <a:lnTo>
                  <a:pt x="4421602" y="15226"/>
                </a:lnTo>
                <a:lnTo>
                  <a:pt x="4456029" y="33606"/>
                </a:lnTo>
                <a:lnTo>
                  <a:pt x="4486494" y="58585"/>
                </a:lnTo>
                <a:lnTo>
                  <a:pt x="4511474" y="89051"/>
                </a:lnTo>
                <a:lnTo>
                  <a:pt x="4529855" y="123478"/>
                </a:lnTo>
                <a:lnTo>
                  <a:pt x="4541325" y="160819"/>
                </a:lnTo>
                <a:lnTo>
                  <a:pt x="4541325" y="2024480"/>
                </a:lnTo>
                <a:lnTo>
                  <a:pt x="4529855" y="2061821"/>
                </a:lnTo>
                <a:lnTo>
                  <a:pt x="4511474" y="2096248"/>
                </a:lnTo>
                <a:lnTo>
                  <a:pt x="4486494" y="2126713"/>
                </a:lnTo>
                <a:lnTo>
                  <a:pt x="4456029" y="2151693"/>
                </a:lnTo>
                <a:lnTo>
                  <a:pt x="4421602" y="2170074"/>
                </a:lnTo>
                <a:lnTo>
                  <a:pt x="4384261" y="2181421"/>
                </a:lnTo>
                <a:lnTo>
                  <a:pt x="4345056" y="2185299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74586" y="7868356"/>
            <a:ext cx="4545330" cy="881380"/>
          </a:xfrm>
          <a:custGeom>
            <a:avLst/>
            <a:gdLst/>
            <a:ahLst/>
            <a:cxnLst/>
            <a:rect l="l" t="t" r="r" b="b"/>
            <a:pathLst>
              <a:path w="4545330" h="881379">
                <a:moveTo>
                  <a:pt x="4345055" y="881136"/>
                </a:moveTo>
                <a:lnTo>
                  <a:pt x="200025" y="881136"/>
                </a:lnTo>
                <a:lnTo>
                  <a:pt x="160819" y="877257"/>
                </a:lnTo>
                <a:lnTo>
                  <a:pt x="123478" y="865910"/>
                </a:lnTo>
                <a:lnTo>
                  <a:pt x="89051" y="847529"/>
                </a:lnTo>
                <a:lnTo>
                  <a:pt x="58586" y="822550"/>
                </a:lnTo>
                <a:lnTo>
                  <a:pt x="33606" y="792084"/>
                </a:lnTo>
                <a:lnTo>
                  <a:pt x="15225" y="757657"/>
                </a:lnTo>
                <a:lnTo>
                  <a:pt x="3878" y="720316"/>
                </a:lnTo>
                <a:lnTo>
                  <a:pt x="0" y="681111"/>
                </a:lnTo>
                <a:lnTo>
                  <a:pt x="0" y="200025"/>
                </a:lnTo>
                <a:lnTo>
                  <a:pt x="3878" y="160819"/>
                </a:lnTo>
                <a:lnTo>
                  <a:pt x="15225" y="123478"/>
                </a:lnTo>
                <a:lnTo>
                  <a:pt x="33606" y="89051"/>
                </a:lnTo>
                <a:lnTo>
                  <a:pt x="58586" y="58586"/>
                </a:lnTo>
                <a:lnTo>
                  <a:pt x="89051" y="33606"/>
                </a:lnTo>
                <a:lnTo>
                  <a:pt x="123478" y="15226"/>
                </a:lnTo>
                <a:lnTo>
                  <a:pt x="160819" y="3878"/>
                </a:lnTo>
                <a:lnTo>
                  <a:pt x="200025" y="0"/>
                </a:lnTo>
                <a:lnTo>
                  <a:pt x="4345055" y="0"/>
                </a:lnTo>
                <a:lnTo>
                  <a:pt x="4384260" y="3878"/>
                </a:lnTo>
                <a:lnTo>
                  <a:pt x="4421601" y="15226"/>
                </a:lnTo>
                <a:lnTo>
                  <a:pt x="4456029" y="33606"/>
                </a:lnTo>
                <a:lnTo>
                  <a:pt x="4486494" y="58586"/>
                </a:lnTo>
                <a:lnTo>
                  <a:pt x="4511473" y="89051"/>
                </a:lnTo>
                <a:lnTo>
                  <a:pt x="4529854" y="123478"/>
                </a:lnTo>
                <a:lnTo>
                  <a:pt x="4541201" y="160819"/>
                </a:lnTo>
                <a:lnTo>
                  <a:pt x="4545080" y="200025"/>
                </a:lnTo>
                <a:lnTo>
                  <a:pt x="4545080" y="681111"/>
                </a:lnTo>
                <a:lnTo>
                  <a:pt x="4541201" y="720316"/>
                </a:lnTo>
                <a:lnTo>
                  <a:pt x="4529854" y="757657"/>
                </a:lnTo>
                <a:lnTo>
                  <a:pt x="4511473" y="792084"/>
                </a:lnTo>
                <a:lnTo>
                  <a:pt x="4486494" y="822550"/>
                </a:lnTo>
                <a:lnTo>
                  <a:pt x="4456029" y="847529"/>
                </a:lnTo>
                <a:lnTo>
                  <a:pt x="4421601" y="865910"/>
                </a:lnTo>
                <a:lnTo>
                  <a:pt x="4384260" y="877257"/>
                </a:lnTo>
                <a:lnTo>
                  <a:pt x="4345055" y="881136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982926" y="2279232"/>
            <a:ext cx="3604260" cy="6282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4480" marR="74930" indent="-233679">
              <a:lnSpc>
                <a:spcPct val="131400"/>
              </a:lnSpc>
              <a:spcBef>
                <a:spcPts val="95"/>
              </a:spcBef>
              <a:buAutoNum type="arabicPeriod"/>
              <a:tabLst>
                <a:tab pos="285750" algn="l"/>
              </a:tabLst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User/device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verifies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identity 	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9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9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SDP</a:t>
            </a:r>
            <a:r>
              <a:rPr sz="19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controller</a:t>
            </a:r>
            <a:r>
              <a:rPr sz="19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(using 	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MFA,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certificates,</a:t>
            </a:r>
            <a:r>
              <a:rPr sz="19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Arial MT"/>
                <a:cs typeface="Arial MT"/>
              </a:rPr>
              <a:t>etc.)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35"/>
              </a:spcBef>
              <a:buAutoNum type="arabicPeriod"/>
            </a:pPr>
            <a:endParaRPr sz="1950">
              <a:latin typeface="Arial MT"/>
              <a:cs typeface="Arial MT"/>
            </a:endParaRPr>
          </a:p>
          <a:p>
            <a:pPr marL="284480" marR="19050" indent="-233679">
              <a:lnSpc>
                <a:spcPct val="131400"/>
              </a:lnSpc>
              <a:buAutoNum type="arabicPeriod"/>
              <a:tabLst>
                <a:tab pos="285750" algn="l"/>
              </a:tabLst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9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controller</a:t>
            </a:r>
            <a:r>
              <a:rPr sz="19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checks</a:t>
            </a:r>
            <a:r>
              <a:rPr sz="19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policies 	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(user</a:t>
            </a:r>
            <a:r>
              <a:rPr sz="19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role,</a:t>
            </a:r>
            <a:r>
              <a:rPr sz="19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device</a:t>
            </a:r>
            <a:r>
              <a:rPr sz="19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posture, 	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location,</a:t>
            </a:r>
            <a:r>
              <a:rPr sz="19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time,</a:t>
            </a:r>
            <a:r>
              <a:rPr sz="19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Arial MT"/>
                <a:cs typeface="Arial MT"/>
              </a:rPr>
              <a:t>etc.)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65"/>
              </a:spcBef>
              <a:buAutoNum type="arabicPeriod"/>
            </a:pPr>
            <a:endParaRPr sz="1950">
              <a:latin typeface="Arial MT"/>
              <a:cs typeface="Arial MT"/>
            </a:endParaRPr>
          </a:p>
          <a:p>
            <a:pPr marL="284480" marR="5080" indent="-233679">
              <a:lnSpc>
                <a:spcPct val="131400"/>
              </a:lnSpc>
              <a:buAutoNum type="arabicPeriod"/>
              <a:tabLst>
                <a:tab pos="285750" algn="l"/>
              </a:tabLst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sz="19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approved,</a:t>
            </a:r>
            <a:r>
              <a:rPr sz="19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9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instructs</a:t>
            </a:r>
            <a:r>
              <a:rPr sz="19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Arial MT"/>
                <a:cs typeface="Arial MT"/>
              </a:rPr>
              <a:t>an 	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SDP</a:t>
            </a:r>
            <a:r>
              <a:rPr sz="19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gateway</a:t>
            </a:r>
            <a:r>
              <a:rPr sz="19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create</a:t>
            </a:r>
            <a:r>
              <a:rPr sz="19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50" dirty="0">
                <a:solidFill>
                  <a:srgbClr val="FFFFFF"/>
                </a:solidFill>
                <a:latin typeface="Arial MT"/>
                <a:cs typeface="Arial MT"/>
              </a:rPr>
              <a:t>a 	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temporary,</a:t>
            </a:r>
            <a:r>
              <a:rPr sz="195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encrypted,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one-</a:t>
            </a:r>
            <a:r>
              <a:rPr sz="1950" spc="-25" dirty="0">
                <a:solidFill>
                  <a:srgbClr val="FFFFFF"/>
                </a:solidFill>
                <a:latin typeface="Arial MT"/>
                <a:cs typeface="Arial MT"/>
              </a:rPr>
              <a:t>to- 	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sz="19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connection</a:t>
            </a:r>
            <a:r>
              <a:rPr sz="19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9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9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Arial MT"/>
                <a:cs typeface="Arial MT"/>
              </a:rPr>
              <a:t>user 	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9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specific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resource.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65"/>
              </a:spcBef>
              <a:buAutoNum type="arabicPeriod"/>
            </a:pPr>
            <a:endParaRPr sz="1950">
              <a:latin typeface="Arial MT"/>
              <a:cs typeface="Arial MT"/>
            </a:endParaRPr>
          </a:p>
          <a:p>
            <a:pPr marL="197485" marR="260985" indent="-185420">
              <a:lnSpc>
                <a:spcPct val="133100"/>
              </a:lnSpc>
              <a:buAutoNum type="arabicPeriod"/>
              <a:tabLst>
                <a:tab pos="199390" algn="l"/>
              </a:tabLst>
            </a:pP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other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resources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stay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hidden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FFFFFF"/>
                </a:solidFill>
                <a:latin typeface="Arial MT"/>
                <a:cs typeface="Arial MT"/>
              </a:rPr>
              <a:t>and 	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inaccessible.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85254" y="452271"/>
            <a:ext cx="6115685" cy="8928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650" spc="-160" dirty="0"/>
              <a:t>How</a:t>
            </a:r>
            <a:r>
              <a:rPr sz="5650" spc="-470" dirty="0"/>
              <a:t> </a:t>
            </a:r>
            <a:r>
              <a:rPr sz="5650" spc="-120" dirty="0"/>
              <a:t>an</a:t>
            </a:r>
            <a:r>
              <a:rPr sz="5650" spc="-470" dirty="0"/>
              <a:t> </a:t>
            </a:r>
            <a:r>
              <a:rPr sz="5650" spc="-160" dirty="0"/>
              <a:t>SDP</a:t>
            </a:r>
            <a:r>
              <a:rPr sz="5650" spc="-470" dirty="0"/>
              <a:t> </a:t>
            </a:r>
            <a:r>
              <a:rPr sz="5650" spc="-114" dirty="0"/>
              <a:t>works</a:t>
            </a:r>
            <a:endParaRPr sz="56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"/>
            <a:ext cx="6191250" cy="4254500"/>
          </a:xfrm>
          <a:custGeom>
            <a:avLst/>
            <a:gdLst/>
            <a:ahLst/>
            <a:cxnLst/>
            <a:rect l="l" t="t" r="r" b="b"/>
            <a:pathLst>
              <a:path w="6191250" h="4254500">
                <a:moveTo>
                  <a:pt x="3556050" y="0"/>
                </a:moveTo>
                <a:lnTo>
                  <a:pt x="0" y="0"/>
                </a:lnTo>
                <a:lnTo>
                  <a:pt x="0" y="1729917"/>
                </a:lnTo>
                <a:lnTo>
                  <a:pt x="50723" y="1739404"/>
                </a:lnTo>
                <a:lnTo>
                  <a:pt x="98005" y="1747481"/>
                </a:lnTo>
                <a:lnTo>
                  <a:pt x="145529" y="1754873"/>
                </a:lnTo>
                <a:lnTo>
                  <a:pt x="193255" y="1761604"/>
                </a:lnTo>
                <a:lnTo>
                  <a:pt x="241223" y="1767636"/>
                </a:lnTo>
                <a:lnTo>
                  <a:pt x="289382" y="1772983"/>
                </a:lnTo>
                <a:lnTo>
                  <a:pt x="337756" y="1777631"/>
                </a:lnTo>
                <a:lnTo>
                  <a:pt x="386334" y="1781581"/>
                </a:lnTo>
                <a:lnTo>
                  <a:pt x="435114" y="1784819"/>
                </a:lnTo>
                <a:lnTo>
                  <a:pt x="481647" y="1787220"/>
                </a:lnTo>
                <a:lnTo>
                  <a:pt x="480669" y="1787220"/>
                </a:lnTo>
                <a:lnTo>
                  <a:pt x="531710" y="1789099"/>
                </a:lnTo>
                <a:lnTo>
                  <a:pt x="530694" y="1789099"/>
                </a:lnTo>
                <a:lnTo>
                  <a:pt x="581926" y="1790242"/>
                </a:lnTo>
                <a:lnTo>
                  <a:pt x="580656" y="1790242"/>
                </a:lnTo>
                <a:lnTo>
                  <a:pt x="632066" y="1790611"/>
                </a:lnTo>
                <a:lnTo>
                  <a:pt x="706755" y="1790242"/>
                </a:lnTo>
                <a:lnTo>
                  <a:pt x="779716" y="1789099"/>
                </a:lnTo>
                <a:lnTo>
                  <a:pt x="850976" y="1787220"/>
                </a:lnTo>
                <a:lnTo>
                  <a:pt x="920559" y="1784591"/>
                </a:lnTo>
                <a:lnTo>
                  <a:pt x="988517" y="1781225"/>
                </a:lnTo>
                <a:lnTo>
                  <a:pt x="1054862" y="1777136"/>
                </a:lnTo>
                <a:lnTo>
                  <a:pt x="1119632" y="1772310"/>
                </a:lnTo>
                <a:lnTo>
                  <a:pt x="1182852" y="1766760"/>
                </a:lnTo>
                <a:lnTo>
                  <a:pt x="1244574" y="1760486"/>
                </a:lnTo>
                <a:lnTo>
                  <a:pt x="1304823" y="1753514"/>
                </a:lnTo>
                <a:lnTo>
                  <a:pt x="1363624" y="1745830"/>
                </a:lnTo>
                <a:lnTo>
                  <a:pt x="1421015" y="1737448"/>
                </a:lnTo>
                <a:lnTo>
                  <a:pt x="1477035" y="1728368"/>
                </a:lnTo>
                <a:lnTo>
                  <a:pt x="1531696" y="1718602"/>
                </a:lnTo>
                <a:lnTo>
                  <a:pt x="1585048" y="1708137"/>
                </a:lnTo>
                <a:lnTo>
                  <a:pt x="1637118" y="1697012"/>
                </a:lnTo>
                <a:lnTo>
                  <a:pt x="1687944" y="1685201"/>
                </a:lnTo>
                <a:lnTo>
                  <a:pt x="1737550" y="1672717"/>
                </a:lnTo>
                <a:lnTo>
                  <a:pt x="1785975" y="1659585"/>
                </a:lnTo>
                <a:lnTo>
                  <a:pt x="1833245" y="1645780"/>
                </a:lnTo>
                <a:lnTo>
                  <a:pt x="1879384" y="1631327"/>
                </a:lnTo>
                <a:lnTo>
                  <a:pt x="1924456" y="1616227"/>
                </a:lnTo>
                <a:lnTo>
                  <a:pt x="1968461" y="1600492"/>
                </a:lnTo>
                <a:lnTo>
                  <a:pt x="2011451" y="1584109"/>
                </a:lnTo>
                <a:lnTo>
                  <a:pt x="2053437" y="1567103"/>
                </a:lnTo>
                <a:lnTo>
                  <a:pt x="2094484" y="1549463"/>
                </a:lnTo>
                <a:lnTo>
                  <a:pt x="2134590" y="1531200"/>
                </a:lnTo>
                <a:lnTo>
                  <a:pt x="2173808" y="1512328"/>
                </a:lnTo>
                <a:lnTo>
                  <a:pt x="2212175" y="1492846"/>
                </a:lnTo>
                <a:lnTo>
                  <a:pt x="2249703" y="1472768"/>
                </a:lnTo>
                <a:lnTo>
                  <a:pt x="2286431" y="1452079"/>
                </a:lnTo>
                <a:lnTo>
                  <a:pt x="2322411" y="1430794"/>
                </a:lnTo>
                <a:lnTo>
                  <a:pt x="2357653" y="1408925"/>
                </a:lnTo>
                <a:lnTo>
                  <a:pt x="2392197" y="1386484"/>
                </a:lnTo>
                <a:lnTo>
                  <a:pt x="2426068" y="1363446"/>
                </a:lnTo>
                <a:lnTo>
                  <a:pt x="2459317" y="1339850"/>
                </a:lnTo>
                <a:lnTo>
                  <a:pt x="2491956" y="1315681"/>
                </a:lnTo>
                <a:lnTo>
                  <a:pt x="2524023" y="1290942"/>
                </a:lnTo>
                <a:lnTo>
                  <a:pt x="2555570" y="1265656"/>
                </a:lnTo>
                <a:lnTo>
                  <a:pt x="2586596" y="1239824"/>
                </a:lnTo>
                <a:lnTo>
                  <a:pt x="2617152" y="1213434"/>
                </a:lnTo>
                <a:lnTo>
                  <a:pt x="2647277" y="1186510"/>
                </a:lnTo>
                <a:lnTo>
                  <a:pt x="2676995" y="1159052"/>
                </a:lnTo>
                <a:lnTo>
                  <a:pt x="2706332" y="1131062"/>
                </a:lnTo>
                <a:lnTo>
                  <a:pt x="2735326" y="1102550"/>
                </a:lnTo>
                <a:lnTo>
                  <a:pt x="2764015" y="1073518"/>
                </a:lnTo>
                <a:lnTo>
                  <a:pt x="2792425" y="1043965"/>
                </a:lnTo>
                <a:lnTo>
                  <a:pt x="2820593" y="1013917"/>
                </a:lnTo>
                <a:lnTo>
                  <a:pt x="2848546" y="983361"/>
                </a:lnTo>
                <a:lnTo>
                  <a:pt x="2876321" y="952309"/>
                </a:lnTo>
                <a:lnTo>
                  <a:pt x="2903944" y="920750"/>
                </a:lnTo>
                <a:lnTo>
                  <a:pt x="2931452" y="888720"/>
                </a:lnTo>
                <a:lnTo>
                  <a:pt x="2958884" y="856208"/>
                </a:lnTo>
                <a:lnTo>
                  <a:pt x="2986252" y="823214"/>
                </a:lnTo>
                <a:lnTo>
                  <a:pt x="3013608" y="789749"/>
                </a:lnTo>
                <a:lnTo>
                  <a:pt x="3040977" y="755827"/>
                </a:lnTo>
                <a:lnTo>
                  <a:pt x="3068396" y="721436"/>
                </a:lnTo>
                <a:lnTo>
                  <a:pt x="3095891" y="686587"/>
                </a:lnTo>
                <a:lnTo>
                  <a:pt x="3151251" y="615569"/>
                </a:lnTo>
                <a:lnTo>
                  <a:pt x="3235693" y="505739"/>
                </a:lnTo>
                <a:lnTo>
                  <a:pt x="3265157" y="466902"/>
                </a:lnTo>
                <a:lnTo>
                  <a:pt x="3294049" y="427621"/>
                </a:lnTo>
                <a:lnTo>
                  <a:pt x="3322358" y="387908"/>
                </a:lnTo>
                <a:lnTo>
                  <a:pt x="3350082" y="347751"/>
                </a:lnTo>
                <a:lnTo>
                  <a:pt x="3377222" y="307174"/>
                </a:lnTo>
                <a:lnTo>
                  <a:pt x="3403752" y="266179"/>
                </a:lnTo>
                <a:lnTo>
                  <a:pt x="3429698" y="224764"/>
                </a:lnTo>
                <a:lnTo>
                  <a:pt x="3455022" y="182943"/>
                </a:lnTo>
                <a:lnTo>
                  <a:pt x="3479736" y="140728"/>
                </a:lnTo>
                <a:lnTo>
                  <a:pt x="3503828" y="98107"/>
                </a:lnTo>
                <a:lnTo>
                  <a:pt x="3527285" y="55092"/>
                </a:lnTo>
                <a:lnTo>
                  <a:pt x="3550120" y="11696"/>
                </a:lnTo>
                <a:lnTo>
                  <a:pt x="3556050" y="0"/>
                </a:lnTo>
                <a:close/>
              </a:path>
              <a:path w="6191250" h="4254500">
                <a:moveTo>
                  <a:pt x="6191097" y="0"/>
                </a:moveTo>
                <a:lnTo>
                  <a:pt x="4063555" y="0"/>
                </a:lnTo>
                <a:lnTo>
                  <a:pt x="4042714" y="38100"/>
                </a:lnTo>
                <a:lnTo>
                  <a:pt x="4020731" y="88900"/>
                </a:lnTo>
                <a:lnTo>
                  <a:pt x="4016502" y="101600"/>
                </a:lnTo>
                <a:lnTo>
                  <a:pt x="4008031" y="114300"/>
                </a:lnTo>
                <a:lnTo>
                  <a:pt x="4003789" y="127000"/>
                </a:lnTo>
                <a:lnTo>
                  <a:pt x="3981132" y="177800"/>
                </a:lnTo>
                <a:lnTo>
                  <a:pt x="3957396" y="228600"/>
                </a:lnTo>
                <a:lnTo>
                  <a:pt x="3932834" y="266700"/>
                </a:lnTo>
                <a:lnTo>
                  <a:pt x="3907739" y="317500"/>
                </a:lnTo>
                <a:lnTo>
                  <a:pt x="3882364" y="355600"/>
                </a:lnTo>
                <a:lnTo>
                  <a:pt x="3876459" y="368300"/>
                </a:lnTo>
                <a:lnTo>
                  <a:pt x="3865689" y="393700"/>
                </a:lnTo>
                <a:lnTo>
                  <a:pt x="3859771" y="393700"/>
                </a:lnTo>
                <a:lnTo>
                  <a:pt x="3832644" y="444500"/>
                </a:lnTo>
                <a:lnTo>
                  <a:pt x="3805377" y="482600"/>
                </a:lnTo>
                <a:lnTo>
                  <a:pt x="3777843" y="533400"/>
                </a:lnTo>
                <a:lnTo>
                  <a:pt x="3749891" y="571500"/>
                </a:lnTo>
                <a:lnTo>
                  <a:pt x="3721404" y="622300"/>
                </a:lnTo>
                <a:lnTo>
                  <a:pt x="3715486" y="622300"/>
                </a:lnTo>
                <a:lnTo>
                  <a:pt x="3704729" y="647700"/>
                </a:lnTo>
                <a:lnTo>
                  <a:pt x="3698811" y="647700"/>
                </a:lnTo>
                <a:lnTo>
                  <a:pt x="3667976" y="698500"/>
                </a:lnTo>
                <a:lnTo>
                  <a:pt x="3636467" y="736600"/>
                </a:lnTo>
                <a:lnTo>
                  <a:pt x="3604272" y="774700"/>
                </a:lnTo>
                <a:lnTo>
                  <a:pt x="3571405" y="825500"/>
                </a:lnTo>
                <a:lnTo>
                  <a:pt x="3537851" y="863600"/>
                </a:lnTo>
                <a:lnTo>
                  <a:pt x="3532200" y="863600"/>
                </a:lnTo>
                <a:lnTo>
                  <a:pt x="3529380" y="876300"/>
                </a:lnTo>
                <a:lnTo>
                  <a:pt x="3523729" y="876300"/>
                </a:lnTo>
                <a:lnTo>
                  <a:pt x="3489502" y="914400"/>
                </a:lnTo>
                <a:lnTo>
                  <a:pt x="3454603" y="965200"/>
                </a:lnTo>
                <a:lnTo>
                  <a:pt x="3419017" y="1003300"/>
                </a:lnTo>
                <a:lnTo>
                  <a:pt x="3382759" y="1041400"/>
                </a:lnTo>
                <a:lnTo>
                  <a:pt x="3345827" y="1079500"/>
                </a:lnTo>
                <a:lnTo>
                  <a:pt x="3340176" y="1092200"/>
                </a:lnTo>
                <a:lnTo>
                  <a:pt x="3337356" y="1092200"/>
                </a:lnTo>
                <a:lnTo>
                  <a:pt x="3299764" y="1130300"/>
                </a:lnTo>
                <a:lnTo>
                  <a:pt x="3261626" y="1168400"/>
                </a:lnTo>
                <a:lnTo>
                  <a:pt x="3145332" y="1282700"/>
                </a:lnTo>
                <a:lnTo>
                  <a:pt x="3119920" y="1308100"/>
                </a:lnTo>
                <a:lnTo>
                  <a:pt x="3080626" y="1333500"/>
                </a:lnTo>
                <a:lnTo>
                  <a:pt x="3000565" y="1409700"/>
                </a:lnTo>
                <a:lnTo>
                  <a:pt x="2960065" y="1435100"/>
                </a:lnTo>
                <a:lnTo>
                  <a:pt x="2919425" y="1473200"/>
                </a:lnTo>
                <a:lnTo>
                  <a:pt x="2910954" y="1473200"/>
                </a:lnTo>
                <a:lnTo>
                  <a:pt x="2902483" y="1485900"/>
                </a:lnTo>
                <a:lnTo>
                  <a:pt x="2893999" y="1485900"/>
                </a:lnTo>
                <a:lnTo>
                  <a:pt x="2885529" y="1498600"/>
                </a:lnTo>
                <a:lnTo>
                  <a:pt x="2844533" y="1524000"/>
                </a:lnTo>
                <a:lnTo>
                  <a:pt x="2802852" y="1562100"/>
                </a:lnTo>
                <a:lnTo>
                  <a:pt x="2717457" y="1612900"/>
                </a:lnTo>
                <a:lnTo>
                  <a:pt x="2673743" y="1651000"/>
                </a:lnTo>
                <a:lnTo>
                  <a:pt x="2664828" y="1651000"/>
                </a:lnTo>
                <a:lnTo>
                  <a:pt x="2655392" y="1663700"/>
                </a:lnTo>
                <a:lnTo>
                  <a:pt x="2637028" y="1663700"/>
                </a:lnTo>
                <a:lnTo>
                  <a:pt x="2592667" y="1701800"/>
                </a:lnTo>
                <a:lnTo>
                  <a:pt x="2411120" y="1803400"/>
                </a:lnTo>
                <a:lnTo>
                  <a:pt x="2403094" y="1803400"/>
                </a:lnTo>
                <a:lnTo>
                  <a:pt x="2388082" y="1816100"/>
                </a:lnTo>
                <a:lnTo>
                  <a:pt x="2380056" y="1816100"/>
                </a:lnTo>
                <a:lnTo>
                  <a:pt x="2283815" y="1866900"/>
                </a:lnTo>
                <a:lnTo>
                  <a:pt x="2184870" y="1917700"/>
                </a:lnTo>
                <a:lnTo>
                  <a:pt x="2134374" y="1943100"/>
                </a:lnTo>
                <a:lnTo>
                  <a:pt x="2123084" y="1943100"/>
                </a:lnTo>
                <a:lnTo>
                  <a:pt x="2072233" y="1968500"/>
                </a:lnTo>
                <a:lnTo>
                  <a:pt x="2021243" y="1981200"/>
                </a:lnTo>
                <a:lnTo>
                  <a:pt x="1969985" y="2006600"/>
                </a:lnTo>
                <a:lnTo>
                  <a:pt x="1918322" y="2019300"/>
                </a:lnTo>
                <a:lnTo>
                  <a:pt x="1866112" y="2044700"/>
                </a:lnTo>
                <a:lnTo>
                  <a:pt x="1843519" y="2044700"/>
                </a:lnTo>
                <a:lnTo>
                  <a:pt x="1792376" y="2070100"/>
                </a:lnTo>
                <a:lnTo>
                  <a:pt x="1636217" y="2108200"/>
                </a:lnTo>
                <a:lnTo>
                  <a:pt x="1583715" y="2133600"/>
                </a:lnTo>
                <a:lnTo>
                  <a:pt x="1554327" y="2133600"/>
                </a:lnTo>
                <a:lnTo>
                  <a:pt x="1493012" y="2159000"/>
                </a:lnTo>
                <a:lnTo>
                  <a:pt x="1441170" y="2159000"/>
                </a:lnTo>
                <a:lnTo>
                  <a:pt x="1281557" y="2197100"/>
                </a:lnTo>
                <a:lnTo>
                  <a:pt x="1247406" y="2197100"/>
                </a:lnTo>
                <a:lnTo>
                  <a:pt x="1236383" y="2209800"/>
                </a:lnTo>
                <a:lnTo>
                  <a:pt x="1183538" y="2209800"/>
                </a:lnTo>
                <a:lnTo>
                  <a:pt x="1130160" y="2222500"/>
                </a:lnTo>
                <a:lnTo>
                  <a:pt x="1076363" y="2222500"/>
                </a:lnTo>
                <a:lnTo>
                  <a:pt x="1022311" y="2235200"/>
                </a:lnTo>
                <a:lnTo>
                  <a:pt x="935151" y="2235200"/>
                </a:lnTo>
                <a:lnTo>
                  <a:pt x="922921" y="2247900"/>
                </a:lnTo>
                <a:lnTo>
                  <a:pt x="356743" y="2247900"/>
                </a:lnTo>
                <a:lnTo>
                  <a:pt x="327088" y="2235200"/>
                </a:lnTo>
                <a:lnTo>
                  <a:pt x="216954" y="2235200"/>
                </a:lnTo>
                <a:lnTo>
                  <a:pt x="89877" y="2209800"/>
                </a:lnTo>
                <a:lnTo>
                  <a:pt x="44157" y="2209800"/>
                </a:lnTo>
                <a:lnTo>
                  <a:pt x="0" y="2197100"/>
                </a:lnTo>
                <a:lnTo>
                  <a:pt x="0" y="4216400"/>
                </a:lnTo>
                <a:lnTo>
                  <a:pt x="17767" y="4216400"/>
                </a:lnTo>
                <a:lnTo>
                  <a:pt x="64820" y="4229100"/>
                </a:lnTo>
                <a:lnTo>
                  <a:pt x="159258" y="4229100"/>
                </a:lnTo>
                <a:lnTo>
                  <a:pt x="206641" y="4241800"/>
                </a:lnTo>
                <a:lnTo>
                  <a:pt x="397230" y="4241800"/>
                </a:lnTo>
                <a:lnTo>
                  <a:pt x="445135" y="4254500"/>
                </a:lnTo>
                <a:lnTo>
                  <a:pt x="857224" y="4254500"/>
                </a:lnTo>
                <a:lnTo>
                  <a:pt x="911504" y="4241800"/>
                </a:lnTo>
                <a:lnTo>
                  <a:pt x="1126159" y="4241800"/>
                </a:lnTo>
                <a:lnTo>
                  <a:pt x="1179207" y="4229100"/>
                </a:lnTo>
                <a:lnTo>
                  <a:pt x="1284592" y="4229100"/>
                </a:lnTo>
                <a:lnTo>
                  <a:pt x="1336903" y="4216400"/>
                </a:lnTo>
                <a:lnTo>
                  <a:pt x="1388986" y="4216400"/>
                </a:lnTo>
                <a:lnTo>
                  <a:pt x="1440802" y="4203700"/>
                </a:lnTo>
                <a:lnTo>
                  <a:pt x="1492389" y="4203700"/>
                </a:lnTo>
                <a:lnTo>
                  <a:pt x="1543723" y="4191000"/>
                </a:lnTo>
                <a:lnTo>
                  <a:pt x="1594815" y="4191000"/>
                </a:lnTo>
                <a:lnTo>
                  <a:pt x="1645653" y="4178300"/>
                </a:lnTo>
                <a:lnTo>
                  <a:pt x="1696237" y="4178300"/>
                </a:lnTo>
                <a:lnTo>
                  <a:pt x="1796681" y="4152900"/>
                </a:lnTo>
                <a:lnTo>
                  <a:pt x="1846516" y="4152900"/>
                </a:lnTo>
                <a:lnTo>
                  <a:pt x="2043404" y="4102100"/>
                </a:lnTo>
                <a:lnTo>
                  <a:pt x="2091994" y="4102100"/>
                </a:lnTo>
                <a:lnTo>
                  <a:pt x="2564079" y="3975100"/>
                </a:lnTo>
                <a:lnTo>
                  <a:pt x="2609888" y="3949700"/>
                </a:lnTo>
                <a:lnTo>
                  <a:pt x="2790583" y="3898900"/>
                </a:lnTo>
                <a:lnTo>
                  <a:pt x="2835110" y="3873500"/>
                </a:lnTo>
                <a:lnTo>
                  <a:pt x="2923400" y="3848100"/>
                </a:lnTo>
                <a:lnTo>
                  <a:pt x="2967164" y="3822700"/>
                </a:lnTo>
                <a:lnTo>
                  <a:pt x="3010674" y="3810000"/>
                </a:lnTo>
                <a:lnTo>
                  <a:pt x="3053918" y="3784600"/>
                </a:lnTo>
                <a:lnTo>
                  <a:pt x="3139630" y="3759200"/>
                </a:lnTo>
                <a:lnTo>
                  <a:pt x="3182099" y="3733800"/>
                </a:lnTo>
                <a:lnTo>
                  <a:pt x="3224301" y="3721100"/>
                </a:lnTo>
                <a:lnTo>
                  <a:pt x="3307931" y="3670300"/>
                </a:lnTo>
                <a:lnTo>
                  <a:pt x="3349358" y="3657600"/>
                </a:lnTo>
                <a:lnTo>
                  <a:pt x="3390519" y="3632200"/>
                </a:lnTo>
                <a:lnTo>
                  <a:pt x="3431425" y="3619500"/>
                </a:lnTo>
                <a:lnTo>
                  <a:pt x="3552558" y="3543300"/>
                </a:lnTo>
                <a:lnTo>
                  <a:pt x="3592411" y="3530600"/>
                </a:lnTo>
                <a:lnTo>
                  <a:pt x="3749192" y="3429000"/>
                </a:lnTo>
                <a:lnTo>
                  <a:pt x="3787724" y="3416300"/>
                </a:lnTo>
                <a:lnTo>
                  <a:pt x="3901719" y="3340100"/>
                </a:lnTo>
                <a:lnTo>
                  <a:pt x="4050004" y="3238500"/>
                </a:lnTo>
                <a:lnTo>
                  <a:pt x="4158399" y="3162300"/>
                </a:lnTo>
                <a:lnTo>
                  <a:pt x="4193984" y="3124200"/>
                </a:lnTo>
                <a:lnTo>
                  <a:pt x="4229316" y="3098800"/>
                </a:lnTo>
                <a:lnTo>
                  <a:pt x="4333672" y="3022600"/>
                </a:lnTo>
                <a:lnTo>
                  <a:pt x="4367923" y="2984500"/>
                </a:lnTo>
                <a:lnTo>
                  <a:pt x="4469028" y="2908300"/>
                </a:lnTo>
                <a:lnTo>
                  <a:pt x="4502188" y="2870200"/>
                </a:lnTo>
                <a:lnTo>
                  <a:pt x="4567694" y="2819400"/>
                </a:lnTo>
                <a:lnTo>
                  <a:pt x="4600029" y="2781300"/>
                </a:lnTo>
                <a:lnTo>
                  <a:pt x="4632096" y="2755900"/>
                </a:lnTo>
                <a:lnTo>
                  <a:pt x="4663897" y="2717800"/>
                </a:lnTo>
                <a:lnTo>
                  <a:pt x="4695418" y="2692400"/>
                </a:lnTo>
                <a:lnTo>
                  <a:pt x="4726660" y="2654300"/>
                </a:lnTo>
                <a:lnTo>
                  <a:pt x="4757636" y="2628900"/>
                </a:lnTo>
                <a:lnTo>
                  <a:pt x="4788319" y="2590800"/>
                </a:lnTo>
                <a:lnTo>
                  <a:pt x="4818748" y="2565400"/>
                </a:lnTo>
                <a:lnTo>
                  <a:pt x="4848885" y="2527300"/>
                </a:lnTo>
                <a:lnTo>
                  <a:pt x="4878756" y="2501900"/>
                </a:lnTo>
                <a:lnTo>
                  <a:pt x="4908347" y="2463800"/>
                </a:lnTo>
                <a:lnTo>
                  <a:pt x="4937658" y="2438400"/>
                </a:lnTo>
                <a:lnTo>
                  <a:pt x="4966690" y="2400300"/>
                </a:lnTo>
                <a:lnTo>
                  <a:pt x="4995456" y="2362200"/>
                </a:lnTo>
                <a:lnTo>
                  <a:pt x="5023929" y="2336800"/>
                </a:lnTo>
                <a:lnTo>
                  <a:pt x="5052136" y="2298700"/>
                </a:lnTo>
                <a:lnTo>
                  <a:pt x="5080051" y="2260600"/>
                </a:lnTo>
                <a:lnTo>
                  <a:pt x="5093881" y="2247900"/>
                </a:lnTo>
                <a:lnTo>
                  <a:pt x="5107698" y="2235200"/>
                </a:lnTo>
                <a:lnTo>
                  <a:pt x="5135067" y="2197100"/>
                </a:lnTo>
                <a:lnTo>
                  <a:pt x="5162143" y="2159000"/>
                </a:lnTo>
                <a:lnTo>
                  <a:pt x="5188953" y="2120900"/>
                </a:lnTo>
                <a:lnTo>
                  <a:pt x="5215471" y="2095500"/>
                </a:lnTo>
                <a:lnTo>
                  <a:pt x="5241709" y="2057400"/>
                </a:lnTo>
                <a:lnTo>
                  <a:pt x="5267680" y="2019300"/>
                </a:lnTo>
                <a:lnTo>
                  <a:pt x="5293347" y="1981200"/>
                </a:lnTo>
                <a:lnTo>
                  <a:pt x="5318747" y="1943100"/>
                </a:lnTo>
                <a:lnTo>
                  <a:pt x="5343868" y="1905000"/>
                </a:lnTo>
                <a:lnTo>
                  <a:pt x="5368696" y="1866900"/>
                </a:lnTo>
                <a:lnTo>
                  <a:pt x="5393245" y="1828800"/>
                </a:lnTo>
                <a:lnTo>
                  <a:pt x="5417502" y="1803400"/>
                </a:lnTo>
                <a:lnTo>
                  <a:pt x="5441493" y="1765300"/>
                </a:lnTo>
                <a:lnTo>
                  <a:pt x="5465178" y="1727200"/>
                </a:lnTo>
                <a:lnTo>
                  <a:pt x="5488597" y="1689100"/>
                </a:lnTo>
                <a:lnTo>
                  <a:pt x="5511724" y="1651000"/>
                </a:lnTo>
                <a:lnTo>
                  <a:pt x="5534558" y="1612900"/>
                </a:lnTo>
                <a:lnTo>
                  <a:pt x="5557113" y="1574800"/>
                </a:lnTo>
                <a:lnTo>
                  <a:pt x="5579389" y="1524000"/>
                </a:lnTo>
                <a:lnTo>
                  <a:pt x="5601373" y="1485900"/>
                </a:lnTo>
                <a:lnTo>
                  <a:pt x="5623064" y="1447800"/>
                </a:lnTo>
                <a:lnTo>
                  <a:pt x="5644477" y="1409700"/>
                </a:lnTo>
                <a:lnTo>
                  <a:pt x="5665597" y="1371600"/>
                </a:lnTo>
                <a:lnTo>
                  <a:pt x="5686425" y="1333500"/>
                </a:lnTo>
                <a:lnTo>
                  <a:pt x="5706973" y="1295400"/>
                </a:lnTo>
                <a:lnTo>
                  <a:pt x="5727230" y="1257300"/>
                </a:lnTo>
                <a:lnTo>
                  <a:pt x="5747207" y="1206500"/>
                </a:lnTo>
                <a:lnTo>
                  <a:pt x="5766879" y="1168400"/>
                </a:lnTo>
                <a:lnTo>
                  <a:pt x="5786272" y="1130300"/>
                </a:lnTo>
                <a:lnTo>
                  <a:pt x="5805373" y="1092200"/>
                </a:lnTo>
                <a:lnTo>
                  <a:pt x="5824182" y="1054100"/>
                </a:lnTo>
                <a:lnTo>
                  <a:pt x="5842698" y="1003300"/>
                </a:lnTo>
                <a:lnTo>
                  <a:pt x="5860923" y="965200"/>
                </a:lnTo>
                <a:lnTo>
                  <a:pt x="5878855" y="927100"/>
                </a:lnTo>
                <a:lnTo>
                  <a:pt x="5896495" y="876300"/>
                </a:lnTo>
                <a:lnTo>
                  <a:pt x="5913856" y="838200"/>
                </a:lnTo>
                <a:lnTo>
                  <a:pt x="5930912" y="800100"/>
                </a:lnTo>
                <a:lnTo>
                  <a:pt x="5947676" y="749300"/>
                </a:lnTo>
                <a:lnTo>
                  <a:pt x="5964148" y="711200"/>
                </a:lnTo>
                <a:lnTo>
                  <a:pt x="5980328" y="673100"/>
                </a:lnTo>
                <a:lnTo>
                  <a:pt x="5996216" y="622300"/>
                </a:lnTo>
                <a:lnTo>
                  <a:pt x="6011799" y="584200"/>
                </a:lnTo>
                <a:lnTo>
                  <a:pt x="6027102" y="546100"/>
                </a:lnTo>
                <a:lnTo>
                  <a:pt x="6042101" y="495300"/>
                </a:lnTo>
                <a:lnTo>
                  <a:pt x="6056808" y="457200"/>
                </a:lnTo>
                <a:lnTo>
                  <a:pt x="6071209" y="406400"/>
                </a:lnTo>
                <a:lnTo>
                  <a:pt x="6085332" y="368300"/>
                </a:lnTo>
                <a:lnTo>
                  <a:pt x="6099149" y="317500"/>
                </a:lnTo>
                <a:lnTo>
                  <a:pt x="6112662" y="279400"/>
                </a:lnTo>
                <a:lnTo>
                  <a:pt x="6125883" y="228600"/>
                </a:lnTo>
                <a:lnTo>
                  <a:pt x="6138811" y="190500"/>
                </a:lnTo>
                <a:lnTo>
                  <a:pt x="6151448" y="139700"/>
                </a:lnTo>
                <a:lnTo>
                  <a:pt x="6163767" y="101600"/>
                </a:lnTo>
                <a:lnTo>
                  <a:pt x="6175807" y="50800"/>
                </a:lnTo>
                <a:lnTo>
                  <a:pt x="6187529" y="12700"/>
                </a:lnTo>
                <a:lnTo>
                  <a:pt x="6191097" y="0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1602" y="901064"/>
            <a:ext cx="6767830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spc="-170" dirty="0"/>
              <a:t>How</a:t>
            </a:r>
            <a:r>
              <a:rPr sz="4900" spc="-390" dirty="0"/>
              <a:t> </a:t>
            </a:r>
            <a:r>
              <a:rPr sz="4900" spc="-125" dirty="0"/>
              <a:t>an</a:t>
            </a:r>
            <a:r>
              <a:rPr sz="4900" spc="-390" dirty="0"/>
              <a:t> </a:t>
            </a:r>
            <a:r>
              <a:rPr sz="4900" spc="-160" dirty="0"/>
              <a:t>SDP</a:t>
            </a:r>
            <a:r>
              <a:rPr sz="4900" spc="-390" dirty="0"/>
              <a:t> </a:t>
            </a:r>
            <a:r>
              <a:rPr sz="4900" spc="-200" dirty="0"/>
              <a:t>works</a:t>
            </a:r>
            <a:r>
              <a:rPr sz="4900" spc="-390" dirty="0"/>
              <a:t> </a:t>
            </a:r>
            <a:r>
              <a:rPr sz="4900" spc="-105" dirty="0"/>
              <a:t>cont.</a:t>
            </a:r>
            <a:endParaRPr sz="49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5470" y="0"/>
            <a:ext cx="5932528" cy="10286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7962" y="3872173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44700" y="4334136"/>
            <a:ext cx="95250" cy="9524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520962" y="5272348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44700" y="5734311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44700" y="6667761"/>
            <a:ext cx="95250" cy="9524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dirty="0"/>
              <a:t>Instead</a:t>
            </a:r>
            <a:r>
              <a:rPr spc="-5" dirty="0"/>
              <a:t> </a:t>
            </a:r>
            <a:r>
              <a:rPr dirty="0"/>
              <a:t>of</a:t>
            </a:r>
            <a:r>
              <a:rPr spc="254" dirty="0"/>
              <a:t> </a:t>
            </a:r>
            <a:r>
              <a:rPr dirty="0"/>
              <a:t>letting a</a:t>
            </a:r>
            <a:r>
              <a:rPr spc="-5" dirty="0"/>
              <a:t> </a:t>
            </a:r>
            <a:r>
              <a:rPr dirty="0"/>
              <a:t>connection into</a:t>
            </a:r>
            <a:r>
              <a:rPr spc="-5" dirty="0"/>
              <a:t> </a:t>
            </a:r>
            <a:r>
              <a:rPr dirty="0"/>
              <a:t>the network and</a:t>
            </a:r>
            <a:r>
              <a:rPr spc="-5" dirty="0"/>
              <a:t> </a:t>
            </a:r>
            <a:r>
              <a:rPr dirty="0"/>
              <a:t>then authenticating,</a:t>
            </a:r>
            <a:r>
              <a:rPr spc="-5" dirty="0"/>
              <a:t> </a:t>
            </a:r>
            <a:r>
              <a:rPr dirty="0"/>
              <a:t>the SDP </a:t>
            </a:r>
            <a:r>
              <a:rPr spc="-10" dirty="0"/>
              <a:t>authenticates </a:t>
            </a:r>
            <a:r>
              <a:rPr dirty="0"/>
              <a:t>before</a:t>
            </a:r>
            <a:r>
              <a:rPr spc="-114" dirty="0"/>
              <a:t> </a:t>
            </a:r>
            <a:r>
              <a:rPr dirty="0"/>
              <a:t>allowing</a:t>
            </a:r>
            <a:r>
              <a:rPr spc="-114" dirty="0"/>
              <a:t> </a:t>
            </a:r>
            <a:r>
              <a:rPr dirty="0"/>
              <a:t>any</a:t>
            </a:r>
            <a:r>
              <a:rPr spc="-110" dirty="0"/>
              <a:t> </a:t>
            </a:r>
            <a:r>
              <a:rPr spc="-10" dirty="0"/>
              <a:t>access.</a:t>
            </a: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pc="-10" dirty="0"/>
          </a:p>
          <a:p>
            <a:pPr marL="956944">
              <a:lnSpc>
                <a:spcPct val="100000"/>
              </a:lnSpc>
            </a:pPr>
            <a:r>
              <a:rPr dirty="0"/>
              <a:t>What</a:t>
            </a:r>
            <a:r>
              <a:rPr spc="-60" dirty="0"/>
              <a:t> </a:t>
            </a:r>
            <a:r>
              <a:rPr dirty="0"/>
              <a:t>happens</a:t>
            </a:r>
            <a:r>
              <a:rPr spc="-6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this</a:t>
            </a:r>
            <a:r>
              <a:rPr spc="-60" dirty="0"/>
              <a:t> </a:t>
            </a:r>
            <a:r>
              <a:rPr spc="-10" dirty="0"/>
              <a:t>step:</a:t>
            </a:r>
          </a:p>
          <a:p>
            <a:pPr marL="1154430" marR="1313815">
              <a:lnSpc>
                <a:spcPts val="3679"/>
              </a:lnSpc>
              <a:spcBef>
                <a:spcPts val="200"/>
              </a:spcBef>
            </a:pPr>
            <a:r>
              <a:rPr dirty="0"/>
              <a:t>User</a:t>
            </a:r>
            <a:r>
              <a:rPr spc="-80" dirty="0"/>
              <a:t> </a:t>
            </a:r>
            <a:r>
              <a:rPr spc="-10" dirty="0"/>
              <a:t>authentication:</a:t>
            </a:r>
            <a:r>
              <a:rPr spc="-75" dirty="0"/>
              <a:t> </a:t>
            </a:r>
            <a:r>
              <a:rPr dirty="0"/>
              <a:t>Often</a:t>
            </a:r>
            <a:r>
              <a:rPr spc="-75" dirty="0"/>
              <a:t> </a:t>
            </a:r>
            <a:r>
              <a:rPr dirty="0"/>
              <a:t>uses</a:t>
            </a:r>
            <a:r>
              <a:rPr spc="-75" dirty="0"/>
              <a:t> </a:t>
            </a:r>
            <a:r>
              <a:rPr spc="-25" dirty="0"/>
              <a:t>multi-</a:t>
            </a:r>
            <a:r>
              <a:rPr dirty="0"/>
              <a:t>factor</a:t>
            </a:r>
            <a:r>
              <a:rPr spc="-75" dirty="0"/>
              <a:t> </a:t>
            </a:r>
            <a:r>
              <a:rPr spc="-10" dirty="0"/>
              <a:t>authentication</a:t>
            </a:r>
            <a:r>
              <a:rPr spc="-80" dirty="0"/>
              <a:t> </a:t>
            </a:r>
            <a:r>
              <a:rPr spc="-20" dirty="0"/>
              <a:t>(password</a:t>
            </a:r>
            <a:r>
              <a:rPr spc="-75" dirty="0"/>
              <a:t> </a:t>
            </a:r>
            <a:r>
              <a:rPr dirty="0"/>
              <a:t>+</a:t>
            </a:r>
            <a:r>
              <a:rPr spc="-75" dirty="0"/>
              <a:t> </a:t>
            </a:r>
            <a:r>
              <a:rPr dirty="0"/>
              <a:t>token</a:t>
            </a:r>
            <a:r>
              <a:rPr spc="-75" dirty="0"/>
              <a:t> </a:t>
            </a:r>
            <a:r>
              <a:rPr spc="-50" dirty="0"/>
              <a:t>+ </a:t>
            </a:r>
            <a:r>
              <a:rPr spc="-10" dirty="0"/>
              <a:t>biometrics).</a:t>
            </a:r>
          </a:p>
          <a:p>
            <a:pPr marL="1819275">
              <a:lnSpc>
                <a:spcPct val="100000"/>
              </a:lnSpc>
              <a:spcBef>
                <a:spcPts val="285"/>
              </a:spcBef>
            </a:pPr>
            <a:r>
              <a:rPr dirty="0"/>
              <a:t>ex:</a:t>
            </a:r>
            <a:r>
              <a:rPr spc="-130" dirty="0"/>
              <a:t> </a:t>
            </a:r>
            <a:r>
              <a:rPr spc="-20" dirty="0"/>
              <a:t>SAML/SSO,</a:t>
            </a:r>
            <a:r>
              <a:rPr spc="-130" dirty="0"/>
              <a:t> </a:t>
            </a:r>
            <a:r>
              <a:rPr spc="-10" dirty="0"/>
              <a:t>OAuth,</a:t>
            </a:r>
            <a:r>
              <a:rPr spc="-125" dirty="0"/>
              <a:t> </a:t>
            </a:r>
            <a:r>
              <a:rPr dirty="0"/>
              <a:t>FIDO2,</a:t>
            </a:r>
            <a:r>
              <a:rPr spc="-130" dirty="0"/>
              <a:t> </a:t>
            </a:r>
            <a:r>
              <a:rPr spc="-55" dirty="0"/>
              <a:t>TOTP</a:t>
            </a:r>
            <a:r>
              <a:rPr spc="-125" dirty="0"/>
              <a:t> </a:t>
            </a:r>
            <a:r>
              <a:rPr dirty="0"/>
              <a:t>codes,</a:t>
            </a:r>
            <a:r>
              <a:rPr spc="-130" dirty="0"/>
              <a:t> </a:t>
            </a:r>
            <a:r>
              <a:rPr spc="-20" dirty="0"/>
              <a:t>etc.</a:t>
            </a:r>
          </a:p>
          <a:p>
            <a:pPr marL="1154430" marR="156845">
              <a:lnSpc>
                <a:spcPts val="3679"/>
              </a:lnSpc>
              <a:spcBef>
                <a:spcPts val="200"/>
              </a:spcBef>
            </a:pPr>
            <a:r>
              <a:rPr dirty="0"/>
              <a:t>Device</a:t>
            </a:r>
            <a:r>
              <a:rPr spc="-105" dirty="0"/>
              <a:t> </a:t>
            </a:r>
            <a:r>
              <a:rPr spc="-10" dirty="0"/>
              <a:t>authentication</a:t>
            </a:r>
            <a:r>
              <a:rPr spc="-100" dirty="0"/>
              <a:t> </a:t>
            </a:r>
            <a:r>
              <a:rPr dirty="0"/>
              <a:t>(“device</a:t>
            </a:r>
            <a:r>
              <a:rPr spc="-100" dirty="0"/>
              <a:t> </a:t>
            </a:r>
            <a:r>
              <a:rPr dirty="0"/>
              <a:t>identity”):</a:t>
            </a:r>
            <a:r>
              <a:rPr spc="-105" dirty="0"/>
              <a:t> </a:t>
            </a:r>
            <a:r>
              <a:rPr dirty="0"/>
              <a:t>The</a:t>
            </a:r>
            <a:r>
              <a:rPr spc="-100" dirty="0"/>
              <a:t> </a:t>
            </a:r>
            <a:r>
              <a:rPr dirty="0"/>
              <a:t>system</a:t>
            </a:r>
            <a:r>
              <a:rPr spc="-100" dirty="0"/>
              <a:t> </a:t>
            </a:r>
            <a:r>
              <a:rPr dirty="0"/>
              <a:t>ensures</a:t>
            </a:r>
            <a:r>
              <a:rPr spc="-105" dirty="0"/>
              <a:t> </a:t>
            </a:r>
            <a:r>
              <a:rPr dirty="0"/>
              <a:t>the</a:t>
            </a:r>
            <a:r>
              <a:rPr spc="-100" dirty="0"/>
              <a:t> </a:t>
            </a:r>
            <a:r>
              <a:rPr dirty="0"/>
              <a:t>device</a:t>
            </a:r>
            <a:r>
              <a:rPr spc="-100" dirty="0"/>
              <a:t> </a:t>
            </a:r>
            <a:r>
              <a:rPr dirty="0"/>
              <a:t>itself</a:t>
            </a:r>
            <a:r>
              <a:rPr spc="145" dirty="0"/>
              <a:t> </a:t>
            </a:r>
            <a:r>
              <a:rPr dirty="0"/>
              <a:t>is</a:t>
            </a:r>
            <a:r>
              <a:rPr spc="-100" dirty="0"/>
              <a:t> </a:t>
            </a:r>
            <a:r>
              <a:rPr spc="-10" dirty="0"/>
              <a:t>known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trusted.</a:t>
            </a:r>
          </a:p>
          <a:p>
            <a:pPr marL="1154430">
              <a:lnSpc>
                <a:spcPct val="100000"/>
              </a:lnSpc>
              <a:spcBef>
                <a:spcPts val="285"/>
              </a:spcBef>
            </a:pPr>
            <a:r>
              <a:rPr dirty="0"/>
              <a:t>Methods</a:t>
            </a:r>
            <a:r>
              <a:rPr spc="-100" dirty="0"/>
              <a:t> </a:t>
            </a:r>
            <a:r>
              <a:rPr dirty="0"/>
              <a:t>include:</a:t>
            </a:r>
            <a:r>
              <a:rPr spc="-100" dirty="0"/>
              <a:t> </a:t>
            </a:r>
            <a:r>
              <a:rPr dirty="0"/>
              <a:t>Device</a:t>
            </a:r>
            <a:r>
              <a:rPr spc="-100" dirty="0"/>
              <a:t> </a:t>
            </a:r>
            <a:r>
              <a:rPr dirty="0"/>
              <a:t>certificates,</a:t>
            </a:r>
            <a:r>
              <a:rPr spc="-100" dirty="0"/>
              <a:t> </a:t>
            </a:r>
            <a:r>
              <a:rPr dirty="0"/>
              <a:t>MDM/UEM</a:t>
            </a:r>
            <a:r>
              <a:rPr spc="-100" dirty="0"/>
              <a:t> </a:t>
            </a:r>
            <a:r>
              <a:rPr spc="-10" dirty="0"/>
              <a:t>enrollment,</a:t>
            </a:r>
            <a:r>
              <a:rPr spc="-100" dirty="0"/>
              <a:t> </a:t>
            </a:r>
            <a:r>
              <a:rPr spc="-10" dirty="0"/>
              <a:t>Hardware</a:t>
            </a:r>
            <a:r>
              <a:rPr spc="-95" dirty="0"/>
              <a:t> </a:t>
            </a:r>
            <a:r>
              <a:rPr dirty="0"/>
              <a:t>IDs</a:t>
            </a:r>
            <a:r>
              <a:rPr spc="-100" dirty="0"/>
              <a:t> </a:t>
            </a:r>
            <a:r>
              <a:rPr dirty="0"/>
              <a:t>/</a:t>
            </a:r>
            <a:r>
              <a:rPr spc="-100" dirty="0"/>
              <a:t> </a:t>
            </a:r>
            <a:r>
              <a:rPr spc="-20" dirty="0"/>
              <a:t>TPM-</a:t>
            </a:r>
          </a:p>
          <a:p>
            <a:pPr marL="1154430">
              <a:lnSpc>
                <a:spcPct val="100000"/>
              </a:lnSpc>
              <a:spcBef>
                <a:spcPts val="495"/>
              </a:spcBef>
            </a:pPr>
            <a:r>
              <a:rPr dirty="0"/>
              <a:t>backed</a:t>
            </a:r>
            <a:r>
              <a:rPr spc="-180" dirty="0"/>
              <a:t> </a:t>
            </a:r>
            <a:r>
              <a:rPr spc="-20" dirty="0"/>
              <a:t>keys</a:t>
            </a: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pc="-20" dirty="0"/>
          </a:p>
          <a:p>
            <a:pPr marL="12700" marR="485140">
              <a:lnSpc>
                <a:spcPct val="115599"/>
              </a:lnSpc>
              <a:spcBef>
                <a:spcPts val="5"/>
              </a:spcBef>
            </a:pPr>
            <a:r>
              <a:rPr dirty="0"/>
              <a:t>No</a:t>
            </a:r>
            <a:r>
              <a:rPr spc="-85" dirty="0"/>
              <a:t> </a:t>
            </a:r>
            <a:r>
              <a:rPr dirty="0"/>
              <a:t>network</a:t>
            </a:r>
            <a:r>
              <a:rPr spc="-80" dirty="0"/>
              <a:t> </a:t>
            </a:r>
            <a:r>
              <a:rPr dirty="0"/>
              <a:t>access</a:t>
            </a:r>
            <a:r>
              <a:rPr spc="-85" dirty="0"/>
              <a:t> </a:t>
            </a:r>
            <a:r>
              <a:rPr dirty="0"/>
              <a:t>yet:</a:t>
            </a:r>
            <a:r>
              <a:rPr spc="-80" dirty="0"/>
              <a:t> </a:t>
            </a:r>
            <a:r>
              <a:rPr dirty="0"/>
              <a:t>At</a:t>
            </a:r>
            <a:r>
              <a:rPr spc="-80" dirty="0"/>
              <a:t> </a:t>
            </a:r>
            <a:r>
              <a:rPr dirty="0"/>
              <a:t>this</a:t>
            </a:r>
            <a:r>
              <a:rPr spc="-85" dirty="0"/>
              <a:t> </a:t>
            </a:r>
            <a:r>
              <a:rPr dirty="0"/>
              <a:t>stage,</a:t>
            </a:r>
            <a:r>
              <a:rPr spc="-8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user</a:t>
            </a:r>
            <a:r>
              <a:rPr spc="-85" dirty="0"/>
              <a:t> </a:t>
            </a:r>
            <a:r>
              <a:rPr dirty="0"/>
              <a:t>cannot</a:t>
            </a:r>
            <a:r>
              <a:rPr spc="-80" dirty="0"/>
              <a:t> </a:t>
            </a:r>
            <a:r>
              <a:rPr dirty="0"/>
              <a:t>see</a:t>
            </a:r>
            <a:r>
              <a:rPr spc="-80" dirty="0"/>
              <a:t> </a:t>
            </a:r>
            <a:r>
              <a:rPr dirty="0"/>
              <a:t>internal</a:t>
            </a:r>
            <a:r>
              <a:rPr spc="-85" dirty="0"/>
              <a:t> </a:t>
            </a:r>
            <a:r>
              <a:rPr dirty="0"/>
              <a:t>IPs,</a:t>
            </a:r>
            <a:r>
              <a:rPr spc="-80" dirty="0"/>
              <a:t> </a:t>
            </a:r>
            <a:r>
              <a:rPr dirty="0"/>
              <a:t>servers,</a:t>
            </a:r>
            <a:r>
              <a:rPr spc="-80" dirty="0"/>
              <a:t> </a:t>
            </a:r>
            <a:r>
              <a:rPr dirty="0"/>
              <a:t>or</a:t>
            </a:r>
            <a:r>
              <a:rPr spc="-85" dirty="0"/>
              <a:t> </a:t>
            </a:r>
            <a:r>
              <a:rPr spc="-10" dirty="0"/>
              <a:t>apps.They </a:t>
            </a:r>
            <a:r>
              <a:rPr dirty="0"/>
              <a:t>only</a:t>
            </a:r>
            <a:r>
              <a:rPr spc="-75" dirty="0"/>
              <a:t> </a:t>
            </a:r>
            <a:r>
              <a:rPr dirty="0"/>
              <a:t>interact</a:t>
            </a:r>
            <a:r>
              <a:rPr spc="-70" dirty="0"/>
              <a:t> </a:t>
            </a:r>
            <a:r>
              <a:rPr dirty="0"/>
              <a:t>with</a:t>
            </a:r>
            <a:r>
              <a:rPr spc="-7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SDP</a:t>
            </a:r>
            <a:r>
              <a:rPr spc="-75" dirty="0"/>
              <a:t> </a:t>
            </a:r>
            <a:r>
              <a:rPr spc="-35" dirty="0"/>
              <a:t>controller,</a:t>
            </a:r>
            <a:r>
              <a:rPr spc="-70" dirty="0"/>
              <a:t> </a:t>
            </a:r>
            <a:r>
              <a:rPr dirty="0"/>
              <a:t>which</a:t>
            </a:r>
            <a:r>
              <a:rPr spc="-75" dirty="0"/>
              <a:t> </a:t>
            </a:r>
            <a:r>
              <a:rPr dirty="0"/>
              <a:t>is</a:t>
            </a:r>
            <a:r>
              <a:rPr spc="-70" dirty="0"/>
              <a:t> </a:t>
            </a:r>
            <a:r>
              <a:rPr dirty="0"/>
              <a:t>usually</a:t>
            </a:r>
            <a:r>
              <a:rPr spc="-75" dirty="0"/>
              <a:t> </a:t>
            </a:r>
            <a:r>
              <a:rPr spc="-10" dirty="0"/>
              <a:t>internet-</a:t>
            </a:r>
            <a:r>
              <a:rPr dirty="0"/>
              <a:t>facing</a:t>
            </a:r>
            <a:r>
              <a:rPr spc="-7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hardened.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"/>
            <a:ext cx="6191250" cy="4254500"/>
          </a:xfrm>
          <a:custGeom>
            <a:avLst/>
            <a:gdLst/>
            <a:ahLst/>
            <a:cxnLst/>
            <a:rect l="l" t="t" r="r" b="b"/>
            <a:pathLst>
              <a:path w="6191250" h="4254500">
                <a:moveTo>
                  <a:pt x="3556050" y="0"/>
                </a:moveTo>
                <a:lnTo>
                  <a:pt x="0" y="0"/>
                </a:lnTo>
                <a:lnTo>
                  <a:pt x="0" y="1729917"/>
                </a:lnTo>
                <a:lnTo>
                  <a:pt x="50723" y="1739404"/>
                </a:lnTo>
                <a:lnTo>
                  <a:pt x="98005" y="1747481"/>
                </a:lnTo>
                <a:lnTo>
                  <a:pt x="145529" y="1754873"/>
                </a:lnTo>
                <a:lnTo>
                  <a:pt x="193255" y="1761604"/>
                </a:lnTo>
                <a:lnTo>
                  <a:pt x="241223" y="1767636"/>
                </a:lnTo>
                <a:lnTo>
                  <a:pt x="289382" y="1772983"/>
                </a:lnTo>
                <a:lnTo>
                  <a:pt x="337756" y="1777631"/>
                </a:lnTo>
                <a:lnTo>
                  <a:pt x="386334" y="1781581"/>
                </a:lnTo>
                <a:lnTo>
                  <a:pt x="435114" y="1784819"/>
                </a:lnTo>
                <a:lnTo>
                  <a:pt x="481647" y="1787220"/>
                </a:lnTo>
                <a:lnTo>
                  <a:pt x="480669" y="1787220"/>
                </a:lnTo>
                <a:lnTo>
                  <a:pt x="531710" y="1789099"/>
                </a:lnTo>
                <a:lnTo>
                  <a:pt x="530694" y="1789099"/>
                </a:lnTo>
                <a:lnTo>
                  <a:pt x="581926" y="1790242"/>
                </a:lnTo>
                <a:lnTo>
                  <a:pt x="580656" y="1790242"/>
                </a:lnTo>
                <a:lnTo>
                  <a:pt x="632066" y="1790611"/>
                </a:lnTo>
                <a:lnTo>
                  <a:pt x="706755" y="1790242"/>
                </a:lnTo>
                <a:lnTo>
                  <a:pt x="779716" y="1789099"/>
                </a:lnTo>
                <a:lnTo>
                  <a:pt x="850976" y="1787220"/>
                </a:lnTo>
                <a:lnTo>
                  <a:pt x="920559" y="1784591"/>
                </a:lnTo>
                <a:lnTo>
                  <a:pt x="988517" y="1781225"/>
                </a:lnTo>
                <a:lnTo>
                  <a:pt x="1054862" y="1777136"/>
                </a:lnTo>
                <a:lnTo>
                  <a:pt x="1119632" y="1772310"/>
                </a:lnTo>
                <a:lnTo>
                  <a:pt x="1182852" y="1766760"/>
                </a:lnTo>
                <a:lnTo>
                  <a:pt x="1244574" y="1760486"/>
                </a:lnTo>
                <a:lnTo>
                  <a:pt x="1304823" y="1753514"/>
                </a:lnTo>
                <a:lnTo>
                  <a:pt x="1363624" y="1745830"/>
                </a:lnTo>
                <a:lnTo>
                  <a:pt x="1421015" y="1737448"/>
                </a:lnTo>
                <a:lnTo>
                  <a:pt x="1477035" y="1728368"/>
                </a:lnTo>
                <a:lnTo>
                  <a:pt x="1531696" y="1718602"/>
                </a:lnTo>
                <a:lnTo>
                  <a:pt x="1585048" y="1708137"/>
                </a:lnTo>
                <a:lnTo>
                  <a:pt x="1637118" y="1697012"/>
                </a:lnTo>
                <a:lnTo>
                  <a:pt x="1687944" y="1685201"/>
                </a:lnTo>
                <a:lnTo>
                  <a:pt x="1737550" y="1672717"/>
                </a:lnTo>
                <a:lnTo>
                  <a:pt x="1785975" y="1659585"/>
                </a:lnTo>
                <a:lnTo>
                  <a:pt x="1833245" y="1645780"/>
                </a:lnTo>
                <a:lnTo>
                  <a:pt x="1879384" y="1631327"/>
                </a:lnTo>
                <a:lnTo>
                  <a:pt x="1924456" y="1616227"/>
                </a:lnTo>
                <a:lnTo>
                  <a:pt x="1968461" y="1600492"/>
                </a:lnTo>
                <a:lnTo>
                  <a:pt x="2011451" y="1584109"/>
                </a:lnTo>
                <a:lnTo>
                  <a:pt x="2053437" y="1567103"/>
                </a:lnTo>
                <a:lnTo>
                  <a:pt x="2094484" y="1549463"/>
                </a:lnTo>
                <a:lnTo>
                  <a:pt x="2134590" y="1531200"/>
                </a:lnTo>
                <a:lnTo>
                  <a:pt x="2173808" y="1512328"/>
                </a:lnTo>
                <a:lnTo>
                  <a:pt x="2212175" y="1492846"/>
                </a:lnTo>
                <a:lnTo>
                  <a:pt x="2249703" y="1472768"/>
                </a:lnTo>
                <a:lnTo>
                  <a:pt x="2286431" y="1452079"/>
                </a:lnTo>
                <a:lnTo>
                  <a:pt x="2322411" y="1430794"/>
                </a:lnTo>
                <a:lnTo>
                  <a:pt x="2357653" y="1408925"/>
                </a:lnTo>
                <a:lnTo>
                  <a:pt x="2392197" y="1386484"/>
                </a:lnTo>
                <a:lnTo>
                  <a:pt x="2426068" y="1363446"/>
                </a:lnTo>
                <a:lnTo>
                  <a:pt x="2459317" y="1339850"/>
                </a:lnTo>
                <a:lnTo>
                  <a:pt x="2491956" y="1315681"/>
                </a:lnTo>
                <a:lnTo>
                  <a:pt x="2524023" y="1290942"/>
                </a:lnTo>
                <a:lnTo>
                  <a:pt x="2555570" y="1265656"/>
                </a:lnTo>
                <a:lnTo>
                  <a:pt x="2586596" y="1239824"/>
                </a:lnTo>
                <a:lnTo>
                  <a:pt x="2617152" y="1213434"/>
                </a:lnTo>
                <a:lnTo>
                  <a:pt x="2647277" y="1186510"/>
                </a:lnTo>
                <a:lnTo>
                  <a:pt x="2676995" y="1159052"/>
                </a:lnTo>
                <a:lnTo>
                  <a:pt x="2706332" y="1131062"/>
                </a:lnTo>
                <a:lnTo>
                  <a:pt x="2735326" y="1102550"/>
                </a:lnTo>
                <a:lnTo>
                  <a:pt x="2764015" y="1073518"/>
                </a:lnTo>
                <a:lnTo>
                  <a:pt x="2792425" y="1043965"/>
                </a:lnTo>
                <a:lnTo>
                  <a:pt x="2820593" y="1013917"/>
                </a:lnTo>
                <a:lnTo>
                  <a:pt x="2848546" y="983361"/>
                </a:lnTo>
                <a:lnTo>
                  <a:pt x="2876321" y="952309"/>
                </a:lnTo>
                <a:lnTo>
                  <a:pt x="2903944" y="920750"/>
                </a:lnTo>
                <a:lnTo>
                  <a:pt x="2931452" y="888720"/>
                </a:lnTo>
                <a:lnTo>
                  <a:pt x="2958884" y="856208"/>
                </a:lnTo>
                <a:lnTo>
                  <a:pt x="2986252" y="823214"/>
                </a:lnTo>
                <a:lnTo>
                  <a:pt x="3013608" y="789749"/>
                </a:lnTo>
                <a:lnTo>
                  <a:pt x="3040977" y="755827"/>
                </a:lnTo>
                <a:lnTo>
                  <a:pt x="3068396" y="721436"/>
                </a:lnTo>
                <a:lnTo>
                  <a:pt x="3095891" y="686587"/>
                </a:lnTo>
                <a:lnTo>
                  <a:pt x="3151251" y="615569"/>
                </a:lnTo>
                <a:lnTo>
                  <a:pt x="3235693" y="505739"/>
                </a:lnTo>
                <a:lnTo>
                  <a:pt x="3265157" y="466902"/>
                </a:lnTo>
                <a:lnTo>
                  <a:pt x="3294049" y="427621"/>
                </a:lnTo>
                <a:lnTo>
                  <a:pt x="3322358" y="387908"/>
                </a:lnTo>
                <a:lnTo>
                  <a:pt x="3350082" y="347751"/>
                </a:lnTo>
                <a:lnTo>
                  <a:pt x="3377222" y="307174"/>
                </a:lnTo>
                <a:lnTo>
                  <a:pt x="3403752" y="266179"/>
                </a:lnTo>
                <a:lnTo>
                  <a:pt x="3429698" y="224764"/>
                </a:lnTo>
                <a:lnTo>
                  <a:pt x="3455022" y="182943"/>
                </a:lnTo>
                <a:lnTo>
                  <a:pt x="3479736" y="140728"/>
                </a:lnTo>
                <a:lnTo>
                  <a:pt x="3503828" y="98107"/>
                </a:lnTo>
                <a:lnTo>
                  <a:pt x="3527285" y="55092"/>
                </a:lnTo>
                <a:lnTo>
                  <a:pt x="3550120" y="11696"/>
                </a:lnTo>
                <a:lnTo>
                  <a:pt x="3556050" y="0"/>
                </a:lnTo>
                <a:close/>
              </a:path>
              <a:path w="6191250" h="4254500">
                <a:moveTo>
                  <a:pt x="6191097" y="0"/>
                </a:moveTo>
                <a:lnTo>
                  <a:pt x="4063555" y="0"/>
                </a:lnTo>
                <a:lnTo>
                  <a:pt x="4042714" y="38100"/>
                </a:lnTo>
                <a:lnTo>
                  <a:pt x="4020731" y="88900"/>
                </a:lnTo>
                <a:lnTo>
                  <a:pt x="4016502" y="101600"/>
                </a:lnTo>
                <a:lnTo>
                  <a:pt x="4008031" y="114300"/>
                </a:lnTo>
                <a:lnTo>
                  <a:pt x="4003789" y="127000"/>
                </a:lnTo>
                <a:lnTo>
                  <a:pt x="3981132" y="177800"/>
                </a:lnTo>
                <a:lnTo>
                  <a:pt x="3957396" y="228600"/>
                </a:lnTo>
                <a:lnTo>
                  <a:pt x="3932834" y="266700"/>
                </a:lnTo>
                <a:lnTo>
                  <a:pt x="3907739" y="317500"/>
                </a:lnTo>
                <a:lnTo>
                  <a:pt x="3882364" y="355600"/>
                </a:lnTo>
                <a:lnTo>
                  <a:pt x="3876459" y="368300"/>
                </a:lnTo>
                <a:lnTo>
                  <a:pt x="3865689" y="393700"/>
                </a:lnTo>
                <a:lnTo>
                  <a:pt x="3859771" y="393700"/>
                </a:lnTo>
                <a:lnTo>
                  <a:pt x="3832644" y="444500"/>
                </a:lnTo>
                <a:lnTo>
                  <a:pt x="3805377" y="482600"/>
                </a:lnTo>
                <a:lnTo>
                  <a:pt x="3777843" y="533400"/>
                </a:lnTo>
                <a:lnTo>
                  <a:pt x="3749891" y="571500"/>
                </a:lnTo>
                <a:lnTo>
                  <a:pt x="3721404" y="622300"/>
                </a:lnTo>
                <a:lnTo>
                  <a:pt x="3715486" y="622300"/>
                </a:lnTo>
                <a:lnTo>
                  <a:pt x="3704729" y="647700"/>
                </a:lnTo>
                <a:lnTo>
                  <a:pt x="3698811" y="647700"/>
                </a:lnTo>
                <a:lnTo>
                  <a:pt x="3667976" y="698500"/>
                </a:lnTo>
                <a:lnTo>
                  <a:pt x="3636467" y="736600"/>
                </a:lnTo>
                <a:lnTo>
                  <a:pt x="3604272" y="774700"/>
                </a:lnTo>
                <a:lnTo>
                  <a:pt x="3571405" y="825500"/>
                </a:lnTo>
                <a:lnTo>
                  <a:pt x="3537851" y="863600"/>
                </a:lnTo>
                <a:lnTo>
                  <a:pt x="3532200" y="863600"/>
                </a:lnTo>
                <a:lnTo>
                  <a:pt x="3529380" y="876300"/>
                </a:lnTo>
                <a:lnTo>
                  <a:pt x="3523729" y="876300"/>
                </a:lnTo>
                <a:lnTo>
                  <a:pt x="3489502" y="914400"/>
                </a:lnTo>
                <a:lnTo>
                  <a:pt x="3454603" y="965200"/>
                </a:lnTo>
                <a:lnTo>
                  <a:pt x="3419017" y="1003300"/>
                </a:lnTo>
                <a:lnTo>
                  <a:pt x="3382759" y="1041400"/>
                </a:lnTo>
                <a:lnTo>
                  <a:pt x="3345827" y="1079500"/>
                </a:lnTo>
                <a:lnTo>
                  <a:pt x="3340176" y="1092200"/>
                </a:lnTo>
                <a:lnTo>
                  <a:pt x="3337356" y="1092200"/>
                </a:lnTo>
                <a:lnTo>
                  <a:pt x="3299764" y="1130300"/>
                </a:lnTo>
                <a:lnTo>
                  <a:pt x="3261626" y="1168400"/>
                </a:lnTo>
                <a:lnTo>
                  <a:pt x="3145332" y="1282700"/>
                </a:lnTo>
                <a:lnTo>
                  <a:pt x="3119920" y="1308100"/>
                </a:lnTo>
                <a:lnTo>
                  <a:pt x="3080626" y="1333500"/>
                </a:lnTo>
                <a:lnTo>
                  <a:pt x="3000565" y="1409700"/>
                </a:lnTo>
                <a:lnTo>
                  <a:pt x="2960065" y="1435100"/>
                </a:lnTo>
                <a:lnTo>
                  <a:pt x="2919425" y="1473200"/>
                </a:lnTo>
                <a:lnTo>
                  <a:pt x="2910954" y="1473200"/>
                </a:lnTo>
                <a:lnTo>
                  <a:pt x="2902483" y="1485900"/>
                </a:lnTo>
                <a:lnTo>
                  <a:pt x="2893999" y="1485900"/>
                </a:lnTo>
                <a:lnTo>
                  <a:pt x="2885529" y="1498600"/>
                </a:lnTo>
                <a:lnTo>
                  <a:pt x="2844533" y="1524000"/>
                </a:lnTo>
                <a:lnTo>
                  <a:pt x="2802852" y="1562100"/>
                </a:lnTo>
                <a:lnTo>
                  <a:pt x="2717457" y="1612900"/>
                </a:lnTo>
                <a:lnTo>
                  <a:pt x="2673743" y="1651000"/>
                </a:lnTo>
                <a:lnTo>
                  <a:pt x="2664828" y="1651000"/>
                </a:lnTo>
                <a:lnTo>
                  <a:pt x="2655392" y="1663700"/>
                </a:lnTo>
                <a:lnTo>
                  <a:pt x="2637028" y="1663700"/>
                </a:lnTo>
                <a:lnTo>
                  <a:pt x="2592667" y="1701800"/>
                </a:lnTo>
                <a:lnTo>
                  <a:pt x="2411120" y="1803400"/>
                </a:lnTo>
                <a:lnTo>
                  <a:pt x="2403094" y="1803400"/>
                </a:lnTo>
                <a:lnTo>
                  <a:pt x="2388082" y="1816100"/>
                </a:lnTo>
                <a:lnTo>
                  <a:pt x="2380056" y="1816100"/>
                </a:lnTo>
                <a:lnTo>
                  <a:pt x="2283815" y="1866900"/>
                </a:lnTo>
                <a:lnTo>
                  <a:pt x="2184870" y="1917700"/>
                </a:lnTo>
                <a:lnTo>
                  <a:pt x="2134374" y="1943100"/>
                </a:lnTo>
                <a:lnTo>
                  <a:pt x="2123084" y="1943100"/>
                </a:lnTo>
                <a:lnTo>
                  <a:pt x="2072233" y="1968500"/>
                </a:lnTo>
                <a:lnTo>
                  <a:pt x="2021243" y="1981200"/>
                </a:lnTo>
                <a:lnTo>
                  <a:pt x="1969985" y="2006600"/>
                </a:lnTo>
                <a:lnTo>
                  <a:pt x="1918322" y="2019300"/>
                </a:lnTo>
                <a:lnTo>
                  <a:pt x="1866112" y="2044700"/>
                </a:lnTo>
                <a:lnTo>
                  <a:pt x="1843519" y="2044700"/>
                </a:lnTo>
                <a:lnTo>
                  <a:pt x="1792376" y="2070100"/>
                </a:lnTo>
                <a:lnTo>
                  <a:pt x="1636217" y="2108200"/>
                </a:lnTo>
                <a:lnTo>
                  <a:pt x="1583715" y="2133600"/>
                </a:lnTo>
                <a:lnTo>
                  <a:pt x="1554327" y="2133600"/>
                </a:lnTo>
                <a:lnTo>
                  <a:pt x="1493012" y="2159000"/>
                </a:lnTo>
                <a:lnTo>
                  <a:pt x="1441170" y="2159000"/>
                </a:lnTo>
                <a:lnTo>
                  <a:pt x="1281557" y="2197100"/>
                </a:lnTo>
                <a:lnTo>
                  <a:pt x="1247406" y="2197100"/>
                </a:lnTo>
                <a:lnTo>
                  <a:pt x="1236383" y="2209800"/>
                </a:lnTo>
                <a:lnTo>
                  <a:pt x="1183538" y="2209800"/>
                </a:lnTo>
                <a:lnTo>
                  <a:pt x="1130160" y="2222500"/>
                </a:lnTo>
                <a:lnTo>
                  <a:pt x="1076363" y="2222500"/>
                </a:lnTo>
                <a:lnTo>
                  <a:pt x="1022311" y="2235200"/>
                </a:lnTo>
                <a:lnTo>
                  <a:pt x="935151" y="2235200"/>
                </a:lnTo>
                <a:lnTo>
                  <a:pt x="922921" y="2247900"/>
                </a:lnTo>
                <a:lnTo>
                  <a:pt x="356743" y="2247900"/>
                </a:lnTo>
                <a:lnTo>
                  <a:pt x="327088" y="2235200"/>
                </a:lnTo>
                <a:lnTo>
                  <a:pt x="216954" y="2235200"/>
                </a:lnTo>
                <a:lnTo>
                  <a:pt x="89877" y="2209800"/>
                </a:lnTo>
                <a:lnTo>
                  <a:pt x="44157" y="2209800"/>
                </a:lnTo>
                <a:lnTo>
                  <a:pt x="0" y="2197100"/>
                </a:lnTo>
                <a:lnTo>
                  <a:pt x="0" y="4216400"/>
                </a:lnTo>
                <a:lnTo>
                  <a:pt x="17767" y="4216400"/>
                </a:lnTo>
                <a:lnTo>
                  <a:pt x="64820" y="4229100"/>
                </a:lnTo>
                <a:lnTo>
                  <a:pt x="159258" y="4229100"/>
                </a:lnTo>
                <a:lnTo>
                  <a:pt x="206641" y="4241800"/>
                </a:lnTo>
                <a:lnTo>
                  <a:pt x="397230" y="4241800"/>
                </a:lnTo>
                <a:lnTo>
                  <a:pt x="445135" y="4254500"/>
                </a:lnTo>
                <a:lnTo>
                  <a:pt x="857224" y="4254500"/>
                </a:lnTo>
                <a:lnTo>
                  <a:pt x="911504" y="4241800"/>
                </a:lnTo>
                <a:lnTo>
                  <a:pt x="1126159" y="4241800"/>
                </a:lnTo>
                <a:lnTo>
                  <a:pt x="1179207" y="4229100"/>
                </a:lnTo>
                <a:lnTo>
                  <a:pt x="1284592" y="4229100"/>
                </a:lnTo>
                <a:lnTo>
                  <a:pt x="1336903" y="4216400"/>
                </a:lnTo>
                <a:lnTo>
                  <a:pt x="1388986" y="4216400"/>
                </a:lnTo>
                <a:lnTo>
                  <a:pt x="1440802" y="4203700"/>
                </a:lnTo>
                <a:lnTo>
                  <a:pt x="1492389" y="4203700"/>
                </a:lnTo>
                <a:lnTo>
                  <a:pt x="1543723" y="4191000"/>
                </a:lnTo>
                <a:lnTo>
                  <a:pt x="1594815" y="4191000"/>
                </a:lnTo>
                <a:lnTo>
                  <a:pt x="1645653" y="4178300"/>
                </a:lnTo>
                <a:lnTo>
                  <a:pt x="1696237" y="4178300"/>
                </a:lnTo>
                <a:lnTo>
                  <a:pt x="1796681" y="4152900"/>
                </a:lnTo>
                <a:lnTo>
                  <a:pt x="1846516" y="4152900"/>
                </a:lnTo>
                <a:lnTo>
                  <a:pt x="2043404" y="4102100"/>
                </a:lnTo>
                <a:lnTo>
                  <a:pt x="2091994" y="4102100"/>
                </a:lnTo>
                <a:lnTo>
                  <a:pt x="2564079" y="3975100"/>
                </a:lnTo>
                <a:lnTo>
                  <a:pt x="2609888" y="3949700"/>
                </a:lnTo>
                <a:lnTo>
                  <a:pt x="2790583" y="3898900"/>
                </a:lnTo>
                <a:lnTo>
                  <a:pt x="2835110" y="3873500"/>
                </a:lnTo>
                <a:lnTo>
                  <a:pt x="2923400" y="3848100"/>
                </a:lnTo>
                <a:lnTo>
                  <a:pt x="2967164" y="3822700"/>
                </a:lnTo>
                <a:lnTo>
                  <a:pt x="3010674" y="3810000"/>
                </a:lnTo>
                <a:lnTo>
                  <a:pt x="3053918" y="3784600"/>
                </a:lnTo>
                <a:lnTo>
                  <a:pt x="3139630" y="3759200"/>
                </a:lnTo>
                <a:lnTo>
                  <a:pt x="3182099" y="3733800"/>
                </a:lnTo>
                <a:lnTo>
                  <a:pt x="3224301" y="3721100"/>
                </a:lnTo>
                <a:lnTo>
                  <a:pt x="3307931" y="3670300"/>
                </a:lnTo>
                <a:lnTo>
                  <a:pt x="3349358" y="3657600"/>
                </a:lnTo>
                <a:lnTo>
                  <a:pt x="3390519" y="3632200"/>
                </a:lnTo>
                <a:lnTo>
                  <a:pt x="3431425" y="3619500"/>
                </a:lnTo>
                <a:lnTo>
                  <a:pt x="3552558" y="3543300"/>
                </a:lnTo>
                <a:lnTo>
                  <a:pt x="3592411" y="3530600"/>
                </a:lnTo>
                <a:lnTo>
                  <a:pt x="3749192" y="3429000"/>
                </a:lnTo>
                <a:lnTo>
                  <a:pt x="3787724" y="3416300"/>
                </a:lnTo>
                <a:lnTo>
                  <a:pt x="3901719" y="3340100"/>
                </a:lnTo>
                <a:lnTo>
                  <a:pt x="4050004" y="3238500"/>
                </a:lnTo>
                <a:lnTo>
                  <a:pt x="4158399" y="3162300"/>
                </a:lnTo>
                <a:lnTo>
                  <a:pt x="4193984" y="3124200"/>
                </a:lnTo>
                <a:lnTo>
                  <a:pt x="4229316" y="3098800"/>
                </a:lnTo>
                <a:lnTo>
                  <a:pt x="4333672" y="3022600"/>
                </a:lnTo>
                <a:lnTo>
                  <a:pt x="4367923" y="2984500"/>
                </a:lnTo>
                <a:lnTo>
                  <a:pt x="4469028" y="2908300"/>
                </a:lnTo>
                <a:lnTo>
                  <a:pt x="4502188" y="2870200"/>
                </a:lnTo>
                <a:lnTo>
                  <a:pt x="4567694" y="2819400"/>
                </a:lnTo>
                <a:lnTo>
                  <a:pt x="4600029" y="2781300"/>
                </a:lnTo>
                <a:lnTo>
                  <a:pt x="4632096" y="2755900"/>
                </a:lnTo>
                <a:lnTo>
                  <a:pt x="4663897" y="2717800"/>
                </a:lnTo>
                <a:lnTo>
                  <a:pt x="4695418" y="2692400"/>
                </a:lnTo>
                <a:lnTo>
                  <a:pt x="4726660" y="2654300"/>
                </a:lnTo>
                <a:lnTo>
                  <a:pt x="4757636" y="2628900"/>
                </a:lnTo>
                <a:lnTo>
                  <a:pt x="4788319" y="2590800"/>
                </a:lnTo>
                <a:lnTo>
                  <a:pt x="4818748" y="2565400"/>
                </a:lnTo>
                <a:lnTo>
                  <a:pt x="4848885" y="2527300"/>
                </a:lnTo>
                <a:lnTo>
                  <a:pt x="4878756" y="2501900"/>
                </a:lnTo>
                <a:lnTo>
                  <a:pt x="4908347" y="2463800"/>
                </a:lnTo>
                <a:lnTo>
                  <a:pt x="4937658" y="2438400"/>
                </a:lnTo>
                <a:lnTo>
                  <a:pt x="4966690" y="2400300"/>
                </a:lnTo>
                <a:lnTo>
                  <a:pt x="4995456" y="2362200"/>
                </a:lnTo>
                <a:lnTo>
                  <a:pt x="5023929" y="2336800"/>
                </a:lnTo>
                <a:lnTo>
                  <a:pt x="5052136" y="2298700"/>
                </a:lnTo>
                <a:lnTo>
                  <a:pt x="5080051" y="2260600"/>
                </a:lnTo>
                <a:lnTo>
                  <a:pt x="5093881" y="2247900"/>
                </a:lnTo>
                <a:lnTo>
                  <a:pt x="5107698" y="2235200"/>
                </a:lnTo>
                <a:lnTo>
                  <a:pt x="5135067" y="2197100"/>
                </a:lnTo>
                <a:lnTo>
                  <a:pt x="5162143" y="2159000"/>
                </a:lnTo>
                <a:lnTo>
                  <a:pt x="5188953" y="2120900"/>
                </a:lnTo>
                <a:lnTo>
                  <a:pt x="5215471" y="2095500"/>
                </a:lnTo>
                <a:lnTo>
                  <a:pt x="5241709" y="2057400"/>
                </a:lnTo>
                <a:lnTo>
                  <a:pt x="5267680" y="2019300"/>
                </a:lnTo>
                <a:lnTo>
                  <a:pt x="5293347" y="1981200"/>
                </a:lnTo>
                <a:lnTo>
                  <a:pt x="5318747" y="1943100"/>
                </a:lnTo>
                <a:lnTo>
                  <a:pt x="5343868" y="1905000"/>
                </a:lnTo>
                <a:lnTo>
                  <a:pt x="5368696" y="1866900"/>
                </a:lnTo>
                <a:lnTo>
                  <a:pt x="5393245" y="1828800"/>
                </a:lnTo>
                <a:lnTo>
                  <a:pt x="5417502" y="1803400"/>
                </a:lnTo>
                <a:lnTo>
                  <a:pt x="5441493" y="1765300"/>
                </a:lnTo>
                <a:lnTo>
                  <a:pt x="5465178" y="1727200"/>
                </a:lnTo>
                <a:lnTo>
                  <a:pt x="5488597" y="1689100"/>
                </a:lnTo>
                <a:lnTo>
                  <a:pt x="5511724" y="1651000"/>
                </a:lnTo>
                <a:lnTo>
                  <a:pt x="5534558" y="1612900"/>
                </a:lnTo>
                <a:lnTo>
                  <a:pt x="5557113" y="1574800"/>
                </a:lnTo>
                <a:lnTo>
                  <a:pt x="5579389" y="1524000"/>
                </a:lnTo>
                <a:lnTo>
                  <a:pt x="5601373" y="1485900"/>
                </a:lnTo>
                <a:lnTo>
                  <a:pt x="5623064" y="1447800"/>
                </a:lnTo>
                <a:lnTo>
                  <a:pt x="5644477" y="1409700"/>
                </a:lnTo>
                <a:lnTo>
                  <a:pt x="5665597" y="1371600"/>
                </a:lnTo>
                <a:lnTo>
                  <a:pt x="5686425" y="1333500"/>
                </a:lnTo>
                <a:lnTo>
                  <a:pt x="5706973" y="1295400"/>
                </a:lnTo>
                <a:lnTo>
                  <a:pt x="5727230" y="1257300"/>
                </a:lnTo>
                <a:lnTo>
                  <a:pt x="5747207" y="1206500"/>
                </a:lnTo>
                <a:lnTo>
                  <a:pt x="5766879" y="1168400"/>
                </a:lnTo>
                <a:lnTo>
                  <a:pt x="5786272" y="1130300"/>
                </a:lnTo>
                <a:lnTo>
                  <a:pt x="5805373" y="1092200"/>
                </a:lnTo>
                <a:lnTo>
                  <a:pt x="5824182" y="1054100"/>
                </a:lnTo>
                <a:lnTo>
                  <a:pt x="5842698" y="1003300"/>
                </a:lnTo>
                <a:lnTo>
                  <a:pt x="5860923" y="965200"/>
                </a:lnTo>
                <a:lnTo>
                  <a:pt x="5878855" y="927100"/>
                </a:lnTo>
                <a:lnTo>
                  <a:pt x="5896495" y="876300"/>
                </a:lnTo>
                <a:lnTo>
                  <a:pt x="5913856" y="838200"/>
                </a:lnTo>
                <a:lnTo>
                  <a:pt x="5930912" y="800100"/>
                </a:lnTo>
                <a:lnTo>
                  <a:pt x="5947676" y="749300"/>
                </a:lnTo>
                <a:lnTo>
                  <a:pt x="5964148" y="711200"/>
                </a:lnTo>
                <a:lnTo>
                  <a:pt x="5980328" y="673100"/>
                </a:lnTo>
                <a:lnTo>
                  <a:pt x="5996216" y="622300"/>
                </a:lnTo>
                <a:lnTo>
                  <a:pt x="6011799" y="584200"/>
                </a:lnTo>
                <a:lnTo>
                  <a:pt x="6027102" y="546100"/>
                </a:lnTo>
                <a:lnTo>
                  <a:pt x="6042101" y="495300"/>
                </a:lnTo>
                <a:lnTo>
                  <a:pt x="6056808" y="457200"/>
                </a:lnTo>
                <a:lnTo>
                  <a:pt x="6071209" y="406400"/>
                </a:lnTo>
                <a:lnTo>
                  <a:pt x="6085332" y="368300"/>
                </a:lnTo>
                <a:lnTo>
                  <a:pt x="6099149" y="317500"/>
                </a:lnTo>
                <a:lnTo>
                  <a:pt x="6112662" y="279400"/>
                </a:lnTo>
                <a:lnTo>
                  <a:pt x="6125883" y="228600"/>
                </a:lnTo>
                <a:lnTo>
                  <a:pt x="6138811" y="190500"/>
                </a:lnTo>
                <a:lnTo>
                  <a:pt x="6151448" y="139700"/>
                </a:lnTo>
                <a:lnTo>
                  <a:pt x="6163767" y="101600"/>
                </a:lnTo>
                <a:lnTo>
                  <a:pt x="6175807" y="50800"/>
                </a:lnTo>
                <a:lnTo>
                  <a:pt x="6187529" y="12700"/>
                </a:lnTo>
                <a:lnTo>
                  <a:pt x="6191097" y="0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1602" y="901064"/>
            <a:ext cx="6767830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spc="-170" dirty="0"/>
              <a:t>How</a:t>
            </a:r>
            <a:r>
              <a:rPr sz="4900" spc="-390" dirty="0"/>
              <a:t> </a:t>
            </a:r>
            <a:r>
              <a:rPr sz="4900" spc="-125" dirty="0"/>
              <a:t>an</a:t>
            </a:r>
            <a:r>
              <a:rPr sz="4900" spc="-390" dirty="0"/>
              <a:t> </a:t>
            </a:r>
            <a:r>
              <a:rPr sz="4900" spc="-160" dirty="0"/>
              <a:t>SDP</a:t>
            </a:r>
            <a:r>
              <a:rPr sz="4900" spc="-390" dirty="0"/>
              <a:t> </a:t>
            </a:r>
            <a:r>
              <a:rPr sz="4900" spc="-200" dirty="0"/>
              <a:t>works</a:t>
            </a:r>
            <a:r>
              <a:rPr sz="4900" spc="-390" dirty="0"/>
              <a:t> </a:t>
            </a:r>
            <a:r>
              <a:rPr sz="4900" spc="-105" dirty="0"/>
              <a:t>cont.</a:t>
            </a:r>
            <a:endParaRPr sz="49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5470" y="0"/>
            <a:ext cx="5932528" cy="10286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7962" y="3872173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44700" y="4334136"/>
            <a:ext cx="95250" cy="9524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520962" y="4805623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44700" y="5267586"/>
            <a:ext cx="95250" cy="9524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520962" y="5739073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44700" y="6201035"/>
            <a:ext cx="95250" cy="95249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520962" y="6672523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44700" y="7601211"/>
            <a:ext cx="95250" cy="952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022362" y="2183588"/>
            <a:ext cx="14243685" cy="749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6525">
              <a:lnSpc>
                <a:spcPct val="115599"/>
              </a:lnSpc>
              <a:spcBef>
                <a:spcPts val="100"/>
              </a:spcBef>
            </a:pP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Once</a:t>
            </a:r>
            <a:r>
              <a:rPr sz="2650" spc="2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identity</a:t>
            </a:r>
            <a:r>
              <a:rPr sz="2650" spc="2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650" spc="2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verified,</a:t>
            </a:r>
            <a:r>
              <a:rPr sz="2650" spc="2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650" spc="2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SDP</a:t>
            </a:r>
            <a:r>
              <a:rPr sz="2650" spc="2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performs</a:t>
            </a:r>
            <a:r>
              <a:rPr sz="2650" spc="2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real-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sz="2650" spc="2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policy</a:t>
            </a:r>
            <a:r>
              <a:rPr sz="2650" spc="2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evaluation</a:t>
            </a:r>
            <a:r>
              <a:rPr sz="2650" spc="2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650" spc="2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determine</a:t>
            </a:r>
            <a:r>
              <a:rPr sz="2650" spc="2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whether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access</a:t>
            </a:r>
            <a:r>
              <a:rPr sz="26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should</a:t>
            </a:r>
            <a:r>
              <a:rPr sz="265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26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approved.</a:t>
            </a:r>
            <a:endParaRPr sz="2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2650">
              <a:latin typeface="Arial MT"/>
              <a:cs typeface="Arial MT"/>
            </a:endParaRPr>
          </a:p>
          <a:p>
            <a:pPr marL="583565">
              <a:lnSpc>
                <a:spcPct val="100000"/>
              </a:lnSpc>
            </a:pP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sz="26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happens</a:t>
            </a:r>
            <a:r>
              <a:rPr sz="26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6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26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step:</a:t>
            </a:r>
            <a:endParaRPr sz="2650">
              <a:latin typeface="Arial MT"/>
              <a:cs typeface="Arial MT"/>
            </a:endParaRPr>
          </a:p>
          <a:p>
            <a:pPr marL="1725930" marR="1462405" indent="-571500">
              <a:lnSpc>
                <a:spcPts val="3679"/>
              </a:lnSpc>
              <a:spcBef>
                <a:spcPts val="200"/>
              </a:spcBef>
            </a:pPr>
            <a:r>
              <a:rPr sz="2650" spc="-30" dirty="0">
                <a:solidFill>
                  <a:srgbClr val="FFFFFF"/>
                </a:solidFill>
                <a:latin typeface="Arial MT"/>
                <a:cs typeface="Arial MT"/>
              </a:rPr>
              <a:t>Role-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based</a:t>
            </a:r>
            <a:r>
              <a:rPr sz="265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evaluation: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SDP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checks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who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sz="265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(role,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group,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department).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ex:</a:t>
            </a:r>
            <a:r>
              <a:rPr sz="265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20" dirty="0">
                <a:solidFill>
                  <a:srgbClr val="FFFFFF"/>
                </a:solidFill>
                <a:latin typeface="Arial MT"/>
                <a:cs typeface="Arial MT"/>
              </a:rPr>
              <a:t>Developers</a:t>
            </a:r>
            <a:r>
              <a:rPr sz="265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vs.</a:t>
            </a:r>
            <a:r>
              <a:rPr sz="265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contractors</a:t>
            </a:r>
            <a:r>
              <a:rPr sz="265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vs.</a:t>
            </a:r>
            <a:r>
              <a:rPr sz="265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admins.</a:t>
            </a:r>
            <a:endParaRPr sz="2650">
              <a:latin typeface="Arial MT"/>
              <a:cs typeface="Arial MT"/>
            </a:endParaRPr>
          </a:p>
          <a:p>
            <a:pPr marL="1154430">
              <a:lnSpc>
                <a:spcPct val="100000"/>
              </a:lnSpc>
              <a:spcBef>
                <a:spcPts val="285"/>
              </a:spcBef>
            </a:pP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Device</a:t>
            </a:r>
            <a:r>
              <a:rPr sz="265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posture</a:t>
            </a:r>
            <a:r>
              <a:rPr sz="265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evaluation:</a:t>
            </a:r>
            <a:r>
              <a:rPr sz="265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65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65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device</a:t>
            </a:r>
            <a:r>
              <a:rPr sz="265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compliant</a:t>
            </a:r>
            <a:r>
              <a:rPr sz="265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265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requirements?</a:t>
            </a:r>
            <a:endParaRPr sz="2650">
              <a:latin typeface="Arial MT"/>
              <a:cs typeface="Arial MT"/>
            </a:endParaRPr>
          </a:p>
          <a:p>
            <a:pPr marL="1725930">
              <a:lnSpc>
                <a:spcPct val="100000"/>
              </a:lnSpc>
              <a:spcBef>
                <a:spcPts val="495"/>
              </a:spcBef>
            </a:pP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ex:</a:t>
            </a:r>
            <a:r>
              <a:rPr sz="26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6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disk</a:t>
            </a:r>
            <a:r>
              <a:rPr sz="26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encryption</a:t>
            </a:r>
            <a:r>
              <a:rPr sz="26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enabled?,</a:t>
            </a:r>
            <a:r>
              <a:rPr sz="26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6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antivirus/EDR</a:t>
            </a:r>
            <a:r>
              <a:rPr sz="26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20" dirty="0">
                <a:solidFill>
                  <a:srgbClr val="FFFFFF"/>
                </a:solidFill>
                <a:latin typeface="Arial MT"/>
                <a:cs typeface="Arial MT"/>
              </a:rPr>
              <a:t>active?,</a:t>
            </a:r>
            <a:r>
              <a:rPr sz="26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6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OS</a:t>
            </a:r>
            <a:r>
              <a:rPr sz="26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up</a:t>
            </a:r>
            <a:r>
              <a:rPr sz="26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6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date?</a:t>
            </a:r>
            <a:endParaRPr sz="2650">
              <a:latin typeface="Arial MT"/>
              <a:cs typeface="Arial MT"/>
            </a:endParaRPr>
          </a:p>
          <a:p>
            <a:pPr marL="1154430">
              <a:lnSpc>
                <a:spcPct val="100000"/>
              </a:lnSpc>
              <a:spcBef>
                <a:spcPts val="495"/>
              </a:spcBef>
            </a:pP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Contextual</a:t>
            </a:r>
            <a:r>
              <a:rPr sz="265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checks:</a:t>
            </a:r>
            <a:r>
              <a:rPr sz="265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These</a:t>
            </a:r>
            <a:r>
              <a:rPr sz="265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determine</a:t>
            </a:r>
            <a:r>
              <a:rPr sz="265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whether</a:t>
            </a:r>
            <a:r>
              <a:rPr sz="265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65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request</a:t>
            </a:r>
            <a:r>
              <a:rPr sz="265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fits</a:t>
            </a:r>
            <a:r>
              <a:rPr sz="265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expected</a:t>
            </a:r>
            <a:r>
              <a:rPr sz="265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behavior.</a:t>
            </a:r>
            <a:endParaRPr sz="2650">
              <a:latin typeface="Arial MT"/>
              <a:cs typeface="Arial MT"/>
            </a:endParaRPr>
          </a:p>
          <a:p>
            <a:pPr marL="1725930" marR="5080">
              <a:lnSpc>
                <a:spcPts val="3670"/>
              </a:lnSpc>
              <a:spcBef>
                <a:spcPts val="210"/>
              </a:spcBef>
            </a:pP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ex:</a:t>
            </a:r>
            <a:r>
              <a:rPr sz="26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Location</a:t>
            </a:r>
            <a:r>
              <a:rPr sz="26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20" dirty="0">
                <a:solidFill>
                  <a:srgbClr val="FFFFFF"/>
                </a:solidFill>
                <a:latin typeface="Arial MT"/>
                <a:cs typeface="Arial MT"/>
              </a:rPr>
              <a:t>(country,</a:t>
            </a:r>
            <a:r>
              <a:rPr sz="26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subnet,</a:t>
            </a:r>
            <a:r>
              <a:rPr sz="26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geolocation),</a:t>
            </a:r>
            <a:r>
              <a:rPr sz="26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25" dirty="0">
                <a:solidFill>
                  <a:srgbClr val="FFFFFF"/>
                </a:solidFill>
                <a:latin typeface="Arial MT"/>
                <a:cs typeface="Arial MT"/>
              </a:rPr>
              <a:t>Time-of-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day</a:t>
            </a:r>
            <a:r>
              <a:rPr sz="26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sz="26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business</a:t>
            </a:r>
            <a:r>
              <a:rPr sz="26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hours,</a:t>
            </a:r>
            <a:r>
              <a:rPr sz="26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Network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type</a:t>
            </a:r>
            <a:r>
              <a:rPr sz="265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(corporate,</a:t>
            </a:r>
            <a:r>
              <a:rPr sz="265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home,</a:t>
            </a:r>
            <a:r>
              <a:rPr sz="265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public</a:t>
            </a:r>
            <a:r>
              <a:rPr sz="265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25" dirty="0">
                <a:solidFill>
                  <a:srgbClr val="FFFFFF"/>
                </a:solidFill>
                <a:latin typeface="Arial MT"/>
                <a:cs typeface="Arial MT"/>
              </a:rPr>
              <a:t>Wi-Fi)</a:t>
            </a:r>
            <a:endParaRPr sz="2650">
              <a:latin typeface="Arial MT"/>
              <a:cs typeface="Arial MT"/>
            </a:endParaRPr>
          </a:p>
          <a:p>
            <a:pPr marL="1154430" marR="5080">
              <a:lnSpc>
                <a:spcPts val="3679"/>
              </a:lnSpc>
            </a:pP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Policy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decision:Allow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(conditions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met)/Deny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(conditions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25" dirty="0">
                <a:solidFill>
                  <a:srgbClr val="FFFFFF"/>
                </a:solidFill>
                <a:latin typeface="Arial MT"/>
                <a:cs typeface="Arial MT"/>
              </a:rPr>
              <a:t>met)/Step-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up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 authentication (extra</a:t>
            </a:r>
            <a:r>
              <a:rPr sz="265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65" dirty="0">
                <a:solidFill>
                  <a:srgbClr val="FFFFFF"/>
                </a:solidFill>
                <a:latin typeface="Arial MT"/>
                <a:cs typeface="Arial MT"/>
              </a:rPr>
              <a:t>MFA</a:t>
            </a:r>
            <a:r>
              <a:rPr sz="265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needed)</a:t>
            </a:r>
            <a:endParaRPr sz="2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2650">
              <a:latin typeface="Arial MT"/>
              <a:cs typeface="Arial MT"/>
            </a:endParaRPr>
          </a:p>
          <a:p>
            <a:pPr marL="12700" marR="113664">
              <a:lnSpc>
                <a:spcPct val="115599"/>
              </a:lnSpc>
              <a:spcBef>
                <a:spcPts val="5"/>
              </a:spcBef>
            </a:pP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Still</a:t>
            </a:r>
            <a:r>
              <a:rPr sz="26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access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granted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yet.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Approval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at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26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stage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only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means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controller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allows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6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gateway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accept</a:t>
            </a:r>
            <a:r>
              <a:rPr sz="26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connection</a:t>
            </a:r>
            <a:r>
              <a:rPr sz="26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sz="2650" spc="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sz="26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initiates</a:t>
            </a:r>
            <a:r>
              <a:rPr sz="26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one.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26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still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cannot</a:t>
            </a:r>
            <a:r>
              <a:rPr sz="26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see</a:t>
            </a:r>
            <a:r>
              <a:rPr sz="26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any</a:t>
            </a:r>
            <a:r>
              <a:rPr sz="26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internal</a:t>
            </a:r>
            <a:r>
              <a:rPr sz="26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Arial MT"/>
                <a:cs typeface="Arial MT"/>
              </a:rPr>
              <a:t>resources.</a:t>
            </a:r>
            <a:endParaRPr sz="2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"/>
            <a:ext cx="6191250" cy="4254500"/>
          </a:xfrm>
          <a:custGeom>
            <a:avLst/>
            <a:gdLst/>
            <a:ahLst/>
            <a:cxnLst/>
            <a:rect l="l" t="t" r="r" b="b"/>
            <a:pathLst>
              <a:path w="6191250" h="4254500">
                <a:moveTo>
                  <a:pt x="3556050" y="0"/>
                </a:moveTo>
                <a:lnTo>
                  <a:pt x="0" y="0"/>
                </a:lnTo>
                <a:lnTo>
                  <a:pt x="0" y="1729917"/>
                </a:lnTo>
                <a:lnTo>
                  <a:pt x="50723" y="1739404"/>
                </a:lnTo>
                <a:lnTo>
                  <a:pt x="98005" y="1747481"/>
                </a:lnTo>
                <a:lnTo>
                  <a:pt x="145529" y="1754873"/>
                </a:lnTo>
                <a:lnTo>
                  <a:pt x="193255" y="1761604"/>
                </a:lnTo>
                <a:lnTo>
                  <a:pt x="241223" y="1767636"/>
                </a:lnTo>
                <a:lnTo>
                  <a:pt x="289382" y="1772983"/>
                </a:lnTo>
                <a:lnTo>
                  <a:pt x="337756" y="1777631"/>
                </a:lnTo>
                <a:lnTo>
                  <a:pt x="386334" y="1781581"/>
                </a:lnTo>
                <a:lnTo>
                  <a:pt x="435114" y="1784819"/>
                </a:lnTo>
                <a:lnTo>
                  <a:pt x="481647" y="1787220"/>
                </a:lnTo>
                <a:lnTo>
                  <a:pt x="480669" y="1787220"/>
                </a:lnTo>
                <a:lnTo>
                  <a:pt x="531710" y="1789099"/>
                </a:lnTo>
                <a:lnTo>
                  <a:pt x="530694" y="1789099"/>
                </a:lnTo>
                <a:lnTo>
                  <a:pt x="581926" y="1790242"/>
                </a:lnTo>
                <a:lnTo>
                  <a:pt x="580656" y="1790242"/>
                </a:lnTo>
                <a:lnTo>
                  <a:pt x="632066" y="1790611"/>
                </a:lnTo>
                <a:lnTo>
                  <a:pt x="706755" y="1790242"/>
                </a:lnTo>
                <a:lnTo>
                  <a:pt x="779716" y="1789099"/>
                </a:lnTo>
                <a:lnTo>
                  <a:pt x="850976" y="1787220"/>
                </a:lnTo>
                <a:lnTo>
                  <a:pt x="920559" y="1784591"/>
                </a:lnTo>
                <a:lnTo>
                  <a:pt x="988517" y="1781225"/>
                </a:lnTo>
                <a:lnTo>
                  <a:pt x="1054862" y="1777136"/>
                </a:lnTo>
                <a:lnTo>
                  <a:pt x="1119632" y="1772310"/>
                </a:lnTo>
                <a:lnTo>
                  <a:pt x="1182852" y="1766760"/>
                </a:lnTo>
                <a:lnTo>
                  <a:pt x="1244574" y="1760486"/>
                </a:lnTo>
                <a:lnTo>
                  <a:pt x="1304823" y="1753514"/>
                </a:lnTo>
                <a:lnTo>
                  <a:pt x="1363624" y="1745830"/>
                </a:lnTo>
                <a:lnTo>
                  <a:pt x="1421015" y="1737448"/>
                </a:lnTo>
                <a:lnTo>
                  <a:pt x="1477035" y="1728368"/>
                </a:lnTo>
                <a:lnTo>
                  <a:pt x="1531696" y="1718602"/>
                </a:lnTo>
                <a:lnTo>
                  <a:pt x="1585048" y="1708137"/>
                </a:lnTo>
                <a:lnTo>
                  <a:pt x="1637118" y="1697012"/>
                </a:lnTo>
                <a:lnTo>
                  <a:pt x="1687944" y="1685201"/>
                </a:lnTo>
                <a:lnTo>
                  <a:pt x="1737550" y="1672717"/>
                </a:lnTo>
                <a:lnTo>
                  <a:pt x="1785975" y="1659585"/>
                </a:lnTo>
                <a:lnTo>
                  <a:pt x="1833245" y="1645780"/>
                </a:lnTo>
                <a:lnTo>
                  <a:pt x="1879384" y="1631327"/>
                </a:lnTo>
                <a:lnTo>
                  <a:pt x="1924456" y="1616227"/>
                </a:lnTo>
                <a:lnTo>
                  <a:pt x="1968461" y="1600492"/>
                </a:lnTo>
                <a:lnTo>
                  <a:pt x="2011451" y="1584109"/>
                </a:lnTo>
                <a:lnTo>
                  <a:pt x="2053437" y="1567103"/>
                </a:lnTo>
                <a:lnTo>
                  <a:pt x="2094484" y="1549463"/>
                </a:lnTo>
                <a:lnTo>
                  <a:pt x="2134590" y="1531200"/>
                </a:lnTo>
                <a:lnTo>
                  <a:pt x="2173808" y="1512328"/>
                </a:lnTo>
                <a:lnTo>
                  <a:pt x="2212175" y="1492846"/>
                </a:lnTo>
                <a:lnTo>
                  <a:pt x="2249703" y="1472768"/>
                </a:lnTo>
                <a:lnTo>
                  <a:pt x="2286431" y="1452079"/>
                </a:lnTo>
                <a:lnTo>
                  <a:pt x="2322411" y="1430794"/>
                </a:lnTo>
                <a:lnTo>
                  <a:pt x="2357653" y="1408925"/>
                </a:lnTo>
                <a:lnTo>
                  <a:pt x="2392197" y="1386484"/>
                </a:lnTo>
                <a:lnTo>
                  <a:pt x="2426068" y="1363446"/>
                </a:lnTo>
                <a:lnTo>
                  <a:pt x="2459317" y="1339850"/>
                </a:lnTo>
                <a:lnTo>
                  <a:pt x="2491956" y="1315681"/>
                </a:lnTo>
                <a:lnTo>
                  <a:pt x="2524023" y="1290942"/>
                </a:lnTo>
                <a:lnTo>
                  <a:pt x="2555570" y="1265656"/>
                </a:lnTo>
                <a:lnTo>
                  <a:pt x="2586596" y="1239824"/>
                </a:lnTo>
                <a:lnTo>
                  <a:pt x="2617152" y="1213434"/>
                </a:lnTo>
                <a:lnTo>
                  <a:pt x="2647277" y="1186510"/>
                </a:lnTo>
                <a:lnTo>
                  <a:pt x="2676995" y="1159052"/>
                </a:lnTo>
                <a:lnTo>
                  <a:pt x="2706332" y="1131062"/>
                </a:lnTo>
                <a:lnTo>
                  <a:pt x="2735326" y="1102550"/>
                </a:lnTo>
                <a:lnTo>
                  <a:pt x="2764015" y="1073518"/>
                </a:lnTo>
                <a:lnTo>
                  <a:pt x="2792425" y="1043965"/>
                </a:lnTo>
                <a:lnTo>
                  <a:pt x="2820593" y="1013917"/>
                </a:lnTo>
                <a:lnTo>
                  <a:pt x="2848546" y="983361"/>
                </a:lnTo>
                <a:lnTo>
                  <a:pt x="2876321" y="952309"/>
                </a:lnTo>
                <a:lnTo>
                  <a:pt x="2903944" y="920750"/>
                </a:lnTo>
                <a:lnTo>
                  <a:pt x="2931452" y="888720"/>
                </a:lnTo>
                <a:lnTo>
                  <a:pt x="2958884" y="856208"/>
                </a:lnTo>
                <a:lnTo>
                  <a:pt x="2986252" y="823214"/>
                </a:lnTo>
                <a:lnTo>
                  <a:pt x="3013608" y="789749"/>
                </a:lnTo>
                <a:lnTo>
                  <a:pt x="3040977" y="755827"/>
                </a:lnTo>
                <a:lnTo>
                  <a:pt x="3068396" y="721436"/>
                </a:lnTo>
                <a:lnTo>
                  <a:pt x="3095891" y="686587"/>
                </a:lnTo>
                <a:lnTo>
                  <a:pt x="3151251" y="615569"/>
                </a:lnTo>
                <a:lnTo>
                  <a:pt x="3235693" y="505739"/>
                </a:lnTo>
                <a:lnTo>
                  <a:pt x="3265157" y="466902"/>
                </a:lnTo>
                <a:lnTo>
                  <a:pt x="3294049" y="427621"/>
                </a:lnTo>
                <a:lnTo>
                  <a:pt x="3322358" y="387908"/>
                </a:lnTo>
                <a:lnTo>
                  <a:pt x="3350082" y="347751"/>
                </a:lnTo>
                <a:lnTo>
                  <a:pt x="3377222" y="307174"/>
                </a:lnTo>
                <a:lnTo>
                  <a:pt x="3403752" y="266179"/>
                </a:lnTo>
                <a:lnTo>
                  <a:pt x="3429698" y="224764"/>
                </a:lnTo>
                <a:lnTo>
                  <a:pt x="3455022" y="182943"/>
                </a:lnTo>
                <a:lnTo>
                  <a:pt x="3479736" y="140728"/>
                </a:lnTo>
                <a:lnTo>
                  <a:pt x="3503828" y="98107"/>
                </a:lnTo>
                <a:lnTo>
                  <a:pt x="3527285" y="55092"/>
                </a:lnTo>
                <a:lnTo>
                  <a:pt x="3550120" y="11696"/>
                </a:lnTo>
                <a:lnTo>
                  <a:pt x="3556050" y="0"/>
                </a:lnTo>
                <a:close/>
              </a:path>
              <a:path w="6191250" h="4254500">
                <a:moveTo>
                  <a:pt x="6191097" y="0"/>
                </a:moveTo>
                <a:lnTo>
                  <a:pt x="4063555" y="0"/>
                </a:lnTo>
                <a:lnTo>
                  <a:pt x="4042714" y="38100"/>
                </a:lnTo>
                <a:lnTo>
                  <a:pt x="4020731" y="88900"/>
                </a:lnTo>
                <a:lnTo>
                  <a:pt x="4016502" y="101600"/>
                </a:lnTo>
                <a:lnTo>
                  <a:pt x="4008031" y="114300"/>
                </a:lnTo>
                <a:lnTo>
                  <a:pt x="4003789" y="127000"/>
                </a:lnTo>
                <a:lnTo>
                  <a:pt x="3981132" y="177800"/>
                </a:lnTo>
                <a:lnTo>
                  <a:pt x="3957396" y="228600"/>
                </a:lnTo>
                <a:lnTo>
                  <a:pt x="3932834" y="266700"/>
                </a:lnTo>
                <a:lnTo>
                  <a:pt x="3907739" y="317500"/>
                </a:lnTo>
                <a:lnTo>
                  <a:pt x="3882364" y="355600"/>
                </a:lnTo>
                <a:lnTo>
                  <a:pt x="3876459" y="368300"/>
                </a:lnTo>
                <a:lnTo>
                  <a:pt x="3865689" y="393700"/>
                </a:lnTo>
                <a:lnTo>
                  <a:pt x="3859771" y="393700"/>
                </a:lnTo>
                <a:lnTo>
                  <a:pt x="3832644" y="444500"/>
                </a:lnTo>
                <a:lnTo>
                  <a:pt x="3805377" y="482600"/>
                </a:lnTo>
                <a:lnTo>
                  <a:pt x="3777843" y="533400"/>
                </a:lnTo>
                <a:lnTo>
                  <a:pt x="3749891" y="571500"/>
                </a:lnTo>
                <a:lnTo>
                  <a:pt x="3721404" y="622300"/>
                </a:lnTo>
                <a:lnTo>
                  <a:pt x="3715486" y="622300"/>
                </a:lnTo>
                <a:lnTo>
                  <a:pt x="3704729" y="647700"/>
                </a:lnTo>
                <a:lnTo>
                  <a:pt x="3698811" y="647700"/>
                </a:lnTo>
                <a:lnTo>
                  <a:pt x="3667976" y="698500"/>
                </a:lnTo>
                <a:lnTo>
                  <a:pt x="3636467" y="736600"/>
                </a:lnTo>
                <a:lnTo>
                  <a:pt x="3604272" y="774700"/>
                </a:lnTo>
                <a:lnTo>
                  <a:pt x="3571405" y="825500"/>
                </a:lnTo>
                <a:lnTo>
                  <a:pt x="3537851" y="863600"/>
                </a:lnTo>
                <a:lnTo>
                  <a:pt x="3532200" y="863600"/>
                </a:lnTo>
                <a:lnTo>
                  <a:pt x="3529380" y="876300"/>
                </a:lnTo>
                <a:lnTo>
                  <a:pt x="3523729" y="876300"/>
                </a:lnTo>
                <a:lnTo>
                  <a:pt x="3489502" y="914400"/>
                </a:lnTo>
                <a:lnTo>
                  <a:pt x="3454603" y="965200"/>
                </a:lnTo>
                <a:lnTo>
                  <a:pt x="3419017" y="1003300"/>
                </a:lnTo>
                <a:lnTo>
                  <a:pt x="3382759" y="1041400"/>
                </a:lnTo>
                <a:lnTo>
                  <a:pt x="3345827" y="1079500"/>
                </a:lnTo>
                <a:lnTo>
                  <a:pt x="3340176" y="1092200"/>
                </a:lnTo>
                <a:lnTo>
                  <a:pt x="3337356" y="1092200"/>
                </a:lnTo>
                <a:lnTo>
                  <a:pt x="3299764" y="1130300"/>
                </a:lnTo>
                <a:lnTo>
                  <a:pt x="3261626" y="1168400"/>
                </a:lnTo>
                <a:lnTo>
                  <a:pt x="3145332" y="1282700"/>
                </a:lnTo>
                <a:lnTo>
                  <a:pt x="3119920" y="1308100"/>
                </a:lnTo>
                <a:lnTo>
                  <a:pt x="3080626" y="1333500"/>
                </a:lnTo>
                <a:lnTo>
                  <a:pt x="3000565" y="1409700"/>
                </a:lnTo>
                <a:lnTo>
                  <a:pt x="2960065" y="1435100"/>
                </a:lnTo>
                <a:lnTo>
                  <a:pt x="2919425" y="1473200"/>
                </a:lnTo>
                <a:lnTo>
                  <a:pt x="2910954" y="1473200"/>
                </a:lnTo>
                <a:lnTo>
                  <a:pt x="2902483" y="1485900"/>
                </a:lnTo>
                <a:lnTo>
                  <a:pt x="2893999" y="1485900"/>
                </a:lnTo>
                <a:lnTo>
                  <a:pt x="2885529" y="1498600"/>
                </a:lnTo>
                <a:lnTo>
                  <a:pt x="2844533" y="1524000"/>
                </a:lnTo>
                <a:lnTo>
                  <a:pt x="2802852" y="1562100"/>
                </a:lnTo>
                <a:lnTo>
                  <a:pt x="2717457" y="1612900"/>
                </a:lnTo>
                <a:lnTo>
                  <a:pt x="2673743" y="1651000"/>
                </a:lnTo>
                <a:lnTo>
                  <a:pt x="2664828" y="1651000"/>
                </a:lnTo>
                <a:lnTo>
                  <a:pt x="2655392" y="1663700"/>
                </a:lnTo>
                <a:lnTo>
                  <a:pt x="2637028" y="1663700"/>
                </a:lnTo>
                <a:lnTo>
                  <a:pt x="2592667" y="1701800"/>
                </a:lnTo>
                <a:lnTo>
                  <a:pt x="2411120" y="1803400"/>
                </a:lnTo>
                <a:lnTo>
                  <a:pt x="2403094" y="1803400"/>
                </a:lnTo>
                <a:lnTo>
                  <a:pt x="2388082" y="1816100"/>
                </a:lnTo>
                <a:lnTo>
                  <a:pt x="2380056" y="1816100"/>
                </a:lnTo>
                <a:lnTo>
                  <a:pt x="2283815" y="1866900"/>
                </a:lnTo>
                <a:lnTo>
                  <a:pt x="2184870" y="1917700"/>
                </a:lnTo>
                <a:lnTo>
                  <a:pt x="2134374" y="1943100"/>
                </a:lnTo>
                <a:lnTo>
                  <a:pt x="2123084" y="1943100"/>
                </a:lnTo>
                <a:lnTo>
                  <a:pt x="2072233" y="1968500"/>
                </a:lnTo>
                <a:lnTo>
                  <a:pt x="2021243" y="1981200"/>
                </a:lnTo>
                <a:lnTo>
                  <a:pt x="1969985" y="2006600"/>
                </a:lnTo>
                <a:lnTo>
                  <a:pt x="1918322" y="2019300"/>
                </a:lnTo>
                <a:lnTo>
                  <a:pt x="1866112" y="2044700"/>
                </a:lnTo>
                <a:lnTo>
                  <a:pt x="1843519" y="2044700"/>
                </a:lnTo>
                <a:lnTo>
                  <a:pt x="1792376" y="2070100"/>
                </a:lnTo>
                <a:lnTo>
                  <a:pt x="1636217" y="2108200"/>
                </a:lnTo>
                <a:lnTo>
                  <a:pt x="1583715" y="2133600"/>
                </a:lnTo>
                <a:lnTo>
                  <a:pt x="1554327" y="2133600"/>
                </a:lnTo>
                <a:lnTo>
                  <a:pt x="1493012" y="2159000"/>
                </a:lnTo>
                <a:lnTo>
                  <a:pt x="1441170" y="2159000"/>
                </a:lnTo>
                <a:lnTo>
                  <a:pt x="1281557" y="2197100"/>
                </a:lnTo>
                <a:lnTo>
                  <a:pt x="1247406" y="2197100"/>
                </a:lnTo>
                <a:lnTo>
                  <a:pt x="1236383" y="2209800"/>
                </a:lnTo>
                <a:lnTo>
                  <a:pt x="1183538" y="2209800"/>
                </a:lnTo>
                <a:lnTo>
                  <a:pt x="1130160" y="2222500"/>
                </a:lnTo>
                <a:lnTo>
                  <a:pt x="1076363" y="2222500"/>
                </a:lnTo>
                <a:lnTo>
                  <a:pt x="1022311" y="2235200"/>
                </a:lnTo>
                <a:lnTo>
                  <a:pt x="935151" y="2235200"/>
                </a:lnTo>
                <a:lnTo>
                  <a:pt x="922921" y="2247900"/>
                </a:lnTo>
                <a:lnTo>
                  <a:pt x="356743" y="2247900"/>
                </a:lnTo>
                <a:lnTo>
                  <a:pt x="327088" y="2235200"/>
                </a:lnTo>
                <a:lnTo>
                  <a:pt x="216954" y="2235200"/>
                </a:lnTo>
                <a:lnTo>
                  <a:pt x="89877" y="2209800"/>
                </a:lnTo>
                <a:lnTo>
                  <a:pt x="44157" y="2209800"/>
                </a:lnTo>
                <a:lnTo>
                  <a:pt x="0" y="2197100"/>
                </a:lnTo>
                <a:lnTo>
                  <a:pt x="0" y="4216400"/>
                </a:lnTo>
                <a:lnTo>
                  <a:pt x="17767" y="4216400"/>
                </a:lnTo>
                <a:lnTo>
                  <a:pt x="64820" y="4229100"/>
                </a:lnTo>
                <a:lnTo>
                  <a:pt x="159258" y="4229100"/>
                </a:lnTo>
                <a:lnTo>
                  <a:pt x="206641" y="4241800"/>
                </a:lnTo>
                <a:lnTo>
                  <a:pt x="397230" y="4241800"/>
                </a:lnTo>
                <a:lnTo>
                  <a:pt x="445135" y="4254500"/>
                </a:lnTo>
                <a:lnTo>
                  <a:pt x="857224" y="4254500"/>
                </a:lnTo>
                <a:lnTo>
                  <a:pt x="911504" y="4241800"/>
                </a:lnTo>
                <a:lnTo>
                  <a:pt x="1126159" y="4241800"/>
                </a:lnTo>
                <a:lnTo>
                  <a:pt x="1179207" y="4229100"/>
                </a:lnTo>
                <a:lnTo>
                  <a:pt x="1284592" y="4229100"/>
                </a:lnTo>
                <a:lnTo>
                  <a:pt x="1336903" y="4216400"/>
                </a:lnTo>
                <a:lnTo>
                  <a:pt x="1388986" y="4216400"/>
                </a:lnTo>
                <a:lnTo>
                  <a:pt x="1440802" y="4203700"/>
                </a:lnTo>
                <a:lnTo>
                  <a:pt x="1492389" y="4203700"/>
                </a:lnTo>
                <a:lnTo>
                  <a:pt x="1543723" y="4191000"/>
                </a:lnTo>
                <a:lnTo>
                  <a:pt x="1594815" y="4191000"/>
                </a:lnTo>
                <a:lnTo>
                  <a:pt x="1645653" y="4178300"/>
                </a:lnTo>
                <a:lnTo>
                  <a:pt x="1696237" y="4178300"/>
                </a:lnTo>
                <a:lnTo>
                  <a:pt x="1796681" y="4152900"/>
                </a:lnTo>
                <a:lnTo>
                  <a:pt x="1846516" y="4152900"/>
                </a:lnTo>
                <a:lnTo>
                  <a:pt x="2043404" y="4102100"/>
                </a:lnTo>
                <a:lnTo>
                  <a:pt x="2091994" y="4102100"/>
                </a:lnTo>
                <a:lnTo>
                  <a:pt x="2564079" y="3975100"/>
                </a:lnTo>
                <a:lnTo>
                  <a:pt x="2609888" y="3949700"/>
                </a:lnTo>
                <a:lnTo>
                  <a:pt x="2790583" y="3898900"/>
                </a:lnTo>
                <a:lnTo>
                  <a:pt x="2835110" y="3873500"/>
                </a:lnTo>
                <a:lnTo>
                  <a:pt x="2923400" y="3848100"/>
                </a:lnTo>
                <a:lnTo>
                  <a:pt x="2967164" y="3822700"/>
                </a:lnTo>
                <a:lnTo>
                  <a:pt x="3010674" y="3810000"/>
                </a:lnTo>
                <a:lnTo>
                  <a:pt x="3053918" y="3784600"/>
                </a:lnTo>
                <a:lnTo>
                  <a:pt x="3139630" y="3759200"/>
                </a:lnTo>
                <a:lnTo>
                  <a:pt x="3182099" y="3733800"/>
                </a:lnTo>
                <a:lnTo>
                  <a:pt x="3224301" y="3721100"/>
                </a:lnTo>
                <a:lnTo>
                  <a:pt x="3307931" y="3670300"/>
                </a:lnTo>
                <a:lnTo>
                  <a:pt x="3349358" y="3657600"/>
                </a:lnTo>
                <a:lnTo>
                  <a:pt x="3390519" y="3632200"/>
                </a:lnTo>
                <a:lnTo>
                  <a:pt x="3431425" y="3619500"/>
                </a:lnTo>
                <a:lnTo>
                  <a:pt x="3552558" y="3543300"/>
                </a:lnTo>
                <a:lnTo>
                  <a:pt x="3592411" y="3530600"/>
                </a:lnTo>
                <a:lnTo>
                  <a:pt x="3749192" y="3429000"/>
                </a:lnTo>
                <a:lnTo>
                  <a:pt x="3787724" y="3416300"/>
                </a:lnTo>
                <a:lnTo>
                  <a:pt x="3901719" y="3340100"/>
                </a:lnTo>
                <a:lnTo>
                  <a:pt x="4050004" y="3238500"/>
                </a:lnTo>
                <a:lnTo>
                  <a:pt x="4158399" y="3162300"/>
                </a:lnTo>
                <a:lnTo>
                  <a:pt x="4193984" y="3124200"/>
                </a:lnTo>
                <a:lnTo>
                  <a:pt x="4229316" y="3098800"/>
                </a:lnTo>
                <a:lnTo>
                  <a:pt x="4333672" y="3022600"/>
                </a:lnTo>
                <a:lnTo>
                  <a:pt x="4367923" y="2984500"/>
                </a:lnTo>
                <a:lnTo>
                  <a:pt x="4469028" y="2908300"/>
                </a:lnTo>
                <a:lnTo>
                  <a:pt x="4502188" y="2870200"/>
                </a:lnTo>
                <a:lnTo>
                  <a:pt x="4567694" y="2819400"/>
                </a:lnTo>
                <a:lnTo>
                  <a:pt x="4600029" y="2781300"/>
                </a:lnTo>
                <a:lnTo>
                  <a:pt x="4632096" y="2755900"/>
                </a:lnTo>
                <a:lnTo>
                  <a:pt x="4663897" y="2717800"/>
                </a:lnTo>
                <a:lnTo>
                  <a:pt x="4695418" y="2692400"/>
                </a:lnTo>
                <a:lnTo>
                  <a:pt x="4726660" y="2654300"/>
                </a:lnTo>
                <a:lnTo>
                  <a:pt x="4757636" y="2628900"/>
                </a:lnTo>
                <a:lnTo>
                  <a:pt x="4788319" y="2590800"/>
                </a:lnTo>
                <a:lnTo>
                  <a:pt x="4818748" y="2565400"/>
                </a:lnTo>
                <a:lnTo>
                  <a:pt x="4848885" y="2527300"/>
                </a:lnTo>
                <a:lnTo>
                  <a:pt x="4878756" y="2501900"/>
                </a:lnTo>
                <a:lnTo>
                  <a:pt x="4908347" y="2463800"/>
                </a:lnTo>
                <a:lnTo>
                  <a:pt x="4937658" y="2438400"/>
                </a:lnTo>
                <a:lnTo>
                  <a:pt x="4966690" y="2400300"/>
                </a:lnTo>
                <a:lnTo>
                  <a:pt x="4995456" y="2362200"/>
                </a:lnTo>
                <a:lnTo>
                  <a:pt x="5023929" y="2336800"/>
                </a:lnTo>
                <a:lnTo>
                  <a:pt x="5052136" y="2298700"/>
                </a:lnTo>
                <a:lnTo>
                  <a:pt x="5080051" y="2260600"/>
                </a:lnTo>
                <a:lnTo>
                  <a:pt x="5093881" y="2247900"/>
                </a:lnTo>
                <a:lnTo>
                  <a:pt x="5107698" y="2235200"/>
                </a:lnTo>
                <a:lnTo>
                  <a:pt x="5135067" y="2197100"/>
                </a:lnTo>
                <a:lnTo>
                  <a:pt x="5162143" y="2159000"/>
                </a:lnTo>
                <a:lnTo>
                  <a:pt x="5188953" y="2120900"/>
                </a:lnTo>
                <a:lnTo>
                  <a:pt x="5215471" y="2095500"/>
                </a:lnTo>
                <a:lnTo>
                  <a:pt x="5241709" y="2057400"/>
                </a:lnTo>
                <a:lnTo>
                  <a:pt x="5267680" y="2019300"/>
                </a:lnTo>
                <a:lnTo>
                  <a:pt x="5293347" y="1981200"/>
                </a:lnTo>
                <a:lnTo>
                  <a:pt x="5318747" y="1943100"/>
                </a:lnTo>
                <a:lnTo>
                  <a:pt x="5343868" y="1905000"/>
                </a:lnTo>
                <a:lnTo>
                  <a:pt x="5368696" y="1866900"/>
                </a:lnTo>
                <a:lnTo>
                  <a:pt x="5393245" y="1828800"/>
                </a:lnTo>
                <a:lnTo>
                  <a:pt x="5417502" y="1803400"/>
                </a:lnTo>
                <a:lnTo>
                  <a:pt x="5441493" y="1765300"/>
                </a:lnTo>
                <a:lnTo>
                  <a:pt x="5465178" y="1727200"/>
                </a:lnTo>
                <a:lnTo>
                  <a:pt x="5488597" y="1689100"/>
                </a:lnTo>
                <a:lnTo>
                  <a:pt x="5511724" y="1651000"/>
                </a:lnTo>
                <a:lnTo>
                  <a:pt x="5534558" y="1612900"/>
                </a:lnTo>
                <a:lnTo>
                  <a:pt x="5557113" y="1574800"/>
                </a:lnTo>
                <a:lnTo>
                  <a:pt x="5579389" y="1524000"/>
                </a:lnTo>
                <a:lnTo>
                  <a:pt x="5601373" y="1485900"/>
                </a:lnTo>
                <a:lnTo>
                  <a:pt x="5623064" y="1447800"/>
                </a:lnTo>
                <a:lnTo>
                  <a:pt x="5644477" y="1409700"/>
                </a:lnTo>
                <a:lnTo>
                  <a:pt x="5665597" y="1371600"/>
                </a:lnTo>
                <a:lnTo>
                  <a:pt x="5686425" y="1333500"/>
                </a:lnTo>
                <a:lnTo>
                  <a:pt x="5706973" y="1295400"/>
                </a:lnTo>
                <a:lnTo>
                  <a:pt x="5727230" y="1257300"/>
                </a:lnTo>
                <a:lnTo>
                  <a:pt x="5747207" y="1206500"/>
                </a:lnTo>
                <a:lnTo>
                  <a:pt x="5766879" y="1168400"/>
                </a:lnTo>
                <a:lnTo>
                  <a:pt x="5786272" y="1130300"/>
                </a:lnTo>
                <a:lnTo>
                  <a:pt x="5805373" y="1092200"/>
                </a:lnTo>
                <a:lnTo>
                  <a:pt x="5824182" y="1054100"/>
                </a:lnTo>
                <a:lnTo>
                  <a:pt x="5842698" y="1003300"/>
                </a:lnTo>
                <a:lnTo>
                  <a:pt x="5860923" y="965200"/>
                </a:lnTo>
                <a:lnTo>
                  <a:pt x="5878855" y="927100"/>
                </a:lnTo>
                <a:lnTo>
                  <a:pt x="5896495" y="876300"/>
                </a:lnTo>
                <a:lnTo>
                  <a:pt x="5913856" y="838200"/>
                </a:lnTo>
                <a:lnTo>
                  <a:pt x="5930912" y="800100"/>
                </a:lnTo>
                <a:lnTo>
                  <a:pt x="5947676" y="749300"/>
                </a:lnTo>
                <a:lnTo>
                  <a:pt x="5964148" y="711200"/>
                </a:lnTo>
                <a:lnTo>
                  <a:pt x="5980328" y="673100"/>
                </a:lnTo>
                <a:lnTo>
                  <a:pt x="5996216" y="622300"/>
                </a:lnTo>
                <a:lnTo>
                  <a:pt x="6011799" y="584200"/>
                </a:lnTo>
                <a:lnTo>
                  <a:pt x="6027102" y="546100"/>
                </a:lnTo>
                <a:lnTo>
                  <a:pt x="6042101" y="495300"/>
                </a:lnTo>
                <a:lnTo>
                  <a:pt x="6056808" y="457200"/>
                </a:lnTo>
                <a:lnTo>
                  <a:pt x="6071209" y="406400"/>
                </a:lnTo>
                <a:lnTo>
                  <a:pt x="6085332" y="368300"/>
                </a:lnTo>
                <a:lnTo>
                  <a:pt x="6099149" y="317500"/>
                </a:lnTo>
                <a:lnTo>
                  <a:pt x="6112662" y="279400"/>
                </a:lnTo>
                <a:lnTo>
                  <a:pt x="6125883" y="228600"/>
                </a:lnTo>
                <a:lnTo>
                  <a:pt x="6138811" y="190500"/>
                </a:lnTo>
                <a:lnTo>
                  <a:pt x="6151448" y="139700"/>
                </a:lnTo>
                <a:lnTo>
                  <a:pt x="6163767" y="101600"/>
                </a:lnTo>
                <a:lnTo>
                  <a:pt x="6175807" y="50800"/>
                </a:lnTo>
                <a:lnTo>
                  <a:pt x="6187529" y="12700"/>
                </a:lnTo>
                <a:lnTo>
                  <a:pt x="6191097" y="0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1602" y="901064"/>
            <a:ext cx="6767830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spc="-170" dirty="0"/>
              <a:t>How</a:t>
            </a:r>
            <a:r>
              <a:rPr sz="4900" spc="-390" dirty="0"/>
              <a:t> </a:t>
            </a:r>
            <a:r>
              <a:rPr sz="4900" spc="-125" dirty="0"/>
              <a:t>an</a:t>
            </a:r>
            <a:r>
              <a:rPr sz="4900" spc="-390" dirty="0"/>
              <a:t> </a:t>
            </a:r>
            <a:r>
              <a:rPr sz="4900" spc="-160" dirty="0"/>
              <a:t>SDP</a:t>
            </a:r>
            <a:r>
              <a:rPr sz="4900" spc="-390" dirty="0"/>
              <a:t> </a:t>
            </a:r>
            <a:r>
              <a:rPr sz="4900" spc="-200" dirty="0"/>
              <a:t>works</a:t>
            </a:r>
            <a:r>
              <a:rPr sz="4900" spc="-390" dirty="0"/>
              <a:t> </a:t>
            </a:r>
            <a:r>
              <a:rPr sz="4900" spc="-105" dirty="0"/>
              <a:t>cont.</a:t>
            </a:r>
            <a:endParaRPr sz="49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5470" y="0"/>
            <a:ext cx="5932528" cy="102869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339862" y="3645635"/>
            <a:ext cx="614680" cy="509905"/>
            <a:chOff x="2339862" y="3645635"/>
            <a:chExt cx="614680" cy="50990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9862" y="3645635"/>
              <a:ext cx="76200" cy="761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68500" y="4069498"/>
              <a:ext cx="85725" cy="85724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68500" y="5355372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68500" y="6212622"/>
            <a:ext cx="85725" cy="8572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397137" y="664601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199" y="76199"/>
                </a:moveTo>
                <a:lnTo>
                  <a:pt x="0" y="76199"/>
                </a:lnTo>
                <a:lnTo>
                  <a:pt x="0" y="0"/>
                </a:lnTo>
                <a:lnTo>
                  <a:pt x="76199" y="0"/>
                </a:lnTo>
                <a:lnTo>
                  <a:pt x="76199" y="76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68500" y="7498498"/>
            <a:ext cx="85725" cy="857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022362" y="2094838"/>
            <a:ext cx="14243685" cy="7740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799"/>
              </a:lnSpc>
              <a:spcBef>
                <a:spcPts val="100"/>
              </a:spcBef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After</a:t>
            </a:r>
            <a:r>
              <a:rPr sz="24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policy</a:t>
            </a:r>
            <a:r>
              <a:rPr sz="24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engine</a:t>
            </a:r>
            <a:r>
              <a:rPr sz="24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approves,</a:t>
            </a:r>
            <a:r>
              <a:rPr sz="24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SDP</a:t>
            </a:r>
            <a:r>
              <a:rPr sz="24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controller</a:t>
            </a:r>
            <a:r>
              <a:rPr sz="24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sends</a:t>
            </a:r>
            <a:r>
              <a:rPr sz="24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instructions</a:t>
            </a:r>
            <a:r>
              <a:rPr sz="24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4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24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SDP</a:t>
            </a:r>
            <a:r>
              <a:rPr sz="24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gateway</a:t>
            </a:r>
            <a:r>
              <a:rPr sz="24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(also</a:t>
            </a:r>
            <a:r>
              <a:rPr sz="24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called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acceptor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enforcement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point)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allow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connection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specifically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resource.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2450">
              <a:latin typeface="Arial MT"/>
              <a:cs typeface="Arial MT"/>
            </a:endParaRPr>
          </a:p>
          <a:p>
            <a:pPr marL="540385">
              <a:lnSpc>
                <a:spcPct val="100000"/>
              </a:lnSpc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happens</a:t>
            </a:r>
            <a:r>
              <a:rPr sz="24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4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24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step:</a:t>
            </a:r>
            <a:endParaRPr sz="2450">
              <a:latin typeface="Arial MT"/>
              <a:cs typeface="Arial MT"/>
            </a:endParaRPr>
          </a:p>
          <a:p>
            <a:pPr marL="1068070" marR="521970">
              <a:lnSpc>
                <a:spcPct val="114799"/>
              </a:lnSpc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Dynamic,</a:t>
            </a:r>
            <a:r>
              <a:rPr sz="245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ephemeral</a:t>
            </a:r>
            <a:r>
              <a:rPr sz="24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connectivity:</a:t>
            </a:r>
            <a:r>
              <a:rPr sz="24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SDP</a:t>
            </a:r>
            <a:r>
              <a:rPr sz="24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gateway</a:t>
            </a:r>
            <a:r>
              <a:rPr sz="24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opens</a:t>
            </a:r>
            <a:r>
              <a:rPr sz="24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4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temporary</a:t>
            </a:r>
            <a:r>
              <a:rPr sz="24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FFFFFF"/>
                </a:solidFill>
                <a:latin typeface="Arial MT"/>
                <a:cs typeface="Arial MT"/>
              </a:rPr>
              <a:t>“micro-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tunnel.”</a:t>
            </a:r>
            <a:r>
              <a:rPr sz="2450" spc="-1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FFFFFF"/>
                </a:solidFill>
                <a:latin typeface="Arial MT"/>
                <a:cs typeface="Arial MT"/>
              </a:rPr>
              <a:t>This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tunnel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dedicated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application.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uses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mutual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TLS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(mTLS)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similar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strong</a:t>
            </a:r>
            <a:r>
              <a:rPr sz="245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encryption.</a:t>
            </a:r>
            <a:endParaRPr sz="2450">
              <a:latin typeface="Arial MT"/>
              <a:cs typeface="Arial MT"/>
            </a:endParaRPr>
          </a:p>
          <a:p>
            <a:pPr marL="1068070" marR="123825">
              <a:lnSpc>
                <a:spcPct val="114799"/>
              </a:lnSpc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sz="24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FFFFFF"/>
                </a:solidFill>
                <a:latin typeface="Arial MT"/>
                <a:cs typeface="Arial MT"/>
              </a:rPr>
              <a:t>network-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level</a:t>
            </a:r>
            <a:r>
              <a:rPr sz="24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access: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sz="24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does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24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join</a:t>
            </a:r>
            <a:r>
              <a:rPr sz="24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network</a:t>
            </a:r>
            <a:r>
              <a:rPr sz="24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(unlike</a:t>
            </a:r>
            <a:r>
              <a:rPr sz="24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VPN).They</a:t>
            </a:r>
            <a:r>
              <a:rPr sz="24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connect</a:t>
            </a:r>
            <a:r>
              <a:rPr sz="24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only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5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application</a:t>
            </a:r>
            <a:r>
              <a:rPr sz="245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they’re</a:t>
            </a:r>
            <a:r>
              <a:rPr sz="245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allowed.</a:t>
            </a:r>
            <a:endParaRPr sz="2450">
              <a:latin typeface="Arial MT"/>
              <a:cs typeface="Arial MT"/>
            </a:endParaRPr>
          </a:p>
          <a:p>
            <a:pPr marL="1068070">
              <a:lnSpc>
                <a:spcPct val="100000"/>
              </a:lnSpc>
              <a:spcBef>
                <a:spcPts val="434"/>
              </a:spcBef>
            </a:pP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Application-level</a:t>
            </a:r>
            <a:r>
              <a:rPr sz="2450" spc="-1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segmentation:</a:t>
            </a:r>
            <a:endParaRPr sz="2450">
              <a:latin typeface="Arial MT"/>
              <a:cs typeface="Arial MT"/>
            </a:endParaRPr>
          </a:p>
          <a:p>
            <a:pPr marL="1596390" marR="276860">
              <a:lnSpc>
                <a:spcPct val="114799"/>
              </a:lnSpc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ex: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only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access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app1.internal,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only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access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20" dirty="0">
                <a:solidFill>
                  <a:srgbClr val="FFFFFF"/>
                </a:solidFill>
                <a:latin typeface="Arial MT"/>
                <a:cs typeface="Arial MT"/>
              </a:rPr>
              <a:t>db-read-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api.internal,</a:t>
            </a:r>
            <a:r>
              <a:rPr sz="24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FFFFFF"/>
                </a:solidFill>
                <a:latin typeface="Arial MT"/>
                <a:cs typeface="Arial MT"/>
              </a:rPr>
              <a:t>All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other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services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remain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invisible</a:t>
            </a:r>
            <a:endParaRPr sz="2450">
              <a:latin typeface="Arial MT"/>
              <a:cs typeface="Arial MT"/>
            </a:endParaRPr>
          </a:p>
          <a:p>
            <a:pPr marL="1068070" marR="305435">
              <a:lnSpc>
                <a:spcPct val="114799"/>
              </a:lnSpc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Continuous</a:t>
            </a:r>
            <a:r>
              <a:rPr sz="24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validation:</a:t>
            </a:r>
            <a:r>
              <a:rPr sz="24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5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connection</a:t>
            </a:r>
            <a:r>
              <a:rPr sz="24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45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monitored</a:t>
            </a:r>
            <a:r>
              <a:rPr sz="24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entire</a:t>
            </a:r>
            <a:r>
              <a:rPr sz="245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time.</a:t>
            </a:r>
            <a:r>
              <a:rPr sz="24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sz="2450" spc="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user’s</a:t>
            </a:r>
            <a:r>
              <a:rPr sz="24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context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changes</a:t>
            </a:r>
            <a:r>
              <a:rPr sz="245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(e.g.,</a:t>
            </a:r>
            <a:r>
              <a:rPr sz="245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device</a:t>
            </a:r>
            <a:r>
              <a:rPr sz="245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becomes</a:t>
            </a:r>
            <a:r>
              <a:rPr sz="245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FFFFFF"/>
                </a:solidFill>
                <a:latin typeface="Arial MT"/>
                <a:cs typeface="Arial MT"/>
              </a:rPr>
              <a:t>non-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compliant</a:t>
            </a:r>
            <a:r>
              <a:rPr sz="24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sz="245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location</a:t>
            </a:r>
            <a:r>
              <a:rPr sz="245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changes),</a:t>
            </a:r>
            <a:r>
              <a:rPr sz="245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5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SDP</a:t>
            </a:r>
            <a:r>
              <a:rPr sz="24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245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immediately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cut</a:t>
            </a:r>
            <a:r>
              <a:rPr sz="24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session.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2450">
              <a:latin typeface="Arial MT"/>
              <a:cs typeface="Arial MT"/>
            </a:endParaRPr>
          </a:p>
          <a:p>
            <a:pPr marL="12700" marR="41910">
              <a:lnSpc>
                <a:spcPct val="114799"/>
              </a:lnSpc>
            </a:pPr>
            <a:r>
              <a:rPr sz="2450" spc="-45" dirty="0">
                <a:solidFill>
                  <a:srgbClr val="FFFFFF"/>
                </a:solidFill>
                <a:latin typeface="Arial MT"/>
                <a:cs typeface="Arial MT"/>
              </a:rPr>
              <a:t>Tunnel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disappears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after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disconnects,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gateway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tears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down</a:t>
            </a:r>
            <a:r>
              <a:rPr sz="24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tunnel.There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4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FFFFFF"/>
                </a:solidFill>
                <a:latin typeface="Arial MT"/>
                <a:cs typeface="Arial MT"/>
              </a:rPr>
              <a:t>no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persistent</a:t>
            </a:r>
            <a:r>
              <a:rPr sz="245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exposure.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514350" rIns="0" bIns="0" rtlCol="0">
            <a:spAutoFit/>
          </a:bodyPr>
          <a:lstStyle/>
          <a:p>
            <a:pPr marL="12700" marR="5080">
              <a:lnSpc>
                <a:spcPct val="73100"/>
              </a:lnSpc>
              <a:spcBef>
                <a:spcPts val="4050"/>
              </a:spcBef>
            </a:pPr>
            <a:r>
              <a:rPr sz="12150" spc="-135" dirty="0"/>
              <a:t>Waverley</a:t>
            </a:r>
            <a:r>
              <a:rPr sz="12150" spc="-675" dirty="0"/>
              <a:t> </a:t>
            </a:r>
            <a:r>
              <a:rPr sz="12150" spc="-125" dirty="0"/>
              <a:t>Labs </a:t>
            </a:r>
            <a:r>
              <a:rPr sz="12150" spc="-60" dirty="0"/>
              <a:t>Framework</a:t>
            </a:r>
            <a:endParaRPr sz="12150"/>
          </a:p>
        </p:txBody>
      </p:sp>
      <p:sp>
        <p:nvSpPr>
          <p:cNvPr id="3" name="object 3"/>
          <p:cNvSpPr txBox="1"/>
          <p:nvPr/>
        </p:nvSpPr>
        <p:spPr>
          <a:xfrm>
            <a:off x="2244216" y="6508440"/>
            <a:ext cx="3213100" cy="58864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673735" marR="5080" indent="-661670">
              <a:lnSpc>
                <a:spcPct val="74400"/>
              </a:lnSpc>
              <a:spcBef>
                <a:spcPts val="775"/>
              </a:spcBef>
            </a:pP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SDP</a:t>
            </a:r>
            <a:r>
              <a:rPr sz="21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21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Arial MT"/>
                <a:cs typeface="Arial MT"/>
              </a:rPr>
              <a:t>CYBERSECURITY INNOVATIONS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"/>
            <a:ext cx="6191250" cy="4254500"/>
          </a:xfrm>
          <a:custGeom>
            <a:avLst/>
            <a:gdLst/>
            <a:ahLst/>
            <a:cxnLst/>
            <a:rect l="l" t="t" r="r" b="b"/>
            <a:pathLst>
              <a:path w="6191250" h="4254500">
                <a:moveTo>
                  <a:pt x="3556050" y="0"/>
                </a:moveTo>
                <a:lnTo>
                  <a:pt x="0" y="0"/>
                </a:lnTo>
                <a:lnTo>
                  <a:pt x="0" y="1729917"/>
                </a:lnTo>
                <a:lnTo>
                  <a:pt x="50723" y="1739404"/>
                </a:lnTo>
                <a:lnTo>
                  <a:pt x="98005" y="1747481"/>
                </a:lnTo>
                <a:lnTo>
                  <a:pt x="145529" y="1754873"/>
                </a:lnTo>
                <a:lnTo>
                  <a:pt x="193255" y="1761604"/>
                </a:lnTo>
                <a:lnTo>
                  <a:pt x="241223" y="1767636"/>
                </a:lnTo>
                <a:lnTo>
                  <a:pt x="289382" y="1772983"/>
                </a:lnTo>
                <a:lnTo>
                  <a:pt x="337756" y="1777631"/>
                </a:lnTo>
                <a:lnTo>
                  <a:pt x="386334" y="1781581"/>
                </a:lnTo>
                <a:lnTo>
                  <a:pt x="435114" y="1784819"/>
                </a:lnTo>
                <a:lnTo>
                  <a:pt x="481647" y="1787220"/>
                </a:lnTo>
                <a:lnTo>
                  <a:pt x="480669" y="1787220"/>
                </a:lnTo>
                <a:lnTo>
                  <a:pt x="531710" y="1789099"/>
                </a:lnTo>
                <a:lnTo>
                  <a:pt x="530694" y="1789099"/>
                </a:lnTo>
                <a:lnTo>
                  <a:pt x="581926" y="1790242"/>
                </a:lnTo>
                <a:lnTo>
                  <a:pt x="580656" y="1790242"/>
                </a:lnTo>
                <a:lnTo>
                  <a:pt x="632066" y="1790611"/>
                </a:lnTo>
                <a:lnTo>
                  <a:pt x="706755" y="1790242"/>
                </a:lnTo>
                <a:lnTo>
                  <a:pt x="779716" y="1789099"/>
                </a:lnTo>
                <a:lnTo>
                  <a:pt x="850976" y="1787220"/>
                </a:lnTo>
                <a:lnTo>
                  <a:pt x="920559" y="1784591"/>
                </a:lnTo>
                <a:lnTo>
                  <a:pt x="988517" y="1781225"/>
                </a:lnTo>
                <a:lnTo>
                  <a:pt x="1054862" y="1777136"/>
                </a:lnTo>
                <a:lnTo>
                  <a:pt x="1119632" y="1772310"/>
                </a:lnTo>
                <a:lnTo>
                  <a:pt x="1182852" y="1766760"/>
                </a:lnTo>
                <a:lnTo>
                  <a:pt x="1244574" y="1760486"/>
                </a:lnTo>
                <a:lnTo>
                  <a:pt x="1304823" y="1753514"/>
                </a:lnTo>
                <a:lnTo>
                  <a:pt x="1363624" y="1745830"/>
                </a:lnTo>
                <a:lnTo>
                  <a:pt x="1421015" y="1737448"/>
                </a:lnTo>
                <a:lnTo>
                  <a:pt x="1477035" y="1728368"/>
                </a:lnTo>
                <a:lnTo>
                  <a:pt x="1531696" y="1718602"/>
                </a:lnTo>
                <a:lnTo>
                  <a:pt x="1585048" y="1708137"/>
                </a:lnTo>
                <a:lnTo>
                  <a:pt x="1637118" y="1697012"/>
                </a:lnTo>
                <a:lnTo>
                  <a:pt x="1687944" y="1685201"/>
                </a:lnTo>
                <a:lnTo>
                  <a:pt x="1737550" y="1672717"/>
                </a:lnTo>
                <a:lnTo>
                  <a:pt x="1785975" y="1659585"/>
                </a:lnTo>
                <a:lnTo>
                  <a:pt x="1833245" y="1645780"/>
                </a:lnTo>
                <a:lnTo>
                  <a:pt x="1879384" y="1631327"/>
                </a:lnTo>
                <a:lnTo>
                  <a:pt x="1924456" y="1616227"/>
                </a:lnTo>
                <a:lnTo>
                  <a:pt x="1968461" y="1600492"/>
                </a:lnTo>
                <a:lnTo>
                  <a:pt x="2011451" y="1584109"/>
                </a:lnTo>
                <a:lnTo>
                  <a:pt x="2053437" y="1567103"/>
                </a:lnTo>
                <a:lnTo>
                  <a:pt x="2094484" y="1549463"/>
                </a:lnTo>
                <a:lnTo>
                  <a:pt x="2134590" y="1531200"/>
                </a:lnTo>
                <a:lnTo>
                  <a:pt x="2173808" y="1512328"/>
                </a:lnTo>
                <a:lnTo>
                  <a:pt x="2212175" y="1492846"/>
                </a:lnTo>
                <a:lnTo>
                  <a:pt x="2249703" y="1472768"/>
                </a:lnTo>
                <a:lnTo>
                  <a:pt x="2286431" y="1452079"/>
                </a:lnTo>
                <a:lnTo>
                  <a:pt x="2322411" y="1430794"/>
                </a:lnTo>
                <a:lnTo>
                  <a:pt x="2357653" y="1408925"/>
                </a:lnTo>
                <a:lnTo>
                  <a:pt x="2392197" y="1386484"/>
                </a:lnTo>
                <a:lnTo>
                  <a:pt x="2426068" y="1363446"/>
                </a:lnTo>
                <a:lnTo>
                  <a:pt x="2459317" y="1339850"/>
                </a:lnTo>
                <a:lnTo>
                  <a:pt x="2491956" y="1315681"/>
                </a:lnTo>
                <a:lnTo>
                  <a:pt x="2524023" y="1290942"/>
                </a:lnTo>
                <a:lnTo>
                  <a:pt x="2555570" y="1265656"/>
                </a:lnTo>
                <a:lnTo>
                  <a:pt x="2586596" y="1239824"/>
                </a:lnTo>
                <a:lnTo>
                  <a:pt x="2617152" y="1213434"/>
                </a:lnTo>
                <a:lnTo>
                  <a:pt x="2647277" y="1186510"/>
                </a:lnTo>
                <a:lnTo>
                  <a:pt x="2676995" y="1159052"/>
                </a:lnTo>
                <a:lnTo>
                  <a:pt x="2706332" y="1131062"/>
                </a:lnTo>
                <a:lnTo>
                  <a:pt x="2735326" y="1102550"/>
                </a:lnTo>
                <a:lnTo>
                  <a:pt x="2764015" y="1073518"/>
                </a:lnTo>
                <a:lnTo>
                  <a:pt x="2792425" y="1043965"/>
                </a:lnTo>
                <a:lnTo>
                  <a:pt x="2820593" y="1013917"/>
                </a:lnTo>
                <a:lnTo>
                  <a:pt x="2848546" y="983361"/>
                </a:lnTo>
                <a:lnTo>
                  <a:pt x="2876321" y="952309"/>
                </a:lnTo>
                <a:lnTo>
                  <a:pt x="2903944" y="920750"/>
                </a:lnTo>
                <a:lnTo>
                  <a:pt x="2931452" y="888720"/>
                </a:lnTo>
                <a:lnTo>
                  <a:pt x="2958884" y="856208"/>
                </a:lnTo>
                <a:lnTo>
                  <a:pt x="2986252" y="823214"/>
                </a:lnTo>
                <a:lnTo>
                  <a:pt x="3013608" y="789749"/>
                </a:lnTo>
                <a:lnTo>
                  <a:pt x="3040977" y="755827"/>
                </a:lnTo>
                <a:lnTo>
                  <a:pt x="3068396" y="721436"/>
                </a:lnTo>
                <a:lnTo>
                  <a:pt x="3095891" y="686587"/>
                </a:lnTo>
                <a:lnTo>
                  <a:pt x="3151251" y="615569"/>
                </a:lnTo>
                <a:lnTo>
                  <a:pt x="3235693" y="505739"/>
                </a:lnTo>
                <a:lnTo>
                  <a:pt x="3265157" y="466902"/>
                </a:lnTo>
                <a:lnTo>
                  <a:pt x="3294049" y="427621"/>
                </a:lnTo>
                <a:lnTo>
                  <a:pt x="3322358" y="387908"/>
                </a:lnTo>
                <a:lnTo>
                  <a:pt x="3350082" y="347751"/>
                </a:lnTo>
                <a:lnTo>
                  <a:pt x="3377222" y="307174"/>
                </a:lnTo>
                <a:lnTo>
                  <a:pt x="3403752" y="266179"/>
                </a:lnTo>
                <a:lnTo>
                  <a:pt x="3429698" y="224764"/>
                </a:lnTo>
                <a:lnTo>
                  <a:pt x="3455022" y="182943"/>
                </a:lnTo>
                <a:lnTo>
                  <a:pt x="3479736" y="140728"/>
                </a:lnTo>
                <a:lnTo>
                  <a:pt x="3503828" y="98107"/>
                </a:lnTo>
                <a:lnTo>
                  <a:pt x="3527285" y="55092"/>
                </a:lnTo>
                <a:lnTo>
                  <a:pt x="3550120" y="11696"/>
                </a:lnTo>
                <a:lnTo>
                  <a:pt x="3556050" y="0"/>
                </a:lnTo>
                <a:close/>
              </a:path>
              <a:path w="6191250" h="4254500">
                <a:moveTo>
                  <a:pt x="6191097" y="0"/>
                </a:moveTo>
                <a:lnTo>
                  <a:pt x="4063555" y="0"/>
                </a:lnTo>
                <a:lnTo>
                  <a:pt x="4042714" y="38100"/>
                </a:lnTo>
                <a:lnTo>
                  <a:pt x="4020731" y="88900"/>
                </a:lnTo>
                <a:lnTo>
                  <a:pt x="4016502" y="101600"/>
                </a:lnTo>
                <a:lnTo>
                  <a:pt x="4008031" y="114300"/>
                </a:lnTo>
                <a:lnTo>
                  <a:pt x="4003789" y="127000"/>
                </a:lnTo>
                <a:lnTo>
                  <a:pt x="3981132" y="177800"/>
                </a:lnTo>
                <a:lnTo>
                  <a:pt x="3957396" y="228600"/>
                </a:lnTo>
                <a:lnTo>
                  <a:pt x="3932834" y="266700"/>
                </a:lnTo>
                <a:lnTo>
                  <a:pt x="3907739" y="317500"/>
                </a:lnTo>
                <a:lnTo>
                  <a:pt x="3882364" y="355600"/>
                </a:lnTo>
                <a:lnTo>
                  <a:pt x="3876459" y="368300"/>
                </a:lnTo>
                <a:lnTo>
                  <a:pt x="3865689" y="393700"/>
                </a:lnTo>
                <a:lnTo>
                  <a:pt x="3859771" y="393700"/>
                </a:lnTo>
                <a:lnTo>
                  <a:pt x="3832644" y="444500"/>
                </a:lnTo>
                <a:lnTo>
                  <a:pt x="3805377" y="482600"/>
                </a:lnTo>
                <a:lnTo>
                  <a:pt x="3777843" y="533400"/>
                </a:lnTo>
                <a:lnTo>
                  <a:pt x="3749891" y="571500"/>
                </a:lnTo>
                <a:lnTo>
                  <a:pt x="3721404" y="622300"/>
                </a:lnTo>
                <a:lnTo>
                  <a:pt x="3715486" y="622300"/>
                </a:lnTo>
                <a:lnTo>
                  <a:pt x="3704729" y="647700"/>
                </a:lnTo>
                <a:lnTo>
                  <a:pt x="3698811" y="647700"/>
                </a:lnTo>
                <a:lnTo>
                  <a:pt x="3667976" y="698500"/>
                </a:lnTo>
                <a:lnTo>
                  <a:pt x="3636467" y="736600"/>
                </a:lnTo>
                <a:lnTo>
                  <a:pt x="3604272" y="774700"/>
                </a:lnTo>
                <a:lnTo>
                  <a:pt x="3571405" y="825500"/>
                </a:lnTo>
                <a:lnTo>
                  <a:pt x="3537851" y="863600"/>
                </a:lnTo>
                <a:lnTo>
                  <a:pt x="3532200" y="863600"/>
                </a:lnTo>
                <a:lnTo>
                  <a:pt x="3529380" y="876300"/>
                </a:lnTo>
                <a:lnTo>
                  <a:pt x="3523729" y="876300"/>
                </a:lnTo>
                <a:lnTo>
                  <a:pt x="3489502" y="914400"/>
                </a:lnTo>
                <a:lnTo>
                  <a:pt x="3454603" y="965200"/>
                </a:lnTo>
                <a:lnTo>
                  <a:pt x="3419017" y="1003300"/>
                </a:lnTo>
                <a:lnTo>
                  <a:pt x="3382759" y="1041400"/>
                </a:lnTo>
                <a:lnTo>
                  <a:pt x="3345827" y="1079500"/>
                </a:lnTo>
                <a:lnTo>
                  <a:pt x="3340176" y="1092200"/>
                </a:lnTo>
                <a:lnTo>
                  <a:pt x="3337356" y="1092200"/>
                </a:lnTo>
                <a:lnTo>
                  <a:pt x="3299764" y="1130300"/>
                </a:lnTo>
                <a:lnTo>
                  <a:pt x="3261626" y="1168400"/>
                </a:lnTo>
                <a:lnTo>
                  <a:pt x="3145332" y="1282700"/>
                </a:lnTo>
                <a:lnTo>
                  <a:pt x="3119920" y="1308100"/>
                </a:lnTo>
                <a:lnTo>
                  <a:pt x="3080626" y="1333500"/>
                </a:lnTo>
                <a:lnTo>
                  <a:pt x="3000565" y="1409700"/>
                </a:lnTo>
                <a:lnTo>
                  <a:pt x="2960065" y="1435100"/>
                </a:lnTo>
                <a:lnTo>
                  <a:pt x="2919425" y="1473200"/>
                </a:lnTo>
                <a:lnTo>
                  <a:pt x="2910954" y="1473200"/>
                </a:lnTo>
                <a:lnTo>
                  <a:pt x="2902483" y="1485900"/>
                </a:lnTo>
                <a:lnTo>
                  <a:pt x="2893999" y="1485900"/>
                </a:lnTo>
                <a:lnTo>
                  <a:pt x="2885529" y="1498600"/>
                </a:lnTo>
                <a:lnTo>
                  <a:pt x="2844533" y="1524000"/>
                </a:lnTo>
                <a:lnTo>
                  <a:pt x="2802852" y="1562100"/>
                </a:lnTo>
                <a:lnTo>
                  <a:pt x="2717457" y="1612900"/>
                </a:lnTo>
                <a:lnTo>
                  <a:pt x="2673743" y="1651000"/>
                </a:lnTo>
                <a:lnTo>
                  <a:pt x="2664828" y="1651000"/>
                </a:lnTo>
                <a:lnTo>
                  <a:pt x="2655392" y="1663700"/>
                </a:lnTo>
                <a:lnTo>
                  <a:pt x="2637028" y="1663700"/>
                </a:lnTo>
                <a:lnTo>
                  <a:pt x="2592667" y="1701800"/>
                </a:lnTo>
                <a:lnTo>
                  <a:pt x="2411120" y="1803400"/>
                </a:lnTo>
                <a:lnTo>
                  <a:pt x="2403094" y="1803400"/>
                </a:lnTo>
                <a:lnTo>
                  <a:pt x="2388082" y="1816100"/>
                </a:lnTo>
                <a:lnTo>
                  <a:pt x="2380056" y="1816100"/>
                </a:lnTo>
                <a:lnTo>
                  <a:pt x="2283815" y="1866900"/>
                </a:lnTo>
                <a:lnTo>
                  <a:pt x="2184870" y="1917700"/>
                </a:lnTo>
                <a:lnTo>
                  <a:pt x="2134374" y="1943100"/>
                </a:lnTo>
                <a:lnTo>
                  <a:pt x="2123084" y="1943100"/>
                </a:lnTo>
                <a:lnTo>
                  <a:pt x="2072233" y="1968500"/>
                </a:lnTo>
                <a:lnTo>
                  <a:pt x="2021243" y="1981200"/>
                </a:lnTo>
                <a:lnTo>
                  <a:pt x="1969985" y="2006600"/>
                </a:lnTo>
                <a:lnTo>
                  <a:pt x="1918322" y="2019300"/>
                </a:lnTo>
                <a:lnTo>
                  <a:pt x="1866112" y="2044700"/>
                </a:lnTo>
                <a:lnTo>
                  <a:pt x="1843519" y="2044700"/>
                </a:lnTo>
                <a:lnTo>
                  <a:pt x="1792376" y="2070100"/>
                </a:lnTo>
                <a:lnTo>
                  <a:pt x="1636217" y="2108200"/>
                </a:lnTo>
                <a:lnTo>
                  <a:pt x="1583715" y="2133600"/>
                </a:lnTo>
                <a:lnTo>
                  <a:pt x="1554327" y="2133600"/>
                </a:lnTo>
                <a:lnTo>
                  <a:pt x="1493012" y="2159000"/>
                </a:lnTo>
                <a:lnTo>
                  <a:pt x="1441170" y="2159000"/>
                </a:lnTo>
                <a:lnTo>
                  <a:pt x="1281557" y="2197100"/>
                </a:lnTo>
                <a:lnTo>
                  <a:pt x="1247406" y="2197100"/>
                </a:lnTo>
                <a:lnTo>
                  <a:pt x="1236383" y="2209800"/>
                </a:lnTo>
                <a:lnTo>
                  <a:pt x="1183538" y="2209800"/>
                </a:lnTo>
                <a:lnTo>
                  <a:pt x="1130160" y="2222500"/>
                </a:lnTo>
                <a:lnTo>
                  <a:pt x="1076363" y="2222500"/>
                </a:lnTo>
                <a:lnTo>
                  <a:pt x="1022311" y="2235200"/>
                </a:lnTo>
                <a:lnTo>
                  <a:pt x="935151" y="2235200"/>
                </a:lnTo>
                <a:lnTo>
                  <a:pt x="922921" y="2247900"/>
                </a:lnTo>
                <a:lnTo>
                  <a:pt x="356743" y="2247900"/>
                </a:lnTo>
                <a:lnTo>
                  <a:pt x="327088" y="2235200"/>
                </a:lnTo>
                <a:lnTo>
                  <a:pt x="216954" y="2235200"/>
                </a:lnTo>
                <a:lnTo>
                  <a:pt x="89877" y="2209800"/>
                </a:lnTo>
                <a:lnTo>
                  <a:pt x="44157" y="2209800"/>
                </a:lnTo>
                <a:lnTo>
                  <a:pt x="0" y="2197100"/>
                </a:lnTo>
                <a:lnTo>
                  <a:pt x="0" y="4216400"/>
                </a:lnTo>
                <a:lnTo>
                  <a:pt x="17767" y="4216400"/>
                </a:lnTo>
                <a:lnTo>
                  <a:pt x="64820" y="4229100"/>
                </a:lnTo>
                <a:lnTo>
                  <a:pt x="159258" y="4229100"/>
                </a:lnTo>
                <a:lnTo>
                  <a:pt x="206641" y="4241800"/>
                </a:lnTo>
                <a:lnTo>
                  <a:pt x="397230" y="4241800"/>
                </a:lnTo>
                <a:lnTo>
                  <a:pt x="445135" y="4254500"/>
                </a:lnTo>
                <a:lnTo>
                  <a:pt x="857224" y="4254500"/>
                </a:lnTo>
                <a:lnTo>
                  <a:pt x="911504" y="4241800"/>
                </a:lnTo>
                <a:lnTo>
                  <a:pt x="1126159" y="4241800"/>
                </a:lnTo>
                <a:lnTo>
                  <a:pt x="1179207" y="4229100"/>
                </a:lnTo>
                <a:lnTo>
                  <a:pt x="1284592" y="4229100"/>
                </a:lnTo>
                <a:lnTo>
                  <a:pt x="1336903" y="4216400"/>
                </a:lnTo>
                <a:lnTo>
                  <a:pt x="1388986" y="4216400"/>
                </a:lnTo>
                <a:lnTo>
                  <a:pt x="1440802" y="4203700"/>
                </a:lnTo>
                <a:lnTo>
                  <a:pt x="1492389" y="4203700"/>
                </a:lnTo>
                <a:lnTo>
                  <a:pt x="1543723" y="4191000"/>
                </a:lnTo>
                <a:lnTo>
                  <a:pt x="1594815" y="4191000"/>
                </a:lnTo>
                <a:lnTo>
                  <a:pt x="1645653" y="4178300"/>
                </a:lnTo>
                <a:lnTo>
                  <a:pt x="1696237" y="4178300"/>
                </a:lnTo>
                <a:lnTo>
                  <a:pt x="1796681" y="4152900"/>
                </a:lnTo>
                <a:lnTo>
                  <a:pt x="1846516" y="4152900"/>
                </a:lnTo>
                <a:lnTo>
                  <a:pt x="2043404" y="4102100"/>
                </a:lnTo>
                <a:lnTo>
                  <a:pt x="2091994" y="4102100"/>
                </a:lnTo>
                <a:lnTo>
                  <a:pt x="2564079" y="3975100"/>
                </a:lnTo>
                <a:lnTo>
                  <a:pt x="2609888" y="3949700"/>
                </a:lnTo>
                <a:lnTo>
                  <a:pt x="2790583" y="3898900"/>
                </a:lnTo>
                <a:lnTo>
                  <a:pt x="2835110" y="3873500"/>
                </a:lnTo>
                <a:lnTo>
                  <a:pt x="2923400" y="3848100"/>
                </a:lnTo>
                <a:lnTo>
                  <a:pt x="2967164" y="3822700"/>
                </a:lnTo>
                <a:lnTo>
                  <a:pt x="3010674" y="3810000"/>
                </a:lnTo>
                <a:lnTo>
                  <a:pt x="3053918" y="3784600"/>
                </a:lnTo>
                <a:lnTo>
                  <a:pt x="3139630" y="3759200"/>
                </a:lnTo>
                <a:lnTo>
                  <a:pt x="3182099" y="3733800"/>
                </a:lnTo>
                <a:lnTo>
                  <a:pt x="3224301" y="3721100"/>
                </a:lnTo>
                <a:lnTo>
                  <a:pt x="3307931" y="3670300"/>
                </a:lnTo>
                <a:lnTo>
                  <a:pt x="3349358" y="3657600"/>
                </a:lnTo>
                <a:lnTo>
                  <a:pt x="3390519" y="3632200"/>
                </a:lnTo>
                <a:lnTo>
                  <a:pt x="3431425" y="3619500"/>
                </a:lnTo>
                <a:lnTo>
                  <a:pt x="3552558" y="3543300"/>
                </a:lnTo>
                <a:lnTo>
                  <a:pt x="3592411" y="3530600"/>
                </a:lnTo>
                <a:lnTo>
                  <a:pt x="3749192" y="3429000"/>
                </a:lnTo>
                <a:lnTo>
                  <a:pt x="3787724" y="3416300"/>
                </a:lnTo>
                <a:lnTo>
                  <a:pt x="3901719" y="3340100"/>
                </a:lnTo>
                <a:lnTo>
                  <a:pt x="4050004" y="3238500"/>
                </a:lnTo>
                <a:lnTo>
                  <a:pt x="4158399" y="3162300"/>
                </a:lnTo>
                <a:lnTo>
                  <a:pt x="4193984" y="3124200"/>
                </a:lnTo>
                <a:lnTo>
                  <a:pt x="4229316" y="3098800"/>
                </a:lnTo>
                <a:lnTo>
                  <a:pt x="4333672" y="3022600"/>
                </a:lnTo>
                <a:lnTo>
                  <a:pt x="4367923" y="2984500"/>
                </a:lnTo>
                <a:lnTo>
                  <a:pt x="4469028" y="2908300"/>
                </a:lnTo>
                <a:lnTo>
                  <a:pt x="4502188" y="2870200"/>
                </a:lnTo>
                <a:lnTo>
                  <a:pt x="4567694" y="2819400"/>
                </a:lnTo>
                <a:lnTo>
                  <a:pt x="4600029" y="2781300"/>
                </a:lnTo>
                <a:lnTo>
                  <a:pt x="4632096" y="2755900"/>
                </a:lnTo>
                <a:lnTo>
                  <a:pt x="4663897" y="2717800"/>
                </a:lnTo>
                <a:lnTo>
                  <a:pt x="4695418" y="2692400"/>
                </a:lnTo>
                <a:lnTo>
                  <a:pt x="4726660" y="2654300"/>
                </a:lnTo>
                <a:lnTo>
                  <a:pt x="4757636" y="2628900"/>
                </a:lnTo>
                <a:lnTo>
                  <a:pt x="4788319" y="2590800"/>
                </a:lnTo>
                <a:lnTo>
                  <a:pt x="4818748" y="2565400"/>
                </a:lnTo>
                <a:lnTo>
                  <a:pt x="4848885" y="2527300"/>
                </a:lnTo>
                <a:lnTo>
                  <a:pt x="4878756" y="2501900"/>
                </a:lnTo>
                <a:lnTo>
                  <a:pt x="4908347" y="2463800"/>
                </a:lnTo>
                <a:lnTo>
                  <a:pt x="4937658" y="2438400"/>
                </a:lnTo>
                <a:lnTo>
                  <a:pt x="4966690" y="2400300"/>
                </a:lnTo>
                <a:lnTo>
                  <a:pt x="4995456" y="2362200"/>
                </a:lnTo>
                <a:lnTo>
                  <a:pt x="5023929" y="2336800"/>
                </a:lnTo>
                <a:lnTo>
                  <a:pt x="5052136" y="2298700"/>
                </a:lnTo>
                <a:lnTo>
                  <a:pt x="5080051" y="2260600"/>
                </a:lnTo>
                <a:lnTo>
                  <a:pt x="5093881" y="2247900"/>
                </a:lnTo>
                <a:lnTo>
                  <a:pt x="5107698" y="2235200"/>
                </a:lnTo>
                <a:lnTo>
                  <a:pt x="5135067" y="2197100"/>
                </a:lnTo>
                <a:lnTo>
                  <a:pt x="5162143" y="2159000"/>
                </a:lnTo>
                <a:lnTo>
                  <a:pt x="5188953" y="2120900"/>
                </a:lnTo>
                <a:lnTo>
                  <a:pt x="5215471" y="2095500"/>
                </a:lnTo>
                <a:lnTo>
                  <a:pt x="5241709" y="2057400"/>
                </a:lnTo>
                <a:lnTo>
                  <a:pt x="5267680" y="2019300"/>
                </a:lnTo>
                <a:lnTo>
                  <a:pt x="5293347" y="1981200"/>
                </a:lnTo>
                <a:lnTo>
                  <a:pt x="5318747" y="1943100"/>
                </a:lnTo>
                <a:lnTo>
                  <a:pt x="5343868" y="1905000"/>
                </a:lnTo>
                <a:lnTo>
                  <a:pt x="5368696" y="1866900"/>
                </a:lnTo>
                <a:lnTo>
                  <a:pt x="5393245" y="1828800"/>
                </a:lnTo>
                <a:lnTo>
                  <a:pt x="5417502" y="1803400"/>
                </a:lnTo>
                <a:lnTo>
                  <a:pt x="5441493" y="1765300"/>
                </a:lnTo>
                <a:lnTo>
                  <a:pt x="5465178" y="1727200"/>
                </a:lnTo>
                <a:lnTo>
                  <a:pt x="5488597" y="1689100"/>
                </a:lnTo>
                <a:lnTo>
                  <a:pt x="5511724" y="1651000"/>
                </a:lnTo>
                <a:lnTo>
                  <a:pt x="5534558" y="1612900"/>
                </a:lnTo>
                <a:lnTo>
                  <a:pt x="5557113" y="1574800"/>
                </a:lnTo>
                <a:lnTo>
                  <a:pt x="5579389" y="1524000"/>
                </a:lnTo>
                <a:lnTo>
                  <a:pt x="5601373" y="1485900"/>
                </a:lnTo>
                <a:lnTo>
                  <a:pt x="5623064" y="1447800"/>
                </a:lnTo>
                <a:lnTo>
                  <a:pt x="5644477" y="1409700"/>
                </a:lnTo>
                <a:lnTo>
                  <a:pt x="5665597" y="1371600"/>
                </a:lnTo>
                <a:lnTo>
                  <a:pt x="5686425" y="1333500"/>
                </a:lnTo>
                <a:lnTo>
                  <a:pt x="5706973" y="1295400"/>
                </a:lnTo>
                <a:lnTo>
                  <a:pt x="5727230" y="1257300"/>
                </a:lnTo>
                <a:lnTo>
                  <a:pt x="5747207" y="1206500"/>
                </a:lnTo>
                <a:lnTo>
                  <a:pt x="5766879" y="1168400"/>
                </a:lnTo>
                <a:lnTo>
                  <a:pt x="5786272" y="1130300"/>
                </a:lnTo>
                <a:lnTo>
                  <a:pt x="5805373" y="1092200"/>
                </a:lnTo>
                <a:lnTo>
                  <a:pt x="5824182" y="1054100"/>
                </a:lnTo>
                <a:lnTo>
                  <a:pt x="5842698" y="1003300"/>
                </a:lnTo>
                <a:lnTo>
                  <a:pt x="5860923" y="965200"/>
                </a:lnTo>
                <a:lnTo>
                  <a:pt x="5878855" y="927100"/>
                </a:lnTo>
                <a:lnTo>
                  <a:pt x="5896495" y="876300"/>
                </a:lnTo>
                <a:lnTo>
                  <a:pt x="5913856" y="838200"/>
                </a:lnTo>
                <a:lnTo>
                  <a:pt x="5930912" y="800100"/>
                </a:lnTo>
                <a:lnTo>
                  <a:pt x="5947676" y="749300"/>
                </a:lnTo>
                <a:lnTo>
                  <a:pt x="5964148" y="711200"/>
                </a:lnTo>
                <a:lnTo>
                  <a:pt x="5980328" y="673100"/>
                </a:lnTo>
                <a:lnTo>
                  <a:pt x="5996216" y="622300"/>
                </a:lnTo>
                <a:lnTo>
                  <a:pt x="6011799" y="584200"/>
                </a:lnTo>
                <a:lnTo>
                  <a:pt x="6027102" y="546100"/>
                </a:lnTo>
                <a:lnTo>
                  <a:pt x="6042101" y="495300"/>
                </a:lnTo>
                <a:lnTo>
                  <a:pt x="6056808" y="457200"/>
                </a:lnTo>
                <a:lnTo>
                  <a:pt x="6071209" y="406400"/>
                </a:lnTo>
                <a:lnTo>
                  <a:pt x="6085332" y="368300"/>
                </a:lnTo>
                <a:lnTo>
                  <a:pt x="6099149" y="317500"/>
                </a:lnTo>
                <a:lnTo>
                  <a:pt x="6112662" y="279400"/>
                </a:lnTo>
                <a:lnTo>
                  <a:pt x="6125883" y="228600"/>
                </a:lnTo>
                <a:lnTo>
                  <a:pt x="6138811" y="190500"/>
                </a:lnTo>
                <a:lnTo>
                  <a:pt x="6151448" y="139700"/>
                </a:lnTo>
                <a:lnTo>
                  <a:pt x="6163767" y="101600"/>
                </a:lnTo>
                <a:lnTo>
                  <a:pt x="6175807" y="50800"/>
                </a:lnTo>
                <a:lnTo>
                  <a:pt x="6187529" y="12700"/>
                </a:lnTo>
                <a:lnTo>
                  <a:pt x="6191097" y="0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74881" y="0"/>
            <a:ext cx="5313117" cy="10286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4481" y="4949018"/>
            <a:ext cx="5784421" cy="39594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932970" y="2262850"/>
            <a:ext cx="5434330" cy="705485"/>
          </a:xfrm>
          <a:custGeom>
            <a:avLst/>
            <a:gdLst/>
            <a:ahLst/>
            <a:cxnLst/>
            <a:rect l="l" t="t" r="r" b="b"/>
            <a:pathLst>
              <a:path w="5434330" h="705485">
                <a:moveTo>
                  <a:pt x="5234024" y="705218"/>
                </a:moveTo>
                <a:lnTo>
                  <a:pt x="200024" y="705218"/>
                </a:lnTo>
                <a:lnTo>
                  <a:pt x="160819" y="701339"/>
                </a:lnTo>
                <a:lnTo>
                  <a:pt x="123478" y="689992"/>
                </a:lnTo>
                <a:lnTo>
                  <a:pt x="89051" y="671611"/>
                </a:lnTo>
                <a:lnTo>
                  <a:pt x="58586" y="646632"/>
                </a:lnTo>
                <a:lnTo>
                  <a:pt x="33606" y="616167"/>
                </a:lnTo>
                <a:lnTo>
                  <a:pt x="15226" y="581739"/>
                </a:lnTo>
                <a:lnTo>
                  <a:pt x="3878" y="544398"/>
                </a:lnTo>
                <a:lnTo>
                  <a:pt x="0" y="505193"/>
                </a:lnTo>
                <a:lnTo>
                  <a:pt x="0" y="200024"/>
                </a:lnTo>
                <a:lnTo>
                  <a:pt x="3878" y="160819"/>
                </a:lnTo>
                <a:lnTo>
                  <a:pt x="15226" y="123478"/>
                </a:lnTo>
                <a:lnTo>
                  <a:pt x="33606" y="89051"/>
                </a:lnTo>
                <a:lnTo>
                  <a:pt x="58586" y="58586"/>
                </a:lnTo>
                <a:lnTo>
                  <a:pt x="89051" y="33606"/>
                </a:lnTo>
                <a:lnTo>
                  <a:pt x="123478" y="15226"/>
                </a:lnTo>
                <a:lnTo>
                  <a:pt x="160819" y="3878"/>
                </a:lnTo>
                <a:lnTo>
                  <a:pt x="200024" y="0"/>
                </a:lnTo>
                <a:lnTo>
                  <a:pt x="5234024" y="0"/>
                </a:lnTo>
                <a:lnTo>
                  <a:pt x="5273229" y="3878"/>
                </a:lnTo>
                <a:lnTo>
                  <a:pt x="5310571" y="15226"/>
                </a:lnTo>
                <a:lnTo>
                  <a:pt x="5344998" y="33606"/>
                </a:lnTo>
                <a:lnTo>
                  <a:pt x="5375463" y="58586"/>
                </a:lnTo>
                <a:lnTo>
                  <a:pt x="5400442" y="89051"/>
                </a:lnTo>
                <a:lnTo>
                  <a:pt x="5418823" y="123478"/>
                </a:lnTo>
                <a:lnTo>
                  <a:pt x="5430170" y="160819"/>
                </a:lnTo>
                <a:lnTo>
                  <a:pt x="5434049" y="200024"/>
                </a:lnTo>
                <a:lnTo>
                  <a:pt x="5434049" y="505193"/>
                </a:lnTo>
                <a:lnTo>
                  <a:pt x="5430170" y="544398"/>
                </a:lnTo>
                <a:lnTo>
                  <a:pt x="5418823" y="581739"/>
                </a:lnTo>
                <a:lnTo>
                  <a:pt x="5400442" y="616167"/>
                </a:lnTo>
                <a:lnTo>
                  <a:pt x="5375463" y="646632"/>
                </a:lnTo>
                <a:lnTo>
                  <a:pt x="5344998" y="671611"/>
                </a:lnTo>
                <a:lnTo>
                  <a:pt x="5310571" y="689992"/>
                </a:lnTo>
                <a:lnTo>
                  <a:pt x="5273229" y="701339"/>
                </a:lnTo>
                <a:lnTo>
                  <a:pt x="5234024" y="70521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932970" y="3253947"/>
            <a:ext cx="5434330" cy="705485"/>
          </a:xfrm>
          <a:custGeom>
            <a:avLst/>
            <a:gdLst/>
            <a:ahLst/>
            <a:cxnLst/>
            <a:rect l="l" t="t" r="r" b="b"/>
            <a:pathLst>
              <a:path w="5434330" h="705485">
                <a:moveTo>
                  <a:pt x="5234024" y="705218"/>
                </a:moveTo>
                <a:lnTo>
                  <a:pt x="200024" y="705218"/>
                </a:lnTo>
                <a:lnTo>
                  <a:pt x="160819" y="701339"/>
                </a:lnTo>
                <a:lnTo>
                  <a:pt x="123478" y="689992"/>
                </a:lnTo>
                <a:lnTo>
                  <a:pt x="89051" y="671611"/>
                </a:lnTo>
                <a:lnTo>
                  <a:pt x="58586" y="646632"/>
                </a:lnTo>
                <a:lnTo>
                  <a:pt x="33606" y="616167"/>
                </a:lnTo>
                <a:lnTo>
                  <a:pt x="15226" y="581739"/>
                </a:lnTo>
                <a:lnTo>
                  <a:pt x="3878" y="544398"/>
                </a:lnTo>
                <a:lnTo>
                  <a:pt x="0" y="505193"/>
                </a:lnTo>
                <a:lnTo>
                  <a:pt x="0" y="200024"/>
                </a:lnTo>
                <a:lnTo>
                  <a:pt x="3878" y="160819"/>
                </a:lnTo>
                <a:lnTo>
                  <a:pt x="15226" y="123478"/>
                </a:lnTo>
                <a:lnTo>
                  <a:pt x="33606" y="89050"/>
                </a:lnTo>
                <a:lnTo>
                  <a:pt x="58586" y="58585"/>
                </a:lnTo>
                <a:lnTo>
                  <a:pt x="89051" y="33606"/>
                </a:lnTo>
                <a:lnTo>
                  <a:pt x="123478" y="15226"/>
                </a:lnTo>
                <a:lnTo>
                  <a:pt x="160819" y="3878"/>
                </a:lnTo>
                <a:lnTo>
                  <a:pt x="200024" y="0"/>
                </a:lnTo>
                <a:lnTo>
                  <a:pt x="5234024" y="0"/>
                </a:lnTo>
                <a:lnTo>
                  <a:pt x="5273229" y="3878"/>
                </a:lnTo>
                <a:lnTo>
                  <a:pt x="5310571" y="15226"/>
                </a:lnTo>
                <a:lnTo>
                  <a:pt x="5344998" y="33606"/>
                </a:lnTo>
                <a:lnTo>
                  <a:pt x="5375463" y="58585"/>
                </a:lnTo>
                <a:lnTo>
                  <a:pt x="5400442" y="89050"/>
                </a:lnTo>
                <a:lnTo>
                  <a:pt x="5418823" y="123478"/>
                </a:lnTo>
                <a:lnTo>
                  <a:pt x="5430170" y="160819"/>
                </a:lnTo>
                <a:lnTo>
                  <a:pt x="5434049" y="200024"/>
                </a:lnTo>
                <a:lnTo>
                  <a:pt x="5434049" y="505193"/>
                </a:lnTo>
                <a:lnTo>
                  <a:pt x="5430170" y="544398"/>
                </a:lnTo>
                <a:lnTo>
                  <a:pt x="5418823" y="581739"/>
                </a:lnTo>
                <a:lnTo>
                  <a:pt x="5400442" y="616167"/>
                </a:lnTo>
                <a:lnTo>
                  <a:pt x="5375463" y="646632"/>
                </a:lnTo>
                <a:lnTo>
                  <a:pt x="5344998" y="671611"/>
                </a:lnTo>
                <a:lnTo>
                  <a:pt x="5310571" y="689992"/>
                </a:lnTo>
                <a:lnTo>
                  <a:pt x="5273229" y="701339"/>
                </a:lnTo>
                <a:lnTo>
                  <a:pt x="5234024" y="70521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32970" y="4243799"/>
            <a:ext cx="5434330" cy="705485"/>
          </a:xfrm>
          <a:custGeom>
            <a:avLst/>
            <a:gdLst/>
            <a:ahLst/>
            <a:cxnLst/>
            <a:rect l="l" t="t" r="r" b="b"/>
            <a:pathLst>
              <a:path w="5434330" h="705485">
                <a:moveTo>
                  <a:pt x="5234024" y="705218"/>
                </a:moveTo>
                <a:lnTo>
                  <a:pt x="200024" y="705218"/>
                </a:lnTo>
                <a:lnTo>
                  <a:pt x="160819" y="701339"/>
                </a:lnTo>
                <a:lnTo>
                  <a:pt x="123478" y="689992"/>
                </a:lnTo>
                <a:lnTo>
                  <a:pt x="89051" y="671611"/>
                </a:lnTo>
                <a:lnTo>
                  <a:pt x="58586" y="646632"/>
                </a:lnTo>
                <a:lnTo>
                  <a:pt x="33606" y="616167"/>
                </a:lnTo>
                <a:lnTo>
                  <a:pt x="15226" y="581739"/>
                </a:lnTo>
                <a:lnTo>
                  <a:pt x="3878" y="544398"/>
                </a:lnTo>
                <a:lnTo>
                  <a:pt x="0" y="505193"/>
                </a:lnTo>
                <a:lnTo>
                  <a:pt x="0" y="200024"/>
                </a:lnTo>
                <a:lnTo>
                  <a:pt x="3878" y="160819"/>
                </a:lnTo>
                <a:lnTo>
                  <a:pt x="15226" y="123478"/>
                </a:lnTo>
                <a:lnTo>
                  <a:pt x="33606" y="89050"/>
                </a:lnTo>
                <a:lnTo>
                  <a:pt x="58586" y="58585"/>
                </a:lnTo>
                <a:lnTo>
                  <a:pt x="89051" y="33606"/>
                </a:lnTo>
                <a:lnTo>
                  <a:pt x="123478" y="15225"/>
                </a:lnTo>
                <a:lnTo>
                  <a:pt x="160819" y="3878"/>
                </a:lnTo>
                <a:lnTo>
                  <a:pt x="200024" y="0"/>
                </a:lnTo>
                <a:lnTo>
                  <a:pt x="5234024" y="0"/>
                </a:lnTo>
                <a:lnTo>
                  <a:pt x="5273229" y="3878"/>
                </a:lnTo>
                <a:lnTo>
                  <a:pt x="5310571" y="15225"/>
                </a:lnTo>
                <a:lnTo>
                  <a:pt x="5344998" y="33606"/>
                </a:lnTo>
                <a:lnTo>
                  <a:pt x="5375463" y="58585"/>
                </a:lnTo>
                <a:lnTo>
                  <a:pt x="5400442" y="89050"/>
                </a:lnTo>
                <a:lnTo>
                  <a:pt x="5418823" y="123478"/>
                </a:lnTo>
                <a:lnTo>
                  <a:pt x="5430170" y="160819"/>
                </a:lnTo>
                <a:lnTo>
                  <a:pt x="5434049" y="200024"/>
                </a:lnTo>
                <a:lnTo>
                  <a:pt x="5434049" y="505193"/>
                </a:lnTo>
                <a:lnTo>
                  <a:pt x="5430170" y="544398"/>
                </a:lnTo>
                <a:lnTo>
                  <a:pt x="5418823" y="581739"/>
                </a:lnTo>
                <a:lnTo>
                  <a:pt x="5400442" y="616167"/>
                </a:lnTo>
                <a:lnTo>
                  <a:pt x="5375463" y="646632"/>
                </a:lnTo>
                <a:lnTo>
                  <a:pt x="5344998" y="671611"/>
                </a:lnTo>
                <a:lnTo>
                  <a:pt x="5310571" y="689992"/>
                </a:lnTo>
                <a:lnTo>
                  <a:pt x="5273229" y="701339"/>
                </a:lnTo>
                <a:lnTo>
                  <a:pt x="5234024" y="70521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32970" y="5233652"/>
            <a:ext cx="5434330" cy="705485"/>
          </a:xfrm>
          <a:custGeom>
            <a:avLst/>
            <a:gdLst/>
            <a:ahLst/>
            <a:cxnLst/>
            <a:rect l="l" t="t" r="r" b="b"/>
            <a:pathLst>
              <a:path w="5434330" h="705485">
                <a:moveTo>
                  <a:pt x="5234024" y="705218"/>
                </a:moveTo>
                <a:lnTo>
                  <a:pt x="200024" y="705218"/>
                </a:lnTo>
                <a:lnTo>
                  <a:pt x="160819" y="701339"/>
                </a:lnTo>
                <a:lnTo>
                  <a:pt x="123478" y="689992"/>
                </a:lnTo>
                <a:lnTo>
                  <a:pt x="89051" y="671611"/>
                </a:lnTo>
                <a:lnTo>
                  <a:pt x="58586" y="646632"/>
                </a:lnTo>
                <a:lnTo>
                  <a:pt x="33606" y="616167"/>
                </a:lnTo>
                <a:lnTo>
                  <a:pt x="15226" y="581739"/>
                </a:lnTo>
                <a:lnTo>
                  <a:pt x="3878" y="544398"/>
                </a:lnTo>
                <a:lnTo>
                  <a:pt x="0" y="505193"/>
                </a:lnTo>
                <a:lnTo>
                  <a:pt x="0" y="200024"/>
                </a:lnTo>
                <a:lnTo>
                  <a:pt x="3878" y="160819"/>
                </a:lnTo>
                <a:lnTo>
                  <a:pt x="15226" y="123478"/>
                </a:lnTo>
                <a:lnTo>
                  <a:pt x="33606" y="89051"/>
                </a:lnTo>
                <a:lnTo>
                  <a:pt x="58586" y="58585"/>
                </a:lnTo>
                <a:lnTo>
                  <a:pt x="89051" y="33606"/>
                </a:lnTo>
                <a:lnTo>
                  <a:pt x="123478" y="15226"/>
                </a:lnTo>
                <a:lnTo>
                  <a:pt x="160819" y="3878"/>
                </a:lnTo>
                <a:lnTo>
                  <a:pt x="200024" y="0"/>
                </a:lnTo>
                <a:lnTo>
                  <a:pt x="5234024" y="0"/>
                </a:lnTo>
                <a:lnTo>
                  <a:pt x="5273229" y="3878"/>
                </a:lnTo>
                <a:lnTo>
                  <a:pt x="5310571" y="15226"/>
                </a:lnTo>
                <a:lnTo>
                  <a:pt x="5344998" y="33606"/>
                </a:lnTo>
                <a:lnTo>
                  <a:pt x="5375463" y="58585"/>
                </a:lnTo>
                <a:lnTo>
                  <a:pt x="5400442" y="89051"/>
                </a:lnTo>
                <a:lnTo>
                  <a:pt x="5418823" y="123478"/>
                </a:lnTo>
                <a:lnTo>
                  <a:pt x="5430170" y="160819"/>
                </a:lnTo>
                <a:lnTo>
                  <a:pt x="5434049" y="200024"/>
                </a:lnTo>
                <a:lnTo>
                  <a:pt x="5434049" y="505193"/>
                </a:lnTo>
                <a:lnTo>
                  <a:pt x="5430170" y="544398"/>
                </a:lnTo>
                <a:lnTo>
                  <a:pt x="5418823" y="581739"/>
                </a:lnTo>
                <a:lnTo>
                  <a:pt x="5400442" y="616167"/>
                </a:lnTo>
                <a:lnTo>
                  <a:pt x="5375463" y="646632"/>
                </a:lnTo>
                <a:lnTo>
                  <a:pt x="5344998" y="671611"/>
                </a:lnTo>
                <a:lnTo>
                  <a:pt x="5310571" y="689992"/>
                </a:lnTo>
                <a:lnTo>
                  <a:pt x="5273229" y="701339"/>
                </a:lnTo>
                <a:lnTo>
                  <a:pt x="5234024" y="70521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32970" y="6223505"/>
            <a:ext cx="5434330" cy="705485"/>
          </a:xfrm>
          <a:custGeom>
            <a:avLst/>
            <a:gdLst/>
            <a:ahLst/>
            <a:cxnLst/>
            <a:rect l="l" t="t" r="r" b="b"/>
            <a:pathLst>
              <a:path w="5434330" h="705484">
                <a:moveTo>
                  <a:pt x="5234024" y="705218"/>
                </a:moveTo>
                <a:lnTo>
                  <a:pt x="200024" y="705218"/>
                </a:lnTo>
                <a:lnTo>
                  <a:pt x="160819" y="701339"/>
                </a:lnTo>
                <a:lnTo>
                  <a:pt x="123478" y="689992"/>
                </a:lnTo>
                <a:lnTo>
                  <a:pt x="89051" y="671611"/>
                </a:lnTo>
                <a:lnTo>
                  <a:pt x="58586" y="646632"/>
                </a:lnTo>
                <a:lnTo>
                  <a:pt x="33606" y="616167"/>
                </a:lnTo>
                <a:lnTo>
                  <a:pt x="15226" y="581739"/>
                </a:lnTo>
                <a:lnTo>
                  <a:pt x="3878" y="544398"/>
                </a:lnTo>
                <a:lnTo>
                  <a:pt x="0" y="505193"/>
                </a:lnTo>
                <a:lnTo>
                  <a:pt x="0" y="200024"/>
                </a:lnTo>
                <a:lnTo>
                  <a:pt x="3878" y="160819"/>
                </a:lnTo>
                <a:lnTo>
                  <a:pt x="15226" y="123478"/>
                </a:lnTo>
                <a:lnTo>
                  <a:pt x="33606" y="89051"/>
                </a:lnTo>
                <a:lnTo>
                  <a:pt x="58586" y="58586"/>
                </a:lnTo>
                <a:lnTo>
                  <a:pt x="89051" y="33606"/>
                </a:lnTo>
                <a:lnTo>
                  <a:pt x="123478" y="15226"/>
                </a:lnTo>
                <a:lnTo>
                  <a:pt x="160819" y="3878"/>
                </a:lnTo>
                <a:lnTo>
                  <a:pt x="200024" y="0"/>
                </a:lnTo>
                <a:lnTo>
                  <a:pt x="5234024" y="0"/>
                </a:lnTo>
                <a:lnTo>
                  <a:pt x="5273229" y="3878"/>
                </a:lnTo>
                <a:lnTo>
                  <a:pt x="5310571" y="15226"/>
                </a:lnTo>
                <a:lnTo>
                  <a:pt x="5344998" y="33606"/>
                </a:lnTo>
                <a:lnTo>
                  <a:pt x="5375463" y="58586"/>
                </a:lnTo>
                <a:lnTo>
                  <a:pt x="5400442" y="89051"/>
                </a:lnTo>
                <a:lnTo>
                  <a:pt x="5418823" y="123478"/>
                </a:lnTo>
                <a:lnTo>
                  <a:pt x="5430170" y="160819"/>
                </a:lnTo>
                <a:lnTo>
                  <a:pt x="5434049" y="200024"/>
                </a:lnTo>
                <a:lnTo>
                  <a:pt x="5434049" y="505193"/>
                </a:lnTo>
                <a:lnTo>
                  <a:pt x="5430170" y="544398"/>
                </a:lnTo>
                <a:lnTo>
                  <a:pt x="5418823" y="581739"/>
                </a:lnTo>
                <a:lnTo>
                  <a:pt x="5400442" y="616167"/>
                </a:lnTo>
                <a:lnTo>
                  <a:pt x="5375463" y="646632"/>
                </a:lnTo>
                <a:lnTo>
                  <a:pt x="5344998" y="671611"/>
                </a:lnTo>
                <a:lnTo>
                  <a:pt x="5310571" y="689992"/>
                </a:lnTo>
                <a:lnTo>
                  <a:pt x="5273229" y="701339"/>
                </a:lnTo>
                <a:lnTo>
                  <a:pt x="5234024" y="70521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32970" y="7213358"/>
            <a:ext cx="5434330" cy="705485"/>
          </a:xfrm>
          <a:custGeom>
            <a:avLst/>
            <a:gdLst/>
            <a:ahLst/>
            <a:cxnLst/>
            <a:rect l="l" t="t" r="r" b="b"/>
            <a:pathLst>
              <a:path w="5434330" h="705484">
                <a:moveTo>
                  <a:pt x="5234024" y="705218"/>
                </a:moveTo>
                <a:lnTo>
                  <a:pt x="200024" y="705218"/>
                </a:lnTo>
                <a:lnTo>
                  <a:pt x="160819" y="701339"/>
                </a:lnTo>
                <a:lnTo>
                  <a:pt x="123478" y="689992"/>
                </a:lnTo>
                <a:lnTo>
                  <a:pt x="89051" y="671611"/>
                </a:lnTo>
                <a:lnTo>
                  <a:pt x="58586" y="646632"/>
                </a:lnTo>
                <a:lnTo>
                  <a:pt x="33606" y="616167"/>
                </a:lnTo>
                <a:lnTo>
                  <a:pt x="15226" y="581739"/>
                </a:lnTo>
                <a:lnTo>
                  <a:pt x="3878" y="544398"/>
                </a:lnTo>
                <a:lnTo>
                  <a:pt x="0" y="505193"/>
                </a:lnTo>
                <a:lnTo>
                  <a:pt x="0" y="200024"/>
                </a:lnTo>
                <a:lnTo>
                  <a:pt x="3878" y="160819"/>
                </a:lnTo>
                <a:lnTo>
                  <a:pt x="15226" y="123478"/>
                </a:lnTo>
                <a:lnTo>
                  <a:pt x="33606" y="89051"/>
                </a:lnTo>
                <a:lnTo>
                  <a:pt x="58586" y="58586"/>
                </a:lnTo>
                <a:lnTo>
                  <a:pt x="89051" y="33606"/>
                </a:lnTo>
                <a:lnTo>
                  <a:pt x="123478" y="15226"/>
                </a:lnTo>
                <a:lnTo>
                  <a:pt x="160819" y="3878"/>
                </a:lnTo>
                <a:lnTo>
                  <a:pt x="200024" y="0"/>
                </a:lnTo>
                <a:lnTo>
                  <a:pt x="5234024" y="0"/>
                </a:lnTo>
                <a:lnTo>
                  <a:pt x="5273229" y="3878"/>
                </a:lnTo>
                <a:lnTo>
                  <a:pt x="5310571" y="15226"/>
                </a:lnTo>
                <a:lnTo>
                  <a:pt x="5344998" y="33606"/>
                </a:lnTo>
                <a:lnTo>
                  <a:pt x="5375463" y="58586"/>
                </a:lnTo>
                <a:lnTo>
                  <a:pt x="5400442" y="89051"/>
                </a:lnTo>
                <a:lnTo>
                  <a:pt x="5418823" y="123478"/>
                </a:lnTo>
                <a:lnTo>
                  <a:pt x="5430170" y="160819"/>
                </a:lnTo>
                <a:lnTo>
                  <a:pt x="5434049" y="200024"/>
                </a:lnTo>
                <a:lnTo>
                  <a:pt x="5434049" y="505193"/>
                </a:lnTo>
                <a:lnTo>
                  <a:pt x="5430170" y="544398"/>
                </a:lnTo>
                <a:lnTo>
                  <a:pt x="5418823" y="581739"/>
                </a:lnTo>
                <a:lnTo>
                  <a:pt x="5400442" y="616167"/>
                </a:lnTo>
                <a:lnTo>
                  <a:pt x="5375463" y="646632"/>
                </a:lnTo>
                <a:lnTo>
                  <a:pt x="5344998" y="671611"/>
                </a:lnTo>
                <a:lnTo>
                  <a:pt x="5310571" y="689992"/>
                </a:lnTo>
                <a:lnTo>
                  <a:pt x="5273229" y="701339"/>
                </a:lnTo>
                <a:lnTo>
                  <a:pt x="5234024" y="70521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32970" y="8203211"/>
            <a:ext cx="5434330" cy="705485"/>
          </a:xfrm>
          <a:custGeom>
            <a:avLst/>
            <a:gdLst/>
            <a:ahLst/>
            <a:cxnLst/>
            <a:rect l="l" t="t" r="r" b="b"/>
            <a:pathLst>
              <a:path w="5434330" h="705484">
                <a:moveTo>
                  <a:pt x="5234024" y="705218"/>
                </a:moveTo>
                <a:lnTo>
                  <a:pt x="200024" y="705218"/>
                </a:lnTo>
                <a:lnTo>
                  <a:pt x="160819" y="701339"/>
                </a:lnTo>
                <a:lnTo>
                  <a:pt x="123478" y="689992"/>
                </a:lnTo>
                <a:lnTo>
                  <a:pt x="89051" y="671611"/>
                </a:lnTo>
                <a:lnTo>
                  <a:pt x="58586" y="646631"/>
                </a:lnTo>
                <a:lnTo>
                  <a:pt x="33606" y="616166"/>
                </a:lnTo>
                <a:lnTo>
                  <a:pt x="15226" y="581739"/>
                </a:lnTo>
                <a:lnTo>
                  <a:pt x="3878" y="544398"/>
                </a:lnTo>
                <a:lnTo>
                  <a:pt x="0" y="505193"/>
                </a:lnTo>
                <a:lnTo>
                  <a:pt x="0" y="200024"/>
                </a:lnTo>
                <a:lnTo>
                  <a:pt x="3878" y="160819"/>
                </a:lnTo>
                <a:lnTo>
                  <a:pt x="15226" y="123478"/>
                </a:lnTo>
                <a:lnTo>
                  <a:pt x="33606" y="89051"/>
                </a:lnTo>
                <a:lnTo>
                  <a:pt x="58586" y="58586"/>
                </a:lnTo>
                <a:lnTo>
                  <a:pt x="89051" y="33606"/>
                </a:lnTo>
                <a:lnTo>
                  <a:pt x="123478" y="15225"/>
                </a:lnTo>
                <a:lnTo>
                  <a:pt x="160819" y="3878"/>
                </a:lnTo>
                <a:lnTo>
                  <a:pt x="200024" y="0"/>
                </a:lnTo>
                <a:lnTo>
                  <a:pt x="5234024" y="0"/>
                </a:lnTo>
                <a:lnTo>
                  <a:pt x="5273229" y="3878"/>
                </a:lnTo>
                <a:lnTo>
                  <a:pt x="5310571" y="15225"/>
                </a:lnTo>
                <a:lnTo>
                  <a:pt x="5344998" y="33606"/>
                </a:lnTo>
                <a:lnTo>
                  <a:pt x="5375463" y="58586"/>
                </a:lnTo>
                <a:lnTo>
                  <a:pt x="5400442" y="89051"/>
                </a:lnTo>
                <a:lnTo>
                  <a:pt x="5418823" y="123478"/>
                </a:lnTo>
                <a:lnTo>
                  <a:pt x="5430170" y="160819"/>
                </a:lnTo>
                <a:lnTo>
                  <a:pt x="5434049" y="200024"/>
                </a:lnTo>
                <a:lnTo>
                  <a:pt x="5434049" y="505193"/>
                </a:lnTo>
                <a:lnTo>
                  <a:pt x="5430170" y="544398"/>
                </a:lnTo>
                <a:lnTo>
                  <a:pt x="5418823" y="581739"/>
                </a:lnTo>
                <a:lnTo>
                  <a:pt x="5400442" y="616166"/>
                </a:lnTo>
                <a:lnTo>
                  <a:pt x="5375463" y="646631"/>
                </a:lnTo>
                <a:lnTo>
                  <a:pt x="5344998" y="671611"/>
                </a:lnTo>
                <a:lnTo>
                  <a:pt x="5310571" y="689992"/>
                </a:lnTo>
                <a:lnTo>
                  <a:pt x="5273229" y="701339"/>
                </a:lnTo>
                <a:lnTo>
                  <a:pt x="5234024" y="70521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410747" y="2426647"/>
            <a:ext cx="344614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Introduction</a:t>
            </a:r>
            <a:r>
              <a:rPr sz="20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0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Waverley</a:t>
            </a:r>
            <a:r>
              <a:rPr sz="20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Labs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215066" y="1530345"/>
            <a:ext cx="3957954" cy="1135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250" spc="-75" dirty="0">
                <a:solidFill>
                  <a:srgbClr val="26DDDE"/>
                </a:solidFill>
              </a:rPr>
              <a:t>AGENDA</a:t>
            </a:r>
            <a:endParaRPr sz="7250"/>
          </a:p>
        </p:txBody>
      </p:sp>
      <p:sp>
        <p:nvSpPr>
          <p:cNvPr id="14" name="object 14"/>
          <p:cNvSpPr txBox="1"/>
          <p:nvPr/>
        </p:nvSpPr>
        <p:spPr>
          <a:xfrm>
            <a:off x="9401222" y="3419600"/>
            <a:ext cx="3973195" cy="5283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35"/>
              </a:spcBef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0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Core</a:t>
            </a:r>
            <a:r>
              <a:rPr sz="20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Framework</a:t>
            </a:r>
            <a:endParaRPr sz="2000">
              <a:latin typeface="Arial MT"/>
              <a:cs typeface="Arial MT"/>
            </a:endParaRPr>
          </a:p>
          <a:p>
            <a:pPr marL="12700" marR="5080" indent="9525">
              <a:lnSpc>
                <a:spcPts val="7790"/>
              </a:lnSpc>
              <a:spcBef>
                <a:spcPts val="950"/>
              </a:spcBef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Alignment</a:t>
            </a:r>
            <a:r>
              <a:rPr sz="20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20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NIST</a:t>
            </a:r>
            <a:r>
              <a:rPr sz="20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Framework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sz="20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Components</a:t>
            </a:r>
            <a:r>
              <a:rPr sz="20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0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Architecture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Implementation</a:t>
            </a:r>
            <a:r>
              <a:rPr sz="200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00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Tools</a:t>
            </a:r>
            <a:r>
              <a:rPr sz="2000" spc="5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Benefits</a:t>
            </a:r>
            <a:r>
              <a:rPr sz="20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0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r>
              <a:rPr sz="20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Reduction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Challenges</a:t>
            </a:r>
            <a:r>
              <a:rPr sz="20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0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Best</a:t>
            </a:r>
            <a:r>
              <a:rPr sz="20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Practices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835888" cy="102705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54963" y="0"/>
            <a:ext cx="7233036" cy="10287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61416" y="1445568"/>
            <a:ext cx="6978650" cy="2232025"/>
          </a:xfrm>
          <a:prstGeom prst="rect">
            <a:avLst/>
          </a:prstGeom>
        </p:spPr>
        <p:txBody>
          <a:bodyPr vert="horz" wrap="square" lIns="0" tIns="243205" rIns="0" bIns="0" rtlCol="0">
            <a:spAutoFit/>
          </a:bodyPr>
          <a:lstStyle/>
          <a:p>
            <a:pPr marL="12700" marR="5080">
              <a:lnSpc>
                <a:spcPts val="7750"/>
              </a:lnSpc>
              <a:spcBef>
                <a:spcPts val="1915"/>
              </a:spcBef>
            </a:pPr>
            <a:r>
              <a:rPr sz="8000" spc="-110" dirty="0"/>
              <a:t>Introduction</a:t>
            </a:r>
            <a:r>
              <a:rPr sz="8000" spc="-365" dirty="0"/>
              <a:t> </a:t>
            </a:r>
            <a:r>
              <a:rPr sz="8000" spc="-25" dirty="0"/>
              <a:t>to </a:t>
            </a:r>
            <a:r>
              <a:rPr sz="8000" spc="-95" dirty="0"/>
              <a:t>Waverley</a:t>
            </a:r>
            <a:r>
              <a:rPr sz="8000" spc="-415" dirty="0"/>
              <a:t> </a:t>
            </a:r>
            <a:r>
              <a:rPr sz="8000" spc="-50" dirty="0"/>
              <a:t>Labs</a:t>
            </a:r>
            <a:endParaRPr sz="8000"/>
          </a:p>
        </p:txBody>
      </p:sp>
      <p:sp>
        <p:nvSpPr>
          <p:cNvPr id="5" name="object 5"/>
          <p:cNvSpPr txBox="1"/>
          <p:nvPr/>
        </p:nvSpPr>
        <p:spPr>
          <a:xfrm>
            <a:off x="11222494" y="4493847"/>
            <a:ext cx="2788285" cy="540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b="1" spc="-10" dirty="0">
                <a:latin typeface="Arial"/>
                <a:cs typeface="Arial"/>
              </a:rPr>
              <a:t>LEADERSHIP</a:t>
            </a:r>
            <a:endParaRPr sz="3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30045" y="4493847"/>
            <a:ext cx="1859280" cy="540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b="1" spc="-10" dirty="0">
                <a:latin typeface="Arial"/>
                <a:cs typeface="Arial"/>
              </a:rPr>
              <a:t>CLIENTS</a:t>
            </a:r>
            <a:endParaRPr sz="3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58701" y="4493847"/>
            <a:ext cx="2431415" cy="540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b="1" spc="-10" dirty="0">
                <a:latin typeface="Arial"/>
                <a:cs typeface="Arial"/>
              </a:rPr>
              <a:t>EXPERTISE</a:t>
            </a:r>
            <a:endParaRPr sz="3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4419" y="4493847"/>
            <a:ext cx="1835785" cy="540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b="1" spc="-10" dirty="0">
                <a:latin typeface="Arial"/>
                <a:cs typeface="Arial"/>
              </a:rPr>
              <a:t>MISSION</a:t>
            </a:r>
            <a:endParaRPr sz="3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17848" y="4493847"/>
            <a:ext cx="2145030" cy="540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b="1" spc="-10" dirty="0">
                <a:latin typeface="Arial"/>
                <a:cs typeface="Arial"/>
              </a:rPr>
              <a:t>FOUNDED</a:t>
            </a:r>
            <a:endParaRPr sz="33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100840" y="5821777"/>
            <a:ext cx="3123565" cy="3436620"/>
            <a:chOff x="11100840" y="5821777"/>
            <a:chExt cx="3123565" cy="3436620"/>
          </a:xfrm>
        </p:grpSpPr>
        <p:sp>
          <p:nvSpPr>
            <p:cNvPr id="11" name="object 11"/>
            <p:cNvSpPr/>
            <p:nvPr/>
          </p:nvSpPr>
          <p:spPr>
            <a:xfrm>
              <a:off x="11100840" y="5821777"/>
              <a:ext cx="3123565" cy="3436620"/>
            </a:xfrm>
            <a:custGeom>
              <a:avLst/>
              <a:gdLst/>
              <a:ahLst/>
              <a:cxnLst/>
              <a:rect l="l" t="t" r="r" b="b"/>
              <a:pathLst>
                <a:path w="3123565" h="3436620">
                  <a:moveTo>
                    <a:pt x="2922987" y="3436521"/>
                  </a:moveTo>
                  <a:lnTo>
                    <a:pt x="200024" y="3436521"/>
                  </a:lnTo>
                  <a:lnTo>
                    <a:pt x="160819" y="3432642"/>
                  </a:lnTo>
                  <a:lnTo>
                    <a:pt x="123478" y="3421295"/>
                  </a:lnTo>
                  <a:lnTo>
                    <a:pt x="89051" y="3402914"/>
                  </a:lnTo>
                  <a:lnTo>
                    <a:pt x="58586" y="3377935"/>
                  </a:lnTo>
                  <a:lnTo>
                    <a:pt x="33606" y="3347470"/>
                  </a:lnTo>
                  <a:lnTo>
                    <a:pt x="15226" y="3313042"/>
                  </a:lnTo>
                  <a:lnTo>
                    <a:pt x="3878" y="3275701"/>
                  </a:lnTo>
                  <a:lnTo>
                    <a:pt x="0" y="3236496"/>
                  </a:lnTo>
                  <a:lnTo>
                    <a:pt x="0" y="200024"/>
                  </a:lnTo>
                  <a:lnTo>
                    <a:pt x="3878" y="160819"/>
                  </a:lnTo>
                  <a:lnTo>
                    <a:pt x="15226" y="123478"/>
                  </a:lnTo>
                  <a:lnTo>
                    <a:pt x="33606" y="89051"/>
                  </a:lnTo>
                  <a:lnTo>
                    <a:pt x="58586" y="58585"/>
                  </a:lnTo>
                  <a:lnTo>
                    <a:pt x="89051" y="33606"/>
                  </a:lnTo>
                  <a:lnTo>
                    <a:pt x="123478" y="15226"/>
                  </a:lnTo>
                  <a:lnTo>
                    <a:pt x="160819" y="3878"/>
                  </a:lnTo>
                  <a:lnTo>
                    <a:pt x="200024" y="0"/>
                  </a:lnTo>
                  <a:lnTo>
                    <a:pt x="2922987" y="0"/>
                  </a:lnTo>
                  <a:lnTo>
                    <a:pt x="2962192" y="3878"/>
                  </a:lnTo>
                  <a:lnTo>
                    <a:pt x="2999533" y="15226"/>
                  </a:lnTo>
                  <a:lnTo>
                    <a:pt x="3033961" y="33606"/>
                  </a:lnTo>
                  <a:lnTo>
                    <a:pt x="3064426" y="58585"/>
                  </a:lnTo>
                  <a:lnTo>
                    <a:pt x="3089405" y="89051"/>
                  </a:lnTo>
                  <a:lnTo>
                    <a:pt x="3107786" y="123478"/>
                  </a:lnTo>
                  <a:lnTo>
                    <a:pt x="3119133" y="160819"/>
                  </a:lnTo>
                  <a:lnTo>
                    <a:pt x="3123012" y="200024"/>
                  </a:lnTo>
                  <a:lnTo>
                    <a:pt x="3123012" y="3236496"/>
                  </a:lnTo>
                  <a:lnTo>
                    <a:pt x="3119133" y="3275701"/>
                  </a:lnTo>
                  <a:lnTo>
                    <a:pt x="3107786" y="3313042"/>
                  </a:lnTo>
                  <a:lnTo>
                    <a:pt x="3089405" y="3347470"/>
                  </a:lnTo>
                  <a:lnTo>
                    <a:pt x="3064426" y="3377935"/>
                  </a:lnTo>
                  <a:lnTo>
                    <a:pt x="3033961" y="3402914"/>
                  </a:lnTo>
                  <a:lnTo>
                    <a:pt x="2999533" y="3421295"/>
                  </a:lnTo>
                  <a:lnTo>
                    <a:pt x="2962192" y="3432642"/>
                  </a:lnTo>
                  <a:lnTo>
                    <a:pt x="2922987" y="3436521"/>
                  </a:lnTo>
                  <a:close/>
                </a:path>
              </a:pathLst>
            </a:custGeom>
            <a:solidFill>
              <a:srgbClr val="2020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05640" y="6783802"/>
              <a:ext cx="66675" cy="666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05640" y="7498177"/>
              <a:ext cx="66675" cy="6667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1596091" y="6599557"/>
            <a:ext cx="2528570" cy="178625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 marR="358140">
              <a:lnSpc>
                <a:spcPct val="72700"/>
              </a:lnSpc>
              <a:spcBef>
                <a:spcPts val="830"/>
              </a:spcBef>
            </a:pPr>
            <a:r>
              <a:rPr sz="2150" dirty="0">
                <a:solidFill>
                  <a:srgbClr val="FFFFFF"/>
                </a:solidFill>
                <a:latin typeface="Arial MT"/>
                <a:cs typeface="Arial MT"/>
              </a:rPr>
              <a:t>Juanita</a:t>
            </a:r>
            <a:r>
              <a:rPr sz="2150" spc="-10" dirty="0">
                <a:solidFill>
                  <a:srgbClr val="FFFFFF"/>
                </a:solidFill>
                <a:latin typeface="Arial MT"/>
                <a:cs typeface="Arial MT"/>
              </a:rPr>
              <a:t> Koilpillai </a:t>
            </a:r>
            <a:r>
              <a:rPr sz="2150" dirty="0">
                <a:solidFill>
                  <a:srgbClr val="FFFFFF"/>
                </a:solidFill>
                <a:latin typeface="Arial MT"/>
                <a:cs typeface="Arial MT"/>
              </a:rPr>
              <a:t>(Founder &amp; </a:t>
            </a:r>
            <a:r>
              <a:rPr sz="2150" spc="-20" dirty="0">
                <a:solidFill>
                  <a:srgbClr val="FFFFFF"/>
                </a:solidFill>
                <a:latin typeface="Arial MT"/>
                <a:cs typeface="Arial MT"/>
              </a:rPr>
              <a:t>CEO)</a:t>
            </a:r>
            <a:endParaRPr sz="2150">
              <a:latin typeface="Arial MT"/>
              <a:cs typeface="Arial MT"/>
            </a:endParaRPr>
          </a:p>
          <a:p>
            <a:pPr marL="12700" marR="5080" indent="76200">
              <a:lnSpc>
                <a:spcPct val="72700"/>
              </a:lnSpc>
              <a:spcBef>
                <a:spcPts val="1875"/>
              </a:spcBef>
            </a:pPr>
            <a:r>
              <a:rPr sz="2150" dirty="0">
                <a:solidFill>
                  <a:srgbClr val="FFFFFF"/>
                </a:solidFill>
                <a:latin typeface="Arial MT"/>
                <a:cs typeface="Arial MT"/>
              </a:rPr>
              <a:t>Pioneer in SDP </a:t>
            </a:r>
            <a:r>
              <a:rPr sz="215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2150" dirty="0">
                <a:solidFill>
                  <a:srgbClr val="FFFFFF"/>
                </a:solidFill>
                <a:latin typeface="Arial MT"/>
                <a:cs typeface="Arial MT"/>
              </a:rPr>
              <a:t>co-author</a:t>
            </a:r>
            <a:r>
              <a:rPr sz="21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5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1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Arial MT"/>
                <a:cs typeface="Arial MT"/>
              </a:rPr>
              <a:t>CSA's </a:t>
            </a:r>
            <a:r>
              <a:rPr sz="2150" dirty="0">
                <a:solidFill>
                  <a:srgbClr val="FFFFFF"/>
                </a:solidFill>
                <a:latin typeface="Arial MT"/>
                <a:cs typeface="Arial MT"/>
              </a:rPr>
              <a:t>SDP</a:t>
            </a:r>
            <a:r>
              <a:rPr sz="21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Arial MT"/>
                <a:cs typeface="Arial MT"/>
              </a:rPr>
              <a:t>Architecture Guide.</a:t>
            </a:r>
            <a:endParaRPr sz="21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4444048" y="5821777"/>
            <a:ext cx="3123565" cy="3436620"/>
            <a:chOff x="14444048" y="5821777"/>
            <a:chExt cx="3123565" cy="3436620"/>
          </a:xfrm>
        </p:grpSpPr>
        <p:sp>
          <p:nvSpPr>
            <p:cNvPr id="16" name="object 16"/>
            <p:cNvSpPr/>
            <p:nvPr/>
          </p:nvSpPr>
          <p:spPr>
            <a:xfrm>
              <a:off x="14444048" y="5821777"/>
              <a:ext cx="3123565" cy="3436620"/>
            </a:xfrm>
            <a:custGeom>
              <a:avLst/>
              <a:gdLst/>
              <a:ahLst/>
              <a:cxnLst/>
              <a:rect l="l" t="t" r="r" b="b"/>
              <a:pathLst>
                <a:path w="3123565" h="3436620">
                  <a:moveTo>
                    <a:pt x="2922987" y="3436521"/>
                  </a:moveTo>
                  <a:lnTo>
                    <a:pt x="200024" y="3436521"/>
                  </a:lnTo>
                  <a:lnTo>
                    <a:pt x="160819" y="3432642"/>
                  </a:lnTo>
                  <a:lnTo>
                    <a:pt x="123478" y="3421295"/>
                  </a:lnTo>
                  <a:lnTo>
                    <a:pt x="89051" y="3402914"/>
                  </a:lnTo>
                  <a:lnTo>
                    <a:pt x="58586" y="3377935"/>
                  </a:lnTo>
                  <a:lnTo>
                    <a:pt x="33606" y="3347470"/>
                  </a:lnTo>
                  <a:lnTo>
                    <a:pt x="15226" y="3313042"/>
                  </a:lnTo>
                  <a:lnTo>
                    <a:pt x="3878" y="3275701"/>
                  </a:lnTo>
                  <a:lnTo>
                    <a:pt x="0" y="3236496"/>
                  </a:lnTo>
                  <a:lnTo>
                    <a:pt x="0" y="200024"/>
                  </a:lnTo>
                  <a:lnTo>
                    <a:pt x="3878" y="160819"/>
                  </a:lnTo>
                  <a:lnTo>
                    <a:pt x="15226" y="123478"/>
                  </a:lnTo>
                  <a:lnTo>
                    <a:pt x="33606" y="89051"/>
                  </a:lnTo>
                  <a:lnTo>
                    <a:pt x="58586" y="58585"/>
                  </a:lnTo>
                  <a:lnTo>
                    <a:pt x="89051" y="33606"/>
                  </a:lnTo>
                  <a:lnTo>
                    <a:pt x="123478" y="15226"/>
                  </a:lnTo>
                  <a:lnTo>
                    <a:pt x="160819" y="3878"/>
                  </a:lnTo>
                  <a:lnTo>
                    <a:pt x="200024" y="0"/>
                  </a:lnTo>
                  <a:lnTo>
                    <a:pt x="2922987" y="0"/>
                  </a:lnTo>
                  <a:lnTo>
                    <a:pt x="2962192" y="3878"/>
                  </a:lnTo>
                  <a:lnTo>
                    <a:pt x="2999533" y="15226"/>
                  </a:lnTo>
                  <a:lnTo>
                    <a:pt x="3033961" y="33606"/>
                  </a:lnTo>
                  <a:lnTo>
                    <a:pt x="3064426" y="58585"/>
                  </a:lnTo>
                  <a:lnTo>
                    <a:pt x="3089405" y="89051"/>
                  </a:lnTo>
                  <a:lnTo>
                    <a:pt x="3107786" y="123478"/>
                  </a:lnTo>
                  <a:lnTo>
                    <a:pt x="3119133" y="160819"/>
                  </a:lnTo>
                  <a:lnTo>
                    <a:pt x="3123012" y="200024"/>
                  </a:lnTo>
                  <a:lnTo>
                    <a:pt x="3123012" y="3236496"/>
                  </a:lnTo>
                  <a:lnTo>
                    <a:pt x="3119133" y="3275701"/>
                  </a:lnTo>
                  <a:lnTo>
                    <a:pt x="3107786" y="3313042"/>
                  </a:lnTo>
                  <a:lnTo>
                    <a:pt x="3089405" y="3347470"/>
                  </a:lnTo>
                  <a:lnTo>
                    <a:pt x="3064426" y="3377935"/>
                  </a:lnTo>
                  <a:lnTo>
                    <a:pt x="3033961" y="3402914"/>
                  </a:lnTo>
                  <a:lnTo>
                    <a:pt x="2999533" y="3421295"/>
                  </a:lnTo>
                  <a:lnTo>
                    <a:pt x="2962192" y="3432642"/>
                  </a:lnTo>
                  <a:lnTo>
                    <a:pt x="2922987" y="3436521"/>
                  </a:lnTo>
                  <a:close/>
                </a:path>
              </a:pathLst>
            </a:custGeom>
            <a:solidFill>
              <a:srgbClr val="2020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39323" y="6698077"/>
              <a:ext cx="66675" cy="666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39323" y="7612477"/>
              <a:ext cx="66675" cy="6667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4917570" y="6516975"/>
            <a:ext cx="2618105" cy="1942464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 marR="5080">
              <a:lnSpc>
                <a:spcPct val="73200"/>
              </a:lnSpc>
              <a:spcBef>
                <a:spcPts val="785"/>
              </a:spcBef>
            </a:pP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Federal</a:t>
            </a:r>
            <a:r>
              <a:rPr sz="20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Arial MT"/>
                <a:cs typeface="Arial MT"/>
              </a:rPr>
              <a:t>agencies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(DHS,</a:t>
            </a:r>
            <a:r>
              <a:rPr sz="20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DARPA,</a:t>
            </a:r>
            <a:r>
              <a:rPr sz="20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20" dirty="0">
                <a:solidFill>
                  <a:srgbClr val="FFFFFF"/>
                </a:solidFill>
                <a:latin typeface="Arial MT"/>
                <a:cs typeface="Arial MT"/>
              </a:rPr>
              <a:t>AFRL,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NAVSEA,</a:t>
            </a:r>
            <a:r>
              <a:rPr sz="20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Arial MT"/>
                <a:cs typeface="Arial MT"/>
              </a:rPr>
              <a:t>FEMA),</a:t>
            </a:r>
            <a:endParaRPr sz="2050">
              <a:latin typeface="Arial MT"/>
              <a:cs typeface="Arial MT"/>
            </a:endParaRPr>
          </a:p>
          <a:p>
            <a:pPr marL="12700" marR="18415">
              <a:lnSpc>
                <a:spcPct val="73200"/>
              </a:lnSpc>
              <a:spcBef>
                <a:spcPts val="1800"/>
              </a:spcBef>
            </a:pP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enterprises</a:t>
            </a:r>
            <a:r>
              <a:rPr sz="20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Arial MT"/>
                <a:cs typeface="Arial MT"/>
              </a:rPr>
              <a:t>(e.g.,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Lockheed</a:t>
            </a:r>
            <a:r>
              <a:rPr sz="20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Arial MT"/>
                <a:cs typeface="Arial MT"/>
              </a:rPr>
              <a:t>Martin),</a:t>
            </a:r>
            <a:r>
              <a:rPr sz="2050" spc="50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0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research</a:t>
            </a:r>
            <a:r>
              <a:rPr sz="20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Arial MT"/>
                <a:cs typeface="Arial MT"/>
              </a:rPr>
              <a:t>partners 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(UNC</a:t>
            </a:r>
            <a:r>
              <a:rPr sz="20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Arial MT"/>
                <a:cs typeface="Arial MT"/>
              </a:rPr>
              <a:t>Charlotte).</a:t>
            </a:r>
            <a:endParaRPr sz="20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758753" y="5821777"/>
            <a:ext cx="3123565" cy="3436620"/>
            <a:chOff x="7758753" y="5821777"/>
            <a:chExt cx="3123565" cy="3436620"/>
          </a:xfrm>
        </p:grpSpPr>
        <p:sp>
          <p:nvSpPr>
            <p:cNvPr id="21" name="object 21"/>
            <p:cNvSpPr/>
            <p:nvPr/>
          </p:nvSpPr>
          <p:spPr>
            <a:xfrm>
              <a:off x="7758753" y="5821777"/>
              <a:ext cx="3123565" cy="3436620"/>
            </a:xfrm>
            <a:custGeom>
              <a:avLst/>
              <a:gdLst/>
              <a:ahLst/>
              <a:cxnLst/>
              <a:rect l="l" t="t" r="r" b="b"/>
              <a:pathLst>
                <a:path w="3123565" h="3436620">
                  <a:moveTo>
                    <a:pt x="2922987" y="3436521"/>
                  </a:moveTo>
                  <a:lnTo>
                    <a:pt x="200024" y="3436521"/>
                  </a:lnTo>
                  <a:lnTo>
                    <a:pt x="160819" y="3432642"/>
                  </a:lnTo>
                  <a:lnTo>
                    <a:pt x="123478" y="3421295"/>
                  </a:lnTo>
                  <a:lnTo>
                    <a:pt x="89051" y="3402914"/>
                  </a:lnTo>
                  <a:lnTo>
                    <a:pt x="58586" y="3377935"/>
                  </a:lnTo>
                  <a:lnTo>
                    <a:pt x="33606" y="3347470"/>
                  </a:lnTo>
                  <a:lnTo>
                    <a:pt x="15226" y="3313042"/>
                  </a:lnTo>
                  <a:lnTo>
                    <a:pt x="3878" y="3275701"/>
                  </a:lnTo>
                  <a:lnTo>
                    <a:pt x="0" y="3236496"/>
                  </a:lnTo>
                  <a:lnTo>
                    <a:pt x="0" y="200024"/>
                  </a:lnTo>
                  <a:lnTo>
                    <a:pt x="3878" y="160819"/>
                  </a:lnTo>
                  <a:lnTo>
                    <a:pt x="15226" y="123478"/>
                  </a:lnTo>
                  <a:lnTo>
                    <a:pt x="33606" y="89051"/>
                  </a:lnTo>
                  <a:lnTo>
                    <a:pt x="58586" y="58585"/>
                  </a:lnTo>
                  <a:lnTo>
                    <a:pt x="89051" y="33606"/>
                  </a:lnTo>
                  <a:lnTo>
                    <a:pt x="123478" y="15226"/>
                  </a:lnTo>
                  <a:lnTo>
                    <a:pt x="160819" y="3878"/>
                  </a:lnTo>
                  <a:lnTo>
                    <a:pt x="200024" y="0"/>
                  </a:lnTo>
                  <a:lnTo>
                    <a:pt x="2922987" y="0"/>
                  </a:lnTo>
                  <a:lnTo>
                    <a:pt x="2962193" y="3878"/>
                  </a:lnTo>
                  <a:lnTo>
                    <a:pt x="2999534" y="15226"/>
                  </a:lnTo>
                  <a:lnTo>
                    <a:pt x="3033961" y="33606"/>
                  </a:lnTo>
                  <a:lnTo>
                    <a:pt x="3064426" y="58585"/>
                  </a:lnTo>
                  <a:lnTo>
                    <a:pt x="3089406" y="89051"/>
                  </a:lnTo>
                  <a:lnTo>
                    <a:pt x="3107786" y="123478"/>
                  </a:lnTo>
                  <a:lnTo>
                    <a:pt x="3119133" y="160819"/>
                  </a:lnTo>
                  <a:lnTo>
                    <a:pt x="3123012" y="200024"/>
                  </a:lnTo>
                  <a:lnTo>
                    <a:pt x="3123012" y="3236496"/>
                  </a:lnTo>
                  <a:lnTo>
                    <a:pt x="3119133" y="3275701"/>
                  </a:lnTo>
                  <a:lnTo>
                    <a:pt x="3107786" y="3313042"/>
                  </a:lnTo>
                  <a:lnTo>
                    <a:pt x="3089406" y="3347470"/>
                  </a:lnTo>
                  <a:lnTo>
                    <a:pt x="3064426" y="3377935"/>
                  </a:lnTo>
                  <a:lnTo>
                    <a:pt x="3033961" y="3402914"/>
                  </a:lnTo>
                  <a:lnTo>
                    <a:pt x="2999534" y="3421295"/>
                  </a:lnTo>
                  <a:lnTo>
                    <a:pt x="2962193" y="3432642"/>
                  </a:lnTo>
                  <a:lnTo>
                    <a:pt x="2922987" y="3436521"/>
                  </a:lnTo>
                  <a:close/>
                </a:path>
              </a:pathLst>
            </a:custGeom>
            <a:solidFill>
              <a:srgbClr val="2020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63553" y="6421852"/>
              <a:ext cx="66675" cy="6667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8254003" y="6237607"/>
            <a:ext cx="177546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FFFFF"/>
                </a:solidFill>
                <a:latin typeface="Arial MT"/>
                <a:cs typeface="Arial MT"/>
              </a:rPr>
              <a:t>Cloud</a:t>
            </a:r>
            <a:r>
              <a:rPr sz="215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Arial MT"/>
                <a:cs typeface="Arial MT"/>
              </a:rPr>
              <a:t>security</a:t>
            </a:r>
            <a:endParaRPr sz="21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416664" y="5821777"/>
            <a:ext cx="3714115" cy="3436620"/>
            <a:chOff x="4416664" y="5821777"/>
            <a:chExt cx="3714115" cy="3436620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63552" y="6898102"/>
              <a:ext cx="66675" cy="6667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63552" y="7374352"/>
              <a:ext cx="66675" cy="6667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63552" y="7850602"/>
              <a:ext cx="66675" cy="6667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63552" y="8326852"/>
              <a:ext cx="66675" cy="6667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416664" y="5821777"/>
              <a:ext cx="3123565" cy="3436620"/>
            </a:xfrm>
            <a:custGeom>
              <a:avLst/>
              <a:gdLst/>
              <a:ahLst/>
              <a:cxnLst/>
              <a:rect l="l" t="t" r="r" b="b"/>
              <a:pathLst>
                <a:path w="3123565" h="3436620">
                  <a:moveTo>
                    <a:pt x="2922987" y="3436521"/>
                  </a:moveTo>
                  <a:lnTo>
                    <a:pt x="200024" y="3436521"/>
                  </a:lnTo>
                  <a:lnTo>
                    <a:pt x="160819" y="3432642"/>
                  </a:lnTo>
                  <a:lnTo>
                    <a:pt x="123478" y="3421295"/>
                  </a:lnTo>
                  <a:lnTo>
                    <a:pt x="89050" y="3402914"/>
                  </a:lnTo>
                  <a:lnTo>
                    <a:pt x="58585" y="3377935"/>
                  </a:lnTo>
                  <a:lnTo>
                    <a:pt x="33606" y="3347470"/>
                  </a:lnTo>
                  <a:lnTo>
                    <a:pt x="15225" y="3313042"/>
                  </a:lnTo>
                  <a:lnTo>
                    <a:pt x="3878" y="3275701"/>
                  </a:lnTo>
                  <a:lnTo>
                    <a:pt x="0" y="3236496"/>
                  </a:lnTo>
                  <a:lnTo>
                    <a:pt x="0" y="200024"/>
                  </a:lnTo>
                  <a:lnTo>
                    <a:pt x="3878" y="160819"/>
                  </a:lnTo>
                  <a:lnTo>
                    <a:pt x="15225" y="123478"/>
                  </a:lnTo>
                  <a:lnTo>
                    <a:pt x="33606" y="89051"/>
                  </a:lnTo>
                  <a:lnTo>
                    <a:pt x="58585" y="58585"/>
                  </a:lnTo>
                  <a:lnTo>
                    <a:pt x="89050" y="33606"/>
                  </a:lnTo>
                  <a:lnTo>
                    <a:pt x="123478" y="15226"/>
                  </a:lnTo>
                  <a:lnTo>
                    <a:pt x="160819" y="3878"/>
                  </a:lnTo>
                  <a:lnTo>
                    <a:pt x="200024" y="0"/>
                  </a:lnTo>
                  <a:lnTo>
                    <a:pt x="2922987" y="0"/>
                  </a:lnTo>
                  <a:lnTo>
                    <a:pt x="2962192" y="3878"/>
                  </a:lnTo>
                  <a:lnTo>
                    <a:pt x="2999533" y="15226"/>
                  </a:lnTo>
                  <a:lnTo>
                    <a:pt x="3033961" y="33606"/>
                  </a:lnTo>
                  <a:lnTo>
                    <a:pt x="3064426" y="58585"/>
                  </a:lnTo>
                  <a:lnTo>
                    <a:pt x="3089406" y="89051"/>
                  </a:lnTo>
                  <a:lnTo>
                    <a:pt x="3107786" y="123478"/>
                  </a:lnTo>
                  <a:lnTo>
                    <a:pt x="3119133" y="160819"/>
                  </a:lnTo>
                  <a:lnTo>
                    <a:pt x="3123012" y="200024"/>
                  </a:lnTo>
                  <a:lnTo>
                    <a:pt x="3123012" y="3236496"/>
                  </a:lnTo>
                  <a:lnTo>
                    <a:pt x="3119133" y="3275701"/>
                  </a:lnTo>
                  <a:lnTo>
                    <a:pt x="3107786" y="3313042"/>
                  </a:lnTo>
                  <a:lnTo>
                    <a:pt x="3089406" y="3347470"/>
                  </a:lnTo>
                  <a:lnTo>
                    <a:pt x="3064426" y="3377935"/>
                  </a:lnTo>
                  <a:lnTo>
                    <a:pt x="3033961" y="3402914"/>
                  </a:lnTo>
                  <a:lnTo>
                    <a:pt x="2999533" y="3421295"/>
                  </a:lnTo>
                  <a:lnTo>
                    <a:pt x="2962192" y="3432642"/>
                  </a:lnTo>
                  <a:lnTo>
                    <a:pt x="2922987" y="3436521"/>
                  </a:lnTo>
                  <a:close/>
                </a:path>
              </a:pathLst>
            </a:custGeom>
            <a:solidFill>
              <a:srgbClr val="2020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254003" y="6569192"/>
            <a:ext cx="2512695" cy="2168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5300"/>
              </a:lnSpc>
              <a:spcBef>
                <a:spcPts val="95"/>
              </a:spcBef>
            </a:pPr>
            <a:r>
              <a:rPr sz="2150" spc="-10" dirty="0">
                <a:solidFill>
                  <a:srgbClr val="FFFFFF"/>
                </a:solidFill>
                <a:latin typeface="Arial MT"/>
                <a:cs typeface="Arial MT"/>
              </a:rPr>
              <a:t>DevSecOps </a:t>
            </a:r>
            <a:r>
              <a:rPr sz="2150" dirty="0">
                <a:solidFill>
                  <a:srgbClr val="FFFFFF"/>
                </a:solidFill>
                <a:latin typeface="Arial MT"/>
                <a:cs typeface="Arial MT"/>
              </a:rPr>
              <a:t>penetration</a:t>
            </a:r>
            <a:r>
              <a:rPr sz="21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Arial MT"/>
                <a:cs typeface="Arial MT"/>
              </a:rPr>
              <a:t>testing </a:t>
            </a:r>
            <a:r>
              <a:rPr sz="2150" dirty="0">
                <a:solidFill>
                  <a:srgbClr val="FFFFFF"/>
                </a:solidFill>
                <a:latin typeface="Arial MT"/>
                <a:cs typeface="Arial MT"/>
              </a:rPr>
              <a:t>cyber</a:t>
            </a:r>
            <a:r>
              <a:rPr sz="21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50" dirty="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r>
              <a:rPr sz="21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Arial MT"/>
                <a:cs typeface="Arial MT"/>
              </a:rPr>
              <a:t>profiling</a:t>
            </a:r>
            <a:endParaRPr sz="2150">
              <a:latin typeface="Arial MT"/>
              <a:cs typeface="Arial MT"/>
            </a:endParaRPr>
          </a:p>
          <a:p>
            <a:pPr marL="12700" marR="5080">
              <a:lnSpc>
                <a:spcPct val="72700"/>
              </a:lnSpc>
              <a:spcBef>
                <a:spcPts val="1875"/>
              </a:spcBef>
            </a:pPr>
            <a:r>
              <a:rPr sz="2150" dirty="0">
                <a:solidFill>
                  <a:srgbClr val="FFFFFF"/>
                </a:solidFill>
                <a:latin typeface="Arial MT"/>
                <a:cs typeface="Arial MT"/>
              </a:rPr>
              <a:t>agile ATO</a:t>
            </a:r>
            <a:r>
              <a:rPr sz="21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Arial MT"/>
                <a:cs typeface="Arial MT"/>
              </a:rPr>
              <a:t>(Authority </a:t>
            </a:r>
            <a:r>
              <a:rPr sz="2150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2150" spc="-10" dirty="0">
                <a:solidFill>
                  <a:srgbClr val="FFFFFF"/>
                </a:solidFill>
                <a:latin typeface="Arial MT"/>
                <a:cs typeface="Arial MT"/>
              </a:rPr>
              <a:t>Operate).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83749" y="6796344"/>
            <a:ext cx="2788920" cy="136334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065" marR="5080" algn="ctr">
              <a:lnSpc>
                <a:spcPct val="72200"/>
              </a:lnSpc>
              <a:spcBef>
                <a:spcPts val="875"/>
              </a:spcBef>
            </a:pP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Quantify,</a:t>
            </a:r>
            <a:r>
              <a:rPr sz="225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reduce,</a:t>
            </a:r>
            <a:r>
              <a:rPr sz="22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control</a:t>
            </a:r>
            <a:r>
              <a:rPr sz="22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digital</a:t>
            </a:r>
            <a:r>
              <a:rPr sz="22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Arial MT"/>
                <a:cs typeface="Arial MT"/>
              </a:rPr>
              <a:t>risk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through</a:t>
            </a:r>
            <a:r>
              <a:rPr sz="22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open-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source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SDP,</a:t>
            </a:r>
            <a:r>
              <a:rPr sz="22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Zero</a:t>
            </a:r>
            <a:r>
              <a:rPr sz="22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Trust,</a:t>
            </a:r>
            <a:r>
              <a:rPr sz="22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DRM</a:t>
            </a:r>
            <a:r>
              <a:rPr sz="22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solutions.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74577" y="5821777"/>
            <a:ext cx="3123565" cy="3436620"/>
          </a:xfrm>
          <a:custGeom>
            <a:avLst/>
            <a:gdLst/>
            <a:ahLst/>
            <a:cxnLst/>
            <a:rect l="l" t="t" r="r" b="b"/>
            <a:pathLst>
              <a:path w="3123565" h="3436620">
                <a:moveTo>
                  <a:pt x="2922987" y="3436521"/>
                </a:moveTo>
                <a:lnTo>
                  <a:pt x="200024" y="3436521"/>
                </a:lnTo>
                <a:lnTo>
                  <a:pt x="160819" y="3432642"/>
                </a:lnTo>
                <a:lnTo>
                  <a:pt x="123478" y="3421295"/>
                </a:lnTo>
                <a:lnTo>
                  <a:pt x="89050" y="3402914"/>
                </a:lnTo>
                <a:lnTo>
                  <a:pt x="58585" y="3377935"/>
                </a:lnTo>
                <a:lnTo>
                  <a:pt x="33606" y="3347470"/>
                </a:lnTo>
                <a:lnTo>
                  <a:pt x="15225" y="3313042"/>
                </a:lnTo>
                <a:lnTo>
                  <a:pt x="3878" y="3275701"/>
                </a:lnTo>
                <a:lnTo>
                  <a:pt x="0" y="3236496"/>
                </a:lnTo>
                <a:lnTo>
                  <a:pt x="0" y="200024"/>
                </a:lnTo>
                <a:lnTo>
                  <a:pt x="3878" y="160819"/>
                </a:lnTo>
                <a:lnTo>
                  <a:pt x="15225" y="123478"/>
                </a:lnTo>
                <a:lnTo>
                  <a:pt x="33606" y="89051"/>
                </a:lnTo>
                <a:lnTo>
                  <a:pt x="58585" y="58585"/>
                </a:lnTo>
                <a:lnTo>
                  <a:pt x="89050" y="33606"/>
                </a:lnTo>
                <a:lnTo>
                  <a:pt x="123478" y="15226"/>
                </a:lnTo>
                <a:lnTo>
                  <a:pt x="160819" y="3878"/>
                </a:lnTo>
                <a:lnTo>
                  <a:pt x="200024" y="0"/>
                </a:lnTo>
                <a:lnTo>
                  <a:pt x="2922987" y="0"/>
                </a:lnTo>
                <a:lnTo>
                  <a:pt x="2962192" y="3878"/>
                </a:lnTo>
                <a:lnTo>
                  <a:pt x="2999533" y="15226"/>
                </a:lnTo>
                <a:lnTo>
                  <a:pt x="3033961" y="33606"/>
                </a:lnTo>
                <a:lnTo>
                  <a:pt x="3064426" y="58585"/>
                </a:lnTo>
                <a:lnTo>
                  <a:pt x="3089406" y="89051"/>
                </a:lnTo>
                <a:lnTo>
                  <a:pt x="3107786" y="123478"/>
                </a:lnTo>
                <a:lnTo>
                  <a:pt x="3119133" y="160819"/>
                </a:lnTo>
                <a:lnTo>
                  <a:pt x="3123012" y="200024"/>
                </a:lnTo>
                <a:lnTo>
                  <a:pt x="3123012" y="3236496"/>
                </a:lnTo>
                <a:lnTo>
                  <a:pt x="3119133" y="3275701"/>
                </a:lnTo>
                <a:lnTo>
                  <a:pt x="3107786" y="3313042"/>
                </a:lnTo>
                <a:lnTo>
                  <a:pt x="3089406" y="3347470"/>
                </a:lnTo>
                <a:lnTo>
                  <a:pt x="3064426" y="3377935"/>
                </a:lnTo>
                <a:lnTo>
                  <a:pt x="3033961" y="3402914"/>
                </a:lnTo>
                <a:lnTo>
                  <a:pt x="2999533" y="3421295"/>
                </a:lnTo>
                <a:lnTo>
                  <a:pt x="2962192" y="3432642"/>
                </a:lnTo>
                <a:lnTo>
                  <a:pt x="2922987" y="3436521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194929" y="6907500"/>
            <a:ext cx="2882265" cy="1127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3045"/>
              </a:lnSpc>
              <a:spcBef>
                <a:spcPts val="125"/>
              </a:spcBef>
            </a:pPr>
            <a:r>
              <a:rPr sz="2950" spc="-10" dirty="0">
                <a:solidFill>
                  <a:srgbClr val="FFFFFF"/>
                </a:solidFill>
                <a:latin typeface="Arial MT"/>
                <a:cs typeface="Arial MT"/>
              </a:rPr>
              <a:t>2012,</a:t>
            </a:r>
            <a:endParaRPr sz="2950">
              <a:latin typeface="Arial MT"/>
              <a:cs typeface="Arial MT"/>
            </a:endParaRPr>
          </a:p>
          <a:p>
            <a:pPr marL="12700" marR="5080" algn="ctr">
              <a:lnSpc>
                <a:spcPct val="72000"/>
              </a:lnSpc>
              <a:spcBef>
                <a:spcPts val="495"/>
              </a:spcBef>
            </a:pP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headquartered</a:t>
            </a:r>
            <a:r>
              <a:rPr sz="2950" spc="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in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Waterford,</a:t>
            </a:r>
            <a:r>
              <a:rPr sz="29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VA.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 marR="5080">
              <a:lnSpc>
                <a:spcPts val="6600"/>
              </a:lnSpc>
              <a:spcBef>
                <a:spcPts val="1180"/>
              </a:spcBef>
            </a:pPr>
            <a:r>
              <a:rPr sz="6350" spc="-250" dirty="0"/>
              <a:t>Evolution</a:t>
            </a:r>
            <a:r>
              <a:rPr sz="6350" spc="-509" dirty="0"/>
              <a:t> </a:t>
            </a:r>
            <a:r>
              <a:rPr sz="6350" spc="-135" dirty="0"/>
              <a:t>of</a:t>
            </a:r>
            <a:r>
              <a:rPr sz="6350" spc="-509" dirty="0"/>
              <a:t> </a:t>
            </a:r>
            <a:r>
              <a:rPr sz="6350" spc="-280" dirty="0"/>
              <a:t>Cybersecurity: </a:t>
            </a:r>
            <a:r>
              <a:rPr sz="6350" spc="-215" dirty="0"/>
              <a:t>From</a:t>
            </a:r>
            <a:r>
              <a:rPr sz="6350" spc="-515" dirty="0"/>
              <a:t> </a:t>
            </a:r>
            <a:r>
              <a:rPr sz="6350" spc="-265" dirty="0"/>
              <a:t>Perimeters</a:t>
            </a:r>
            <a:r>
              <a:rPr sz="6350" spc="-535" dirty="0"/>
              <a:t> </a:t>
            </a:r>
            <a:r>
              <a:rPr sz="6350" spc="-135" dirty="0"/>
              <a:t>to</a:t>
            </a:r>
            <a:r>
              <a:rPr sz="6350" spc="-515" dirty="0"/>
              <a:t> </a:t>
            </a:r>
            <a:r>
              <a:rPr sz="6350" spc="-225" dirty="0"/>
              <a:t>Zero</a:t>
            </a:r>
            <a:r>
              <a:rPr sz="6350" spc="-509" dirty="0"/>
              <a:t> </a:t>
            </a:r>
            <a:r>
              <a:rPr sz="6350" spc="-130" dirty="0"/>
              <a:t>Trust</a:t>
            </a:r>
            <a:endParaRPr sz="6350"/>
          </a:p>
        </p:txBody>
      </p:sp>
      <p:sp>
        <p:nvSpPr>
          <p:cNvPr id="3" name="object 3"/>
          <p:cNvSpPr/>
          <p:nvPr/>
        </p:nvSpPr>
        <p:spPr>
          <a:xfrm>
            <a:off x="1733092" y="5405208"/>
            <a:ext cx="7087870" cy="3284854"/>
          </a:xfrm>
          <a:custGeom>
            <a:avLst/>
            <a:gdLst/>
            <a:ahLst/>
            <a:cxnLst/>
            <a:rect l="l" t="t" r="r" b="b"/>
            <a:pathLst>
              <a:path w="7087870" h="3284854">
                <a:moveTo>
                  <a:pt x="7087794" y="2639326"/>
                </a:moveTo>
                <a:lnTo>
                  <a:pt x="7076580" y="2568575"/>
                </a:lnTo>
                <a:lnTo>
                  <a:pt x="7061073" y="2523909"/>
                </a:lnTo>
                <a:lnTo>
                  <a:pt x="7040092" y="2482113"/>
                </a:lnTo>
                <a:lnTo>
                  <a:pt x="7014096" y="2443619"/>
                </a:lnTo>
                <a:lnTo>
                  <a:pt x="6983501" y="2408859"/>
                </a:lnTo>
                <a:lnTo>
                  <a:pt x="6948741" y="2378265"/>
                </a:lnTo>
                <a:lnTo>
                  <a:pt x="6910248" y="2352268"/>
                </a:lnTo>
                <a:lnTo>
                  <a:pt x="6868452" y="2331288"/>
                </a:lnTo>
                <a:lnTo>
                  <a:pt x="6823786" y="2315781"/>
                </a:lnTo>
                <a:lnTo>
                  <a:pt x="6776682" y="2306155"/>
                </a:lnTo>
                <a:lnTo>
                  <a:pt x="6727558" y="2302840"/>
                </a:lnTo>
                <a:lnTo>
                  <a:pt x="361950" y="2302840"/>
                </a:lnTo>
                <a:lnTo>
                  <a:pt x="312826" y="2306155"/>
                </a:lnTo>
                <a:lnTo>
                  <a:pt x="265722" y="2315781"/>
                </a:lnTo>
                <a:lnTo>
                  <a:pt x="221056" y="2331288"/>
                </a:lnTo>
                <a:lnTo>
                  <a:pt x="179260" y="2352268"/>
                </a:lnTo>
                <a:lnTo>
                  <a:pt x="140766" y="2378265"/>
                </a:lnTo>
                <a:lnTo>
                  <a:pt x="106006" y="2408859"/>
                </a:lnTo>
                <a:lnTo>
                  <a:pt x="75412" y="2443619"/>
                </a:lnTo>
                <a:lnTo>
                  <a:pt x="49415" y="2482113"/>
                </a:lnTo>
                <a:lnTo>
                  <a:pt x="28435" y="2523909"/>
                </a:lnTo>
                <a:lnTo>
                  <a:pt x="12928" y="2568575"/>
                </a:lnTo>
                <a:lnTo>
                  <a:pt x="3302" y="2615679"/>
                </a:lnTo>
                <a:lnTo>
                  <a:pt x="0" y="2664803"/>
                </a:lnTo>
                <a:lnTo>
                  <a:pt x="0" y="2922752"/>
                </a:lnTo>
                <a:lnTo>
                  <a:pt x="3302" y="2971876"/>
                </a:lnTo>
                <a:lnTo>
                  <a:pt x="12928" y="3018980"/>
                </a:lnTo>
                <a:lnTo>
                  <a:pt x="28435" y="3063646"/>
                </a:lnTo>
                <a:lnTo>
                  <a:pt x="49415" y="3105442"/>
                </a:lnTo>
                <a:lnTo>
                  <a:pt x="75412" y="3143935"/>
                </a:lnTo>
                <a:lnTo>
                  <a:pt x="106006" y="3178695"/>
                </a:lnTo>
                <a:lnTo>
                  <a:pt x="140766" y="3209290"/>
                </a:lnTo>
                <a:lnTo>
                  <a:pt x="179260" y="3235287"/>
                </a:lnTo>
                <a:lnTo>
                  <a:pt x="221056" y="3256267"/>
                </a:lnTo>
                <a:lnTo>
                  <a:pt x="265722" y="3271774"/>
                </a:lnTo>
                <a:lnTo>
                  <a:pt x="312826" y="3281400"/>
                </a:lnTo>
                <a:lnTo>
                  <a:pt x="361950" y="3284702"/>
                </a:lnTo>
                <a:lnTo>
                  <a:pt x="6727558" y="3284702"/>
                </a:lnTo>
                <a:lnTo>
                  <a:pt x="6776682" y="3281400"/>
                </a:lnTo>
                <a:lnTo>
                  <a:pt x="6823786" y="3271774"/>
                </a:lnTo>
                <a:lnTo>
                  <a:pt x="6868452" y="3256267"/>
                </a:lnTo>
                <a:lnTo>
                  <a:pt x="6910248" y="3235287"/>
                </a:lnTo>
                <a:lnTo>
                  <a:pt x="6948741" y="3209290"/>
                </a:lnTo>
                <a:lnTo>
                  <a:pt x="6983501" y="3178695"/>
                </a:lnTo>
                <a:lnTo>
                  <a:pt x="7014096" y="3143935"/>
                </a:lnTo>
                <a:lnTo>
                  <a:pt x="7040092" y="3105442"/>
                </a:lnTo>
                <a:lnTo>
                  <a:pt x="7061073" y="3063646"/>
                </a:lnTo>
                <a:lnTo>
                  <a:pt x="7076580" y="3018980"/>
                </a:lnTo>
                <a:lnTo>
                  <a:pt x="7086206" y="2971876"/>
                </a:lnTo>
                <a:lnTo>
                  <a:pt x="7087794" y="2948228"/>
                </a:lnTo>
                <a:lnTo>
                  <a:pt x="7087794" y="2639326"/>
                </a:lnTo>
                <a:close/>
              </a:path>
              <a:path w="7087870" h="3284854">
                <a:moveTo>
                  <a:pt x="7087794" y="1489786"/>
                </a:moveTo>
                <a:lnTo>
                  <a:pt x="7076580" y="1419034"/>
                </a:lnTo>
                <a:lnTo>
                  <a:pt x="7061073" y="1374368"/>
                </a:lnTo>
                <a:lnTo>
                  <a:pt x="7040092" y="1332572"/>
                </a:lnTo>
                <a:lnTo>
                  <a:pt x="7014096" y="1294079"/>
                </a:lnTo>
                <a:lnTo>
                  <a:pt x="6983501" y="1259319"/>
                </a:lnTo>
                <a:lnTo>
                  <a:pt x="6948741" y="1228725"/>
                </a:lnTo>
                <a:lnTo>
                  <a:pt x="6910248" y="1202728"/>
                </a:lnTo>
                <a:lnTo>
                  <a:pt x="6868452" y="1181747"/>
                </a:lnTo>
                <a:lnTo>
                  <a:pt x="6823786" y="1166241"/>
                </a:lnTo>
                <a:lnTo>
                  <a:pt x="6776682" y="1156614"/>
                </a:lnTo>
                <a:lnTo>
                  <a:pt x="6727558" y="1153312"/>
                </a:lnTo>
                <a:lnTo>
                  <a:pt x="361950" y="1153312"/>
                </a:lnTo>
                <a:lnTo>
                  <a:pt x="312826" y="1156614"/>
                </a:lnTo>
                <a:lnTo>
                  <a:pt x="265722" y="1166241"/>
                </a:lnTo>
                <a:lnTo>
                  <a:pt x="221056" y="1181747"/>
                </a:lnTo>
                <a:lnTo>
                  <a:pt x="179260" y="1202728"/>
                </a:lnTo>
                <a:lnTo>
                  <a:pt x="140766" y="1228725"/>
                </a:lnTo>
                <a:lnTo>
                  <a:pt x="106006" y="1259319"/>
                </a:lnTo>
                <a:lnTo>
                  <a:pt x="75412" y="1294079"/>
                </a:lnTo>
                <a:lnTo>
                  <a:pt x="49415" y="1332572"/>
                </a:lnTo>
                <a:lnTo>
                  <a:pt x="28435" y="1374368"/>
                </a:lnTo>
                <a:lnTo>
                  <a:pt x="12928" y="1419034"/>
                </a:lnTo>
                <a:lnTo>
                  <a:pt x="3302" y="1466138"/>
                </a:lnTo>
                <a:lnTo>
                  <a:pt x="0" y="1515262"/>
                </a:lnTo>
                <a:lnTo>
                  <a:pt x="0" y="1773212"/>
                </a:lnTo>
                <a:lnTo>
                  <a:pt x="3302" y="1822335"/>
                </a:lnTo>
                <a:lnTo>
                  <a:pt x="12928" y="1869440"/>
                </a:lnTo>
                <a:lnTo>
                  <a:pt x="28435" y="1914105"/>
                </a:lnTo>
                <a:lnTo>
                  <a:pt x="49415" y="1955901"/>
                </a:lnTo>
                <a:lnTo>
                  <a:pt x="75412" y="1994395"/>
                </a:lnTo>
                <a:lnTo>
                  <a:pt x="106006" y="2029155"/>
                </a:lnTo>
                <a:lnTo>
                  <a:pt x="140766" y="2059749"/>
                </a:lnTo>
                <a:lnTo>
                  <a:pt x="179260" y="2085746"/>
                </a:lnTo>
                <a:lnTo>
                  <a:pt x="221056" y="2106726"/>
                </a:lnTo>
                <a:lnTo>
                  <a:pt x="265722" y="2122233"/>
                </a:lnTo>
                <a:lnTo>
                  <a:pt x="312826" y="2131860"/>
                </a:lnTo>
                <a:lnTo>
                  <a:pt x="361950" y="2135162"/>
                </a:lnTo>
                <a:lnTo>
                  <a:pt x="6727558" y="2135162"/>
                </a:lnTo>
                <a:lnTo>
                  <a:pt x="6776682" y="2131860"/>
                </a:lnTo>
                <a:lnTo>
                  <a:pt x="6823786" y="2122233"/>
                </a:lnTo>
                <a:lnTo>
                  <a:pt x="6868452" y="2106726"/>
                </a:lnTo>
                <a:lnTo>
                  <a:pt x="6910248" y="2085746"/>
                </a:lnTo>
                <a:lnTo>
                  <a:pt x="6948741" y="2059749"/>
                </a:lnTo>
                <a:lnTo>
                  <a:pt x="6983501" y="2029155"/>
                </a:lnTo>
                <a:lnTo>
                  <a:pt x="7014096" y="1994395"/>
                </a:lnTo>
                <a:lnTo>
                  <a:pt x="7040092" y="1955901"/>
                </a:lnTo>
                <a:lnTo>
                  <a:pt x="7061073" y="1914105"/>
                </a:lnTo>
                <a:lnTo>
                  <a:pt x="7076580" y="1869440"/>
                </a:lnTo>
                <a:lnTo>
                  <a:pt x="7086206" y="1822335"/>
                </a:lnTo>
                <a:lnTo>
                  <a:pt x="7087794" y="1798688"/>
                </a:lnTo>
                <a:lnTo>
                  <a:pt x="7087794" y="1489786"/>
                </a:lnTo>
                <a:close/>
              </a:path>
              <a:path w="7087870" h="3284854">
                <a:moveTo>
                  <a:pt x="7087794" y="336473"/>
                </a:moveTo>
                <a:lnTo>
                  <a:pt x="7076580" y="265722"/>
                </a:lnTo>
                <a:lnTo>
                  <a:pt x="7061073" y="221056"/>
                </a:lnTo>
                <a:lnTo>
                  <a:pt x="7040092" y="179260"/>
                </a:lnTo>
                <a:lnTo>
                  <a:pt x="7014096" y="140766"/>
                </a:lnTo>
                <a:lnTo>
                  <a:pt x="6983501" y="106006"/>
                </a:lnTo>
                <a:lnTo>
                  <a:pt x="6948741" y="75412"/>
                </a:lnTo>
                <a:lnTo>
                  <a:pt x="6910248" y="49415"/>
                </a:lnTo>
                <a:lnTo>
                  <a:pt x="6868452" y="28435"/>
                </a:lnTo>
                <a:lnTo>
                  <a:pt x="6823786" y="12928"/>
                </a:lnTo>
                <a:lnTo>
                  <a:pt x="6776682" y="3302"/>
                </a:lnTo>
                <a:lnTo>
                  <a:pt x="6727558" y="0"/>
                </a:lnTo>
                <a:lnTo>
                  <a:pt x="361950" y="0"/>
                </a:lnTo>
                <a:lnTo>
                  <a:pt x="312826" y="3302"/>
                </a:lnTo>
                <a:lnTo>
                  <a:pt x="265722" y="12928"/>
                </a:lnTo>
                <a:lnTo>
                  <a:pt x="221056" y="28435"/>
                </a:lnTo>
                <a:lnTo>
                  <a:pt x="179260" y="49415"/>
                </a:lnTo>
                <a:lnTo>
                  <a:pt x="140766" y="75412"/>
                </a:lnTo>
                <a:lnTo>
                  <a:pt x="106006" y="106006"/>
                </a:lnTo>
                <a:lnTo>
                  <a:pt x="75412" y="140766"/>
                </a:lnTo>
                <a:lnTo>
                  <a:pt x="49415" y="179260"/>
                </a:lnTo>
                <a:lnTo>
                  <a:pt x="28435" y="221056"/>
                </a:lnTo>
                <a:lnTo>
                  <a:pt x="12928" y="265722"/>
                </a:lnTo>
                <a:lnTo>
                  <a:pt x="3302" y="312839"/>
                </a:lnTo>
                <a:lnTo>
                  <a:pt x="0" y="361950"/>
                </a:lnTo>
                <a:lnTo>
                  <a:pt x="0" y="619912"/>
                </a:lnTo>
                <a:lnTo>
                  <a:pt x="3302" y="669023"/>
                </a:lnTo>
                <a:lnTo>
                  <a:pt x="12928" y="716127"/>
                </a:lnTo>
                <a:lnTo>
                  <a:pt x="28435" y="760793"/>
                </a:lnTo>
                <a:lnTo>
                  <a:pt x="49415" y="802589"/>
                </a:lnTo>
                <a:lnTo>
                  <a:pt x="75412" y="841082"/>
                </a:lnTo>
                <a:lnTo>
                  <a:pt x="106006" y="875842"/>
                </a:lnTo>
                <a:lnTo>
                  <a:pt x="140766" y="906437"/>
                </a:lnTo>
                <a:lnTo>
                  <a:pt x="179260" y="932446"/>
                </a:lnTo>
                <a:lnTo>
                  <a:pt x="221056" y="953414"/>
                </a:lnTo>
                <a:lnTo>
                  <a:pt x="265722" y="968933"/>
                </a:lnTo>
                <a:lnTo>
                  <a:pt x="312826" y="978547"/>
                </a:lnTo>
                <a:lnTo>
                  <a:pt x="361950" y="981862"/>
                </a:lnTo>
                <a:lnTo>
                  <a:pt x="6727558" y="981862"/>
                </a:lnTo>
                <a:lnTo>
                  <a:pt x="6776682" y="978547"/>
                </a:lnTo>
                <a:lnTo>
                  <a:pt x="6823786" y="968933"/>
                </a:lnTo>
                <a:lnTo>
                  <a:pt x="6868452" y="953414"/>
                </a:lnTo>
                <a:lnTo>
                  <a:pt x="6910248" y="932446"/>
                </a:lnTo>
                <a:lnTo>
                  <a:pt x="6948741" y="906437"/>
                </a:lnTo>
                <a:lnTo>
                  <a:pt x="6983501" y="875842"/>
                </a:lnTo>
                <a:lnTo>
                  <a:pt x="7014096" y="841082"/>
                </a:lnTo>
                <a:lnTo>
                  <a:pt x="7040092" y="802589"/>
                </a:lnTo>
                <a:lnTo>
                  <a:pt x="7061073" y="760793"/>
                </a:lnTo>
                <a:lnTo>
                  <a:pt x="7076580" y="716127"/>
                </a:lnTo>
                <a:lnTo>
                  <a:pt x="7086206" y="669023"/>
                </a:lnTo>
                <a:lnTo>
                  <a:pt x="7087794" y="645375"/>
                </a:lnTo>
                <a:lnTo>
                  <a:pt x="7087794" y="336473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33093" y="4251889"/>
            <a:ext cx="7087870" cy="982344"/>
          </a:xfrm>
          <a:custGeom>
            <a:avLst/>
            <a:gdLst/>
            <a:ahLst/>
            <a:cxnLst/>
            <a:rect l="l" t="t" r="r" b="b"/>
            <a:pathLst>
              <a:path w="7087870" h="982345">
                <a:moveTo>
                  <a:pt x="6727567" y="981860"/>
                </a:moveTo>
                <a:lnTo>
                  <a:pt x="361950" y="981860"/>
                </a:lnTo>
                <a:lnTo>
                  <a:pt x="312835" y="978556"/>
                </a:lnTo>
                <a:lnTo>
                  <a:pt x="265729" y="968931"/>
                </a:lnTo>
                <a:lnTo>
                  <a:pt x="221062" y="953416"/>
                </a:lnTo>
                <a:lnTo>
                  <a:pt x="179266" y="932443"/>
                </a:lnTo>
                <a:lnTo>
                  <a:pt x="140773" y="906443"/>
                </a:lnTo>
                <a:lnTo>
                  <a:pt x="106012" y="875847"/>
                </a:lnTo>
                <a:lnTo>
                  <a:pt x="75416" y="841087"/>
                </a:lnTo>
                <a:lnTo>
                  <a:pt x="49416" y="802593"/>
                </a:lnTo>
                <a:lnTo>
                  <a:pt x="28443" y="760797"/>
                </a:lnTo>
                <a:lnTo>
                  <a:pt x="12929" y="716131"/>
                </a:lnTo>
                <a:lnTo>
                  <a:pt x="3304" y="669024"/>
                </a:lnTo>
                <a:lnTo>
                  <a:pt x="0" y="619910"/>
                </a:lnTo>
                <a:lnTo>
                  <a:pt x="0" y="361950"/>
                </a:lnTo>
                <a:lnTo>
                  <a:pt x="3304" y="312835"/>
                </a:lnTo>
                <a:lnTo>
                  <a:pt x="12929" y="265729"/>
                </a:lnTo>
                <a:lnTo>
                  <a:pt x="28443" y="221062"/>
                </a:lnTo>
                <a:lnTo>
                  <a:pt x="49416" y="179266"/>
                </a:lnTo>
                <a:lnTo>
                  <a:pt x="75416" y="140773"/>
                </a:lnTo>
                <a:lnTo>
                  <a:pt x="106012" y="106012"/>
                </a:lnTo>
                <a:lnTo>
                  <a:pt x="140773" y="75416"/>
                </a:lnTo>
                <a:lnTo>
                  <a:pt x="179266" y="49416"/>
                </a:lnTo>
                <a:lnTo>
                  <a:pt x="221062" y="28443"/>
                </a:lnTo>
                <a:lnTo>
                  <a:pt x="265729" y="12929"/>
                </a:lnTo>
                <a:lnTo>
                  <a:pt x="312835" y="3304"/>
                </a:lnTo>
                <a:lnTo>
                  <a:pt x="361950" y="0"/>
                </a:lnTo>
                <a:lnTo>
                  <a:pt x="6727567" y="0"/>
                </a:lnTo>
                <a:lnTo>
                  <a:pt x="6776681" y="3304"/>
                </a:lnTo>
                <a:lnTo>
                  <a:pt x="6823788" y="12929"/>
                </a:lnTo>
                <a:lnTo>
                  <a:pt x="6868454" y="28443"/>
                </a:lnTo>
                <a:lnTo>
                  <a:pt x="6910250" y="49416"/>
                </a:lnTo>
                <a:lnTo>
                  <a:pt x="6948744" y="75416"/>
                </a:lnTo>
                <a:lnTo>
                  <a:pt x="6983504" y="106012"/>
                </a:lnTo>
                <a:lnTo>
                  <a:pt x="7014100" y="140773"/>
                </a:lnTo>
                <a:lnTo>
                  <a:pt x="7040100" y="179266"/>
                </a:lnTo>
                <a:lnTo>
                  <a:pt x="7061073" y="221062"/>
                </a:lnTo>
                <a:lnTo>
                  <a:pt x="7076588" y="265729"/>
                </a:lnTo>
                <a:lnTo>
                  <a:pt x="7086213" y="312835"/>
                </a:lnTo>
                <a:lnTo>
                  <a:pt x="7087803" y="336481"/>
                </a:lnTo>
                <a:lnTo>
                  <a:pt x="7087803" y="645379"/>
                </a:lnTo>
                <a:lnTo>
                  <a:pt x="7076588" y="716131"/>
                </a:lnTo>
                <a:lnTo>
                  <a:pt x="7061073" y="760797"/>
                </a:lnTo>
                <a:lnTo>
                  <a:pt x="7040100" y="802593"/>
                </a:lnTo>
                <a:lnTo>
                  <a:pt x="7014100" y="841087"/>
                </a:lnTo>
                <a:lnTo>
                  <a:pt x="6983504" y="875847"/>
                </a:lnTo>
                <a:lnTo>
                  <a:pt x="6948744" y="906443"/>
                </a:lnTo>
                <a:lnTo>
                  <a:pt x="6910250" y="932443"/>
                </a:lnTo>
                <a:lnTo>
                  <a:pt x="6868454" y="953416"/>
                </a:lnTo>
                <a:lnTo>
                  <a:pt x="6823788" y="968931"/>
                </a:lnTo>
                <a:lnTo>
                  <a:pt x="6776681" y="978556"/>
                </a:lnTo>
                <a:lnTo>
                  <a:pt x="6727567" y="981860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11142" y="4343393"/>
            <a:ext cx="5133340" cy="385952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Traditional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Perimeters</a:t>
            </a:r>
            <a:endParaRPr sz="2450">
              <a:latin typeface="Arial MT"/>
              <a:cs typeface="Arial MT"/>
            </a:endParaRPr>
          </a:p>
          <a:p>
            <a:pPr marL="12700" marR="5080" algn="ctr">
              <a:lnSpc>
                <a:spcPct val="308900"/>
              </a:lnSpc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Static</a:t>
            </a:r>
            <a:r>
              <a:rPr sz="24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firewalls;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visible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attack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surface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Network-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centric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24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Reactive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patching</a:t>
            </a:r>
            <a:endParaRPr sz="245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093" y="3098579"/>
            <a:ext cx="7087803" cy="98186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85880" y="3167889"/>
            <a:ext cx="2183765" cy="647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50" b="1" spc="-10" dirty="0">
                <a:latin typeface="Arial"/>
                <a:cs typeface="Arial"/>
              </a:rPr>
              <a:t>BEFORE</a:t>
            </a:r>
            <a:endParaRPr sz="4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465386" y="5405208"/>
            <a:ext cx="7087870" cy="3284854"/>
          </a:xfrm>
          <a:custGeom>
            <a:avLst/>
            <a:gdLst/>
            <a:ahLst/>
            <a:cxnLst/>
            <a:rect l="l" t="t" r="r" b="b"/>
            <a:pathLst>
              <a:path w="7087869" h="3284854">
                <a:moveTo>
                  <a:pt x="7087794" y="2639326"/>
                </a:moveTo>
                <a:lnTo>
                  <a:pt x="7076580" y="2568575"/>
                </a:lnTo>
                <a:lnTo>
                  <a:pt x="7061073" y="2523909"/>
                </a:lnTo>
                <a:lnTo>
                  <a:pt x="7040092" y="2482113"/>
                </a:lnTo>
                <a:lnTo>
                  <a:pt x="7014096" y="2443619"/>
                </a:lnTo>
                <a:lnTo>
                  <a:pt x="6983501" y="2408859"/>
                </a:lnTo>
                <a:lnTo>
                  <a:pt x="6948741" y="2378265"/>
                </a:lnTo>
                <a:lnTo>
                  <a:pt x="6910248" y="2352268"/>
                </a:lnTo>
                <a:lnTo>
                  <a:pt x="6868452" y="2331288"/>
                </a:lnTo>
                <a:lnTo>
                  <a:pt x="6823786" y="2315781"/>
                </a:lnTo>
                <a:lnTo>
                  <a:pt x="6776682" y="2306155"/>
                </a:lnTo>
                <a:lnTo>
                  <a:pt x="6727558" y="2302840"/>
                </a:lnTo>
                <a:lnTo>
                  <a:pt x="361950" y="2302840"/>
                </a:lnTo>
                <a:lnTo>
                  <a:pt x="312826" y="2306155"/>
                </a:lnTo>
                <a:lnTo>
                  <a:pt x="265722" y="2315781"/>
                </a:lnTo>
                <a:lnTo>
                  <a:pt x="221056" y="2331288"/>
                </a:lnTo>
                <a:lnTo>
                  <a:pt x="179260" y="2352268"/>
                </a:lnTo>
                <a:lnTo>
                  <a:pt x="140766" y="2378265"/>
                </a:lnTo>
                <a:lnTo>
                  <a:pt x="106006" y="2408859"/>
                </a:lnTo>
                <a:lnTo>
                  <a:pt x="75412" y="2443619"/>
                </a:lnTo>
                <a:lnTo>
                  <a:pt x="49415" y="2482113"/>
                </a:lnTo>
                <a:lnTo>
                  <a:pt x="28435" y="2523909"/>
                </a:lnTo>
                <a:lnTo>
                  <a:pt x="12928" y="2568575"/>
                </a:lnTo>
                <a:lnTo>
                  <a:pt x="3302" y="2615679"/>
                </a:lnTo>
                <a:lnTo>
                  <a:pt x="0" y="2664803"/>
                </a:lnTo>
                <a:lnTo>
                  <a:pt x="0" y="2922752"/>
                </a:lnTo>
                <a:lnTo>
                  <a:pt x="3302" y="2971876"/>
                </a:lnTo>
                <a:lnTo>
                  <a:pt x="12928" y="3018980"/>
                </a:lnTo>
                <a:lnTo>
                  <a:pt x="28435" y="3063646"/>
                </a:lnTo>
                <a:lnTo>
                  <a:pt x="49415" y="3105442"/>
                </a:lnTo>
                <a:lnTo>
                  <a:pt x="75412" y="3143935"/>
                </a:lnTo>
                <a:lnTo>
                  <a:pt x="106006" y="3178695"/>
                </a:lnTo>
                <a:lnTo>
                  <a:pt x="140766" y="3209290"/>
                </a:lnTo>
                <a:lnTo>
                  <a:pt x="179260" y="3235287"/>
                </a:lnTo>
                <a:lnTo>
                  <a:pt x="221056" y="3256267"/>
                </a:lnTo>
                <a:lnTo>
                  <a:pt x="265722" y="3271774"/>
                </a:lnTo>
                <a:lnTo>
                  <a:pt x="312826" y="3281400"/>
                </a:lnTo>
                <a:lnTo>
                  <a:pt x="361950" y="3284702"/>
                </a:lnTo>
                <a:lnTo>
                  <a:pt x="6727558" y="3284702"/>
                </a:lnTo>
                <a:lnTo>
                  <a:pt x="6776682" y="3281400"/>
                </a:lnTo>
                <a:lnTo>
                  <a:pt x="6823786" y="3271774"/>
                </a:lnTo>
                <a:lnTo>
                  <a:pt x="6868452" y="3256267"/>
                </a:lnTo>
                <a:lnTo>
                  <a:pt x="6910248" y="3235287"/>
                </a:lnTo>
                <a:lnTo>
                  <a:pt x="6948741" y="3209290"/>
                </a:lnTo>
                <a:lnTo>
                  <a:pt x="6983501" y="3178695"/>
                </a:lnTo>
                <a:lnTo>
                  <a:pt x="7014096" y="3143935"/>
                </a:lnTo>
                <a:lnTo>
                  <a:pt x="7040092" y="3105442"/>
                </a:lnTo>
                <a:lnTo>
                  <a:pt x="7061073" y="3063646"/>
                </a:lnTo>
                <a:lnTo>
                  <a:pt x="7076580" y="3018980"/>
                </a:lnTo>
                <a:lnTo>
                  <a:pt x="7086206" y="2971876"/>
                </a:lnTo>
                <a:lnTo>
                  <a:pt x="7087794" y="2948228"/>
                </a:lnTo>
                <a:lnTo>
                  <a:pt x="7087794" y="2639326"/>
                </a:lnTo>
                <a:close/>
              </a:path>
              <a:path w="7087869" h="3284854">
                <a:moveTo>
                  <a:pt x="7087794" y="1489786"/>
                </a:moveTo>
                <a:lnTo>
                  <a:pt x="7076580" y="1419034"/>
                </a:lnTo>
                <a:lnTo>
                  <a:pt x="7061073" y="1374368"/>
                </a:lnTo>
                <a:lnTo>
                  <a:pt x="7040092" y="1332572"/>
                </a:lnTo>
                <a:lnTo>
                  <a:pt x="7014096" y="1294079"/>
                </a:lnTo>
                <a:lnTo>
                  <a:pt x="6983501" y="1259319"/>
                </a:lnTo>
                <a:lnTo>
                  <a:pt x="6948741" y="1228725"/>
                </a:lnTo>
                <a:lnTo>
                  <a:pt x="6910248" y="1202728"/>
                </a:lnTo>
                <a:lnTo>
                  <a:pt x="6868452" y="1181747"/>
                </a:lnTo>
                <a:lnTo>
                  <a:pt x="6823786" y="1166241"/>
                </a:lnTo>
                <a:lnTo>
                  <a:pt x="6776682" y="1156614"/>
                </a:lnTo>
                <a:lnTo>
                  <a:pt x="6727558" y="1153312"/>
                </a:lnTo>
                <a:lnTo>
                  <a:pt x="361950" y="1153312"/>
                </a:lnTo>
                <a:lnTo>
                  <a:pt x="312826" y="1156614"/>
                </a:lnTo>
                <a:lnTo>
                  <a:pt x="265722" y="1166241"/>
                </a:lnTo>
                <a:lnTo>
                  <a:pt x="221056" y="1181747"/>
                </a:lnTo>
                <a:lnTo>
                  <a:pt x="179260" y="1202728"/>
                </a:lnTo>
                <a:lnTo>
                  <a:pt x="140766" y="1228725"/>
                </a:lnTo>
                <a:lnTo>
                  <a:pt x="106006" y="1259319"/>
                </a:lnTo>
                <a:lnTo>
                  <a:pt x="75412" y="1294079"/>
                </a:lnTo>
                <a:lnTo>
                  <a:pt x="49415" y="1332572"/>
                </a:lnTo>
                <a:lnTo>
                  <a:pt x="28435" y="1374368"/>
                </a:lnTo>
                <a:lnTo>
                  <a:pt x="12928" y="1419034"/>
                </a:lnTo>
                <a:lnTo>
                  <a:pt x="3302" y="1466138"/>
                </a:lnTo>
                <a:lnTo>
                  <a:pt x="0" y="1515262"/>
                </a:lnTo>
                <a:lnTo>
                  <a:pt x="0" y="1773212"/>
                </a:lnTo>
                <a:lnTo>
                  <a:pt x="3302" y="1822335"/>
                </a:lnTo>
                <a:lnTo>
                  <a:pt x="12928" y="1869440"/>
                </a:lnTo>
                <a:lnTo>
                  <a:pt x="28435" y="1914105"/>
                </a:lnTo>
                <a:lnTo>
                  <a:pt x="49415" y="1955901"/>
                </a:lnTo>
                <a:lnTo>
                  <a:pt x="75412" y="1994395"/>
                </a:lnTo>
                <a:lnTo>
                  <a:pt x="106006" y="2029155"/>
                </a:lnTo>
                <a:lnTo>
                  <a:pt x="140766" y="2059749"/>
                </a:lnTo>
                <a:lnTo>
                  <a:pt x="179260" y="2085746"/>
                </a:lnTo>
                <a:lnTo>
                  <a:pt x="221056" y="2106726"/>
                </a:lnTo>
                <a:lnTo>
                  <a:pt x="265722" y="2122233"/>
                </a:lnTo>
                <a:lnTo>
                  <a:pt x="312826" y="2131860"/>
                </a:lnTo>
                <a:lnTo>
                  <a:pt x="361950" y="2135162"/>
                </a:lnTo>
                <a:lnTo>
                  <a:pt x="6727558" y="2135162"/>
                </a:lnTo>
                <a:lnTo>
                  <a:pt x="6776682" y="2131860"/>
                </a:lnTo>
                <a:lnTo>
                  <a:pt x="6823786" y="2122233"/>
                </a:lnTo>
                <a:lnTo>
                  <a:pt x="6868452" y="2106726"/>
                </a:lnTo>
                <a:lnTo>
                  <a:pt x="6910248" y="2085746"/>
                </a:lnTo>
                <a:lnTo>
                  <a:pt x="6948741" y="2059749"/>
                </a:lnTo>
                <a:lnTo>
                  <a:pt x="6983501" y="2029155"/>
                </a:lnTo>
                <a:lnTo>
                  <a:pt x="7014096" y="1994395"/>
                </a:lnTo>
                <a:lnTo>
                  <a:pt x="7040092" y="1955901"/>
                </a:lnTo>
                <a:lnTo>
                  <a:pt x="7061073" y="1914105"/>
                </a:lnTo>
                <a:lnTo>
                  <a:pt x="7076580" y="1869440"/>
                </a:lnTo>
                <a:lnTo>
                  <a:pt x="7086206" y="1822335"/>
                </a:lnTo>
                <a:lnTo>
                  <a:pt x="7087794" y="1798688"/>
                </a:lnTo>
                <a:lnTo>
                  <a:pt x="7087794" y="1489786"/>
                </a:lnTo>
                <a:close/>
              </a:path>
              <a:path w="7087869" h="3284854">
                <a:moveTo>
                  <a:pt x="7087794" y="336473"/>
                </a:moveTo>
                <a:lnTo>
                  <a:pt x="7076580" y="265722"/>
                </a:lnTo>
                <a:lnTo>
                  <a:pt x="7061073" y="221056"/>
                </a:lnTo>
                <a:lnTo>
                  <a:pt x="7040092" y="179260"/>
                </a:lnTo>
                <a:lnTo>
                  <a:pt x="7014096" y="140766"/>
                </a:lnTo>
                <a:lnTo>
                  <a:pt x="6983501" y="106006"/>
                </a:lnTo>
                <a:lnTo>
                  <a:pt x="6948741" y="75412"/>
                </a:lnTo>
                <a:lnTo>
                  <a:pt x="6910248" y="49415"/>
                </a:lnTo>
                <a:lnTo>
                  <a:pt x="6868452" y="28435"/>
                </a:lnTo>
                <a:lnTo>
                  <a:pt x="6823786" y="12928"/>
                </a:lnTo>
                <a:lnTo>
                  <a:pt x="6776682" y="3302"/>
                </a:lnTo>
                <a:lnTo>
                  <a:pt x="6727558" y="0"/>
                </a:lnTo>
                <a:lnTo>
                  <a:pt x="361950" y="0"/>
                </a:lnTo>
                <a:lnTo>
                  <a:pt x="312826" y="3302"/>
                </a:lnTo>
                <a:lnTo>
                  <a:pt x="265722" y="12928"/>
                </a:lnTo>
                <a:lnTo>
                  <a:pt x="221056" y="28435"/>
                </a:lnTo>
                <a:lnTo>
                  <a:pt x="179260" y="49415"/>
                </a:lnTo>
                <a:lnTo>
                  <a:pt x="140766" y="75412"/>
                </a:lnTo>
                <a:lnTo>
                  <a:pt x="106006" y="106006"/>
                </a:lnTo>
                <a:lnTo>
                  <a:pt x="75412" y="140766"/>
                </a:lnTo>
                <a:lnTo>
                  <a:pt x="49415" y="179260"/>
                </a:lnTo>
                <a:lnTo>
                  <a:pt x="28435" y="221056"/>
                </a:lnTo>
                <a:lnTo>
                  <a:pt x="12928" y="265722"/>
                </a:lnTo>
                <a:lnTo>
                  <a:pt x="3302" y="312839"/>
                </a:lnTo>
                <a:lnTo>
                  <a:pt x="0" y="361950"/>
                </a:lnTo>
                <a:lnTo>
                  <a:pt x="0" y="619912"/>
                </a:lnTo>
                <a:lnTo>
                  <a:pt x="3302" y="669023"/>
                </a:lnTo>
                <a:lnTo>
                  <a:pt x="12928" y="716127"/>
                </a:lnTo>
                <a:lnTo>
                  <a:pt x="28435" y="760793"/>
                </a:lnTo>
                <a:lnTo>
                  <a:pt x="49415" y="802589"/>
                </a:lnTo>
                <a:lnTo>
                  <a:pt x="75412" y="841082"/>
                </a:lnTo>
                <a:lnTo>
                  <a:pt x="106006" y="875842"/>
                </a:lnTo>
                <a:lnTo>
                  <a:pt x="140766" y="906437"/>
                </a:lnTo>
                <a:lnTo>
                  <a:pt x="179260" y="932446"/>
                </a:lnTo>
                <a:lnTo>
                  <a:pt x="221056" y="953414"/>
                </a:lnTo>
                <a:lnTo>
                  <a:pt x="265722" y="968933"/>
                </a:lnTo>
                <a:lnTo>
                  <a:pt x="312826" y="978547"/>
                </a:lnTo>
                <a:lnTo>
                  <a:pt x="361950" y="981862"/>
                </a:lnTo>
                <a:lnTo>
                  <a:pt x="6727558" y="981862"/>
                </a:lnTo>
                <a:lnTo>
                  <a:pt x="6776682" y="978547"/>
                </a:lnTo>
                <a:lnTo>
                  <a:pt x="6823786" y="968933"/>
                </a:lnTo>
                <a:lnTo>
                  <a:pt x="6868452" y="953414"/>
                </a:lnTo>
                <a:lnTo>
                  <a:pt x="6910248" y="932446"/>
                </a:lnTo>
                <a:lnTo>
                  <a:pt x="6948741" y="906437"/>
                </a:lnTo>
                <a:lnTo>
                  <a:pt x="6983501" y="875842"/>
                </a:lnTo>
                <a:lnTo>
                  <a:pt x="7014096" y="841082"/>
                </a:lnTo>
                <a:lnTo>
                  <a:pt x="7040092" y="802589"/>
                </a:lnTo>
                <a:lnTo>
                  <a:pt x="7061073" y="760793"/>
                </a:lnTo>
                <a:lnTo>
                  <a:pt x="7076580" y="716127"/>
                </a:lnTo>
                <a:lnTo>
                  <a:pt x="7086206" y="669023"/>
                </a:lnTo>
                <a:lnTo>
                  <a:pt x="7087794" y="645375"/>
                </a:lnTo>
                <a:lnTo>
                  <a:pt x="7087794" y="336473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465386" y="4251889"/>
            <a:ext cx="7087870" cy="982344"/>
          </a:xfrm>
          <a:custGeom>
            <a:avLst/>
            <a:gdLst/>
            <a:ahLst/>
            <a:cxnLst/>
            <a:rect l="l" t="t" r="r" b="b"/>
            <a:pathLst>
              <a:path w="7087869" h="982345">
                <a:moveTo>
                  <a:pt x="6727567" y="981860"/>
                </a:moveTo>
                <a:lnTo>
                  <a:pt x="361950" y="981860"/>
                </a:lnTo>
                <a:lnTo>
                  <a:pt x="312835" y="978556"/>
                </a:lnTo>
                <a:lnTo>
                  <a:pt x="265729" y="968931"/>
                </a:lnTo>
                <a:lnTo>
                  <a:pt x="221062" y="953416"/>
                </a:lnTo>
                <a:lnTo>
                  <a:pt x="179267" y="932443"/>
                </a:lnTo>
                <a:lnTo>
                  <a:pt x="140773" y="906443"/>
                </a:lnTo>
                <a:lnTo>
                  <a:pt x="106012" y="875847"/>
                </a:lnTo>
                <a:lnTo>
                  <a:pt x="75416" y="841087"/>
                </a:lnTo>
                <a:lnTo>
                  <a:pt x="49416" y="802593"/>
                </a:lnTo>
                <a:lnTo>
                  <a:pt x="28443" y="760797"/>
                </a:lnTo>
                <a:lnTo>
                  <a:pt x="12929" y="716131"/>
                </a:lnTo>
                <a:lnTo>
                  <a:pt x="3304" y="669024"/>
                </a:lnTo>
                <a:lnTo>
                  <a:pt x="0" y="619910"/>
                </a:lnTo>
                <a:lnTo>
                  <a:pt x="0" y="361950"/>
                </a:lnTo>
                <a:lnTo>
                  <a:pt x="3304" y="312835"/>
                </a:lnTo>
                <a:lnTo>
                  <a:pt x="12929" y="265729"/>
                </a:lnTo>
                <a:lnTo>
                  <a:pt x="28443" y="221062"/>
                </a:lnTo>
                <a:lnTo>
                  <a:pt x="49416" y="179266"/>
                </a:lnTo>
                <a:lnTo>
                  <a:pt x="75416" y="140773"/>
                </a:lnTo>
                <a:lnTo>
                  <a:pt x="106012" y="106012"/>
                </a:lnTo>
                <a:lnTo>
                  <a:pt x="140773" y="75416"/>
                </a:lnTo>
                <a:lnTo>
                  <a:pt x="179267" y="49416"/>
                </a:lnTo>
                <a:lnTo>
                  <a:pt x="221062" y="28443"/>
                </a:lnTo>
                <a:lnTo>
                  <a:pt x="265729" y="12929"/>
                </a:lnTo>
                <a:lnTo>
                  <a:pt x="312835" y="3304"/>
                </a:lnTo>
                <a:lnTo>
                  <a:pt x="361950" y="0"/>
                </a:lnTo>
                <a:lnTo>
                  <a:pt x="6727567" y="0"/>
                </a:lnTo>
                <a:lnTo>
                  <a:pt x="6776682" y="3304"/>
                </a:lnTo>
                <a:lnTo>
                  <a:pt x="6823788" y="12929"/>
                </a:lnTo>
                <a:lnTo>
                  <a:pt x="6868455" y="28443"/>
                </a:lnTo>
                <a:lnTo>
                  <a:pt x="6910250" y="49416"/>
                </a:lnTo>
                <a:lnTo>
                  <a:pt x="6948744" y="75416"/>
                </a:lnTo>
                <a:lnTo>
                  <a:pt x="6983505" y="106012"/>
                </a:lnTo>
                <a:lnTo>
                  <a:pt x="7014100" y="140773"/>
                </a:lnTo>
                <a:lnTo>
                  <a:pt x="7040100" y="179266"/>
                </a:lnTo>
                <a:lnTo>
                  <a:pt x="7061073" y="221062"/>
                </a:lnTo>
                <a:lnTo>
                  <a:pt x="7076588" y="265729"/>
                </a:lnTo>
                <a:lnTo>
                  <a:pt x="7086213" y="312835"/>
                </a:lnTo>
                <a:lnTo>
                  <a:pt x="7087803" y="336478"/>
                </a:lnTo>
                <a:lnTo>
                  <a:pt x="7087803" y="645381"/>
                </a:lnTo>
                <a:lnTo>
                  <a:pt x="7076588" y="716131"/>
                </a:lnTo>
                <a:lnTo>
                  <a:pt x="7061073" y="760797"/>
                </a:lnTo>
                <a:lnTo>
                  <a:pt x="7040100" y="802593"/>
                </a:lnTo>
                <a:lnTo>
                  <a:pt x="7014100" y="841087"/>
                </a:lnTo>
                <a:lnTo>
                  <a:pt x="6983505" y="875847"/>
                </a:lnTo>
                <a:lnTo>
                  <a:pt x="6948744" y="906443"/>
                </a:lnTo>
                <a:lnTo>
                  <a:pt x="6910250" y="932443"/>
                </a:lnTo>
                <a:lnTo>
                  <a:pt x="6868455" y="953416"/>
                </a:lnTo>
                <a:lnTo>
                  <a:pt x="6823788" y="968931"/>
                </a:lnTo>
                <a:lnTo>
                  <a:pt x="6776682" y="978556"/>
                </a:lnTo>
                <a:lnTo>
                  <a:pt x="6727567" y="981860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787550" y="4476743"/>
            <a:ext cx="6445250" cy="37261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Zero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Trust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(Waverley</a:t>
            </a:r>
            <a:r>
              <a:rPr sz="24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Approach)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70"/>
              </a:spcBef>
            </a:pPr>
            <a:endParaRPr sz="24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Dynamic,</a:t>
            </a:r>
            <a:r>
              <a:rPr sz="245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invisible</a:t>
            </a:r>
            <a:r>
              <a:rPr sz="245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perimeters;</a:t>
            </a:r>
            <a:r>
              <a:rPr sz="245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assume</a:t>
            </a:r>
            <a:r>
              <a:rPr sz="245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breach</a:t>
            </a:r>
            <a:endParaRPr sz="2450">
              <a:latin typeface="Arial MT"/>
              <a:cs typeface="Arial MT"/>
            </a:endParaRPr>
          </a:p>
          <a:p>
            <a:pPr marL="283210" marR="266700" indent="-8890">
              <a:lnSpc>
                <a:spcPct val="307900"/>
              </a:lnSpc>
              <a:spcBef>
                <a:spcPts val="30"/>
              </a:spcBef>
            </a:pP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Identity-centric</a:t>
            </a:r>
            <a:r>
              <a:rPr sz="245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24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continuous</a:t>
            </a:r>
            <a:r>
              <a:rPr sz="245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verification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Proactive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r>
              <a:rPr sz="24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quantification</a:t>
            </a:r>
            <a:r>
              <a:rPr sz="24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mitigation</a:t>
            </a:r>
            <a:endParaRPr sz="245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65386" y="3098579"/>
            <a:ext cx="7087803" cy="98186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134272" y="3167889"/>
            <a:ext cx="1751964" cy="647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50" b="1" spc="-10" dirty="0">
                <a:latin typeface="Arial"/>
                <a:cs typeface="Arial"/>
              </a:rPr>
              <a:t>AFTER</a:t>
            </a:r>
            <a:endParaRPr sz="405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76677" y="6186501"/>
            <a:ext cx="16211321" cy="41004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33371" y="5804469"/>
            <a:ext cx="6907530" cy="239395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 marR="5080">
              <a:lnSpc>
                <a:spcPts val="5910"/>
              </a:lnSpc>
              <a:spcBef>
                <a:spcPts val="1060"/>
              </a:spcBef>
            </a:pPr>
            <a:r>
              <a:rPr sz="5650" b="1" spc="-16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5650" b="1" spc="-4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650" b="1" spc="-180" dirty="0">
                <a:solidFill>
                  <a:srgbClr val="FFFFFF"/>
                </a:solidFill>
                <a:latin typeface="Arial"/>
                <a:cs typeface="Arial"/>
              </a:rPr>
              <a:t>Core</a:t>
            </a:r>
            <a:r>
              <a:rPr sz="5650" b="1" spc="-4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650" b="1" spc="-185" dirty="0">
                <a:solidFill>
                  <a:srgbClr val="FFFFFF"/>
                </a:solidFill>
                <a:latin typeface="Arial"/>
                <a:cs typeface="Arial"/>
              </a:rPr>
              <a:t>Framework: </a:t>
            </a:r>
            <a:r>
              <a:rPr sz="5650" b="1" spc="-21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5650" b="1" spc="-4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650" b="1" spc="-30" dirty="0">
                <a:solidFill>
                  <a:srgbClr val="FFFFFF"/>
                </a:solidFill>
                <a:latin typeface="Arial"/>
                <a:cs typeface="Arial"/>
              </a:rPr>
              <a:t>Defined </a:t>
            </a:r>
            <a:r>
              <a:rPr sz="5650" b="1" spc="-220" dirty="0">
                <a:solidFill>
                  <a:srgbClr val="FFFFFF"/>
                </a:solidFill>
                <a:latin typeface="Arial"/>
                <a:cs typeface="Arial"/>
              </a:rPr>
              <a:t>Perimeter</a:t>
            </a:r>
            <a:r>
              <a:rPr sz="5650" b="1" spc="-4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650" b="1" spc="-10" dirty="0">
                <a:solidFill>
                  <a:srgbClr val="FFFFFF"/>
                </a:solidFill>
                <a:latin typeface="Arial"/>
                <a:cs typeface="Arial"/>
              </a:rPr>
              <a:t>(SDP)</a:t>
            </a:r>
            <a:endParaRPr sz="56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474586" y="7560208"/>
            <a:ext cx="4545330" cy="1510030"/>
          </a:xfrm>
          <a:custGeom>
            <a:avLst/>
            <a:gdLst/>
            <a:ahLst/>
            <a:cxnLst/>
            <a:rect l="l" t="t" r="r" b="b"/>
            <a:pathLst>
              <a:path w="4545330" h="1510029">
                <a:moveTo>
                  <a:pt x="4345055" y="1509786"/>
                </a:moveTo>
                <a:lnTo>
                  <a:pt x="200024" y="1509786"/>
                </a:lnTo>
                <a:lnTo>
                  <a:pt x="160819" y="1505907"/>
                </a:lnTo>
                <a:lnTo>
                  <a:pt x="123478" y="1494560"/>
                </a:lnTo>
                <a:lnTo>
                  <a:pt x="89051" y="1476179"/>
                </a:lnTo>
                <a:lnTo>
                  <a:pt x="58586" y="1451199"/>
                </a:lnTo>
                <a:lnTo>
                  <a:pt x="33606" y="1420734"/>
                </a:lnTo>
                <a:lnTo>
                  <a:pt x="15225" y="1386307"/>
                </a:lnTo>
                <a:lnTo>
                  <a:pt x="3878" y="1348966"/>
                </a:lnTo>
                <a:lnTo>
                  <a:pt x="0" y="1309761"/>
                </a:lnTo>
                <a:lnTo>
                  <a:pt x="0" y="200024"/>
                </a:lnTo>
                <a:lnTo>
                  <a:pt x="3878" y="160819"/>
                </a:lnTo>
                <a:lnTo>
                  <a:pt x="15225" y="123478"/>
                </a:lnTo>
                <a:lnTo>
                  <a:pt x="33606" y="89051"/>
                </a:lnTo>
                <a:lnTo>
                  <a:pt x="58586" y="58586"/>
                </a:lnTo>
                <a:lnTo>
                  <a:pt x="89051" y="33606"/>
                </a:lnTo>
                <a:lnTo>
                  <a:pt x="123478" y="15226"/>
                </a:lnTo>
                <a:lnTo>
                  <a:pt x="160819" y="3878"/>
                </a:lnTo>
                <a:lnTo>
                  <a:pt x="200024" y="0"/>
                </a:lnTo>
                <a:lnTo>
                  <a:pt x="4345055" y="0"/>
                </a:lnTo>
                <a:lnTo>
                  <a:pt x="4384260" y="3878"/>
                </a:lnTo>
                <a:lnTo>
                  <a:pt x="4421601" y="15226"/>
                </a:lnTo>
                <a:lnTo>
                  <a:pt x="4456029" y="33606"/>
                </a:lnTo>
                <a:lnTo>
                  <a:pt x="4486494" y="58586"/>
                </a:lnTo>
                <a:lnTo>
                  <a:pt x="4511473" y="89051"/>
                </a:lnTo>
                <a:lnTo>
                  <a:pt x="4529854" y="123478"/>
                </a:lnTo>
                <a:lnTo>
                  <a:pt x="4541201" y="160819"/>
                </a:lnTo>
                <a:lnTo>
                  <a:pt x="4545080" y="200024"/>
                </a:lnTo>
                <a:lnTo>
                  <a:pt x="4545080" y="1309761"/>
                </a:lnTo>
                <a:lnTo>
                  <a:pt x="4541201" y="1348966"/>
                </a:lnTo>
                <a:lnTo>
                  <a:pt x="4529854" y="1386307"/>
                </a:lnTo>
                <a:lnTo>
                  <a:pt x="4511473" y="1420734"/>
                </a:lnTo>
                <a:lnTo>
                  <a:pt x="4486494" y="1451199"/>
                </a:lnTo>
                <a:lnTo>
                  <a:pt x="4456029" y="1476179"/>
                </a:lnTo>
                <a:lnTo>
                  <a:pt x="4421601" y="1494560"/>
                </a:lnTo>
                <a:lnTo>
                  <a:pt x="4384260" y="1505907"/>
                </a:lnTo>
                <a:lnTo>
                  <a:pt x="4345055" y="1509786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948148" y="7599475"/>
            <a:ext cx="3383279" cy="128270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3.</a:t>
            </a:r>
            <a:r>
              <a:rPr sz="15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Open-Source</a:t>
            </a:r>
            <a:r>
              <a:rPr sz="15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Pioneer:</a:t>
            </a:r>
            <a:endParaRPr sz="1550">
              <a:latin typeface="Arial MT"/>
              <a:cs typeface="Arial MT"/>
            </a:endParaRPr>
          </a:p>
          <a:p>
            <a:pPr marL="12700" marR="5080">
              <a:lnSpc>
                <a:spcPct val="133100"/>
              </a:lnSpc>
            </a:pP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First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commercial</a:t>
            </a:r>
            <a:r>
              <a:rPr sz="15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SDP</a:t>
            </a:r>
            <a:r>
              <a:rPr sz="15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spec;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FFFFFF"/>
                </a:solidFill>
                <a:latin typeface="Arial MT"/>
                <a:cs typeface="Arial MT"/>
              </a:rPr>
              <a:t>DHS-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funded</a:t>
            </a:r>
            <a:r>
              <a:rPr sz="15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open-source</a:t>
            </a:r>
            <a:r>
              <a:rPr sz="15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version</a:t>
            </a:r>
            <a:r>
              <a:rPr sz="15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5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FFFFFF"/>
                </a:solidFill>
                <a:latin typeface="Arial MT"/>
                <a:cs typeface="Arial MT"/>
              </a:rPr>
              <a:t>DDoS 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defense.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474586" y="2872837"/>
            <a:ext cx="4545330" cy="1510030"/>
          </a:xfrm>
          <a:custGeom>
            <a:avLst/>
            <a:gdLst/>
            <a:ahLst/>
            <a:cxnLst/>
            <a:rect l="l" t="t" r="r" b="b"/>
            <a:pathLst>
              <a:path w="4545330" h="1510029">
                <a:moveTo>
                  <a:pt x="4345055" y="1509785"/>
                </a:moveTo>
                <a:lnTo>
                  <a:pt x="200024" y="1509785"/>
                </a:lnTo>
                <a:lnTo>
                  <a:pt x="160819" y="1505906"/>
                </a:lnTo>
                <a:lnTo>
                  <a:pt x="123478" y="1494559"/>
                </a:lnTo>
                <a:lnTo>
                  <a:pt x="89051" y="1476179"/>
                </a:lnTo>
                <a:lnTo>
                  <a:pt x="58586" y="1451200"/>
                </a:lnTo>
                <a:lnTo>
                  <a:pt x="33606" y="1420734"/>
                </a:lnTo>
                <a:lnTo>
                  <a:pt x="15225" y="1386307"/>
                </a:lnTo>
                <a:lnTo>
                  <a:pt x="3878" y="1348966"/>
                </a:lnTo>
                <a:lnTo>
                  <a:pt x="0" y="1309760"/>
                </a:lnTo>
                <a:lnTo>
                  <a:pt x="0" y="200024"/>
                </a:lnTo>
                <a:lnTo>
                  <a:pt x="3878" y="160819"/>
                </a:lnTo>
                <a:lnTo>
                  <a:pt x="15225" y="123478"/>
                </a:lnTo>
                <a:lnTo>
                  <a:pt x="33606" y="89051"/>
                </a:lnTo>
                <a:lnTo>
                  <a:pt x="58586" y="58586"/>
                </a:lnTo>
                <a:lnTo>
                  <a:pt x="89051" y="33606"/>
                </a:lnTo>
                <a:lnTo>
                  <a:pt x="123478" y="15226"/>
                </a:lnTo>
                <a:lnTo>
                  <a:pt x="160819" y="3878"/>
                </a:lnTo>
                <a:lnTo>
                  <a:pt x="200024" y="0"/>
                </a:lnTo>
                <a:lnTo>
                  <a:pt x="4345055" y="0"/>
                </a:lnTo>
                <a:lnTo>
                  <a:pt x="4384260" y="3878"/>
                </a:lnTo>
                <a:lnTo>
                  <a:pt x="4421601" y="15226"/>
                </a:lnTo>
                <a:lnTo>
                  <a:pt x="4456029" y="33606"/>
                </a:lnTo>
                <a:lnTo>
                  <a:pt x="4486494" y="58586"/>
                </a:lnTo>
                <a:lnTo>
                  <a:pt x="4511473" y="89051"/>
                </a:lnTo>
                <a:lnTo>
                  <a:pt x="4529854" y="123478"/>
                </a:lnTo>
                <a:lnTo>
                  <a:pt x="4541201" y="160819"/>
                </a:lnTo>
                <a:lnTo>
                  <a:pt x="4545080" y="200024"/>
                </a:lnTo>
                <a:lnTo>
                  <a:pt x="4545080" y="1309760"/>
                </a:lnTo>
                <a:lnTo>
                  <a:pt x="4541201" y="1348966"/>
                </a:lnTo>
                <a:lnTo>
                  <a:pt x="4529854" y="1386307"/>
                </a:lnTo>
                <a:lnTo>
                  <a:pt x="4511473" y="1420734"/>
                </a:lnTo>
                <a:lnTo>
                  <a:pt x="4486494" y="1451200"/>
                </a:lnTo>
                <a:lnTo>
                  <a:pt x="4456029" y="1476179"/>
                </a:lnTo>
                <a:lnTo>
                  <a:pt x="4421601" y="1494559"/>
                </a:lnTo>
                <a:lnTo>
                  <a:pt x="4384260" y="1505906"/>
                </a:lnTo>
                <a:lnTo>
                  <a:pt x="4345055" y="1509785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829633" y="2912104"/>
            <a:ext cx="3613785" cy="128270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1.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Definition</a:t>
            </a:r>
            <a:endParaRPr sz="1550">
              <a:latin typeface="Arial MT"/>
              <a:cs typeface="Arial MT"/>
            </a:endParaRPr>
          </a:p>
          <a:p>
            <a:pPr marL="12700" marR="5080">
              <a:lnSpc>
                <a:spcPct val="133100"/>
              </a:lnSpc>
            </a:pP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SDP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creates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"black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cloud"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resources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invisible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unauthorised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users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FFFFFF"/>
                </a:solidFill>
                <a:latin typeface="Arial MT"/>
                <a:cs typeface="Arial MT"/>
              </a:rPr>
              <a:t>until 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authenticated.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474585" y="4741586"/>
            <a:ext cx="4545330" cy="2456815"/>
            <a:chOff x="11474585" y="4741586"/>
            <a:chExt cx="4545330" cy="2456815"/>
          </a:xfrm>
        </p:grpSpPr>
        <p:sp>
          <p:nvSpPr>
            <p:cNvPr id="8" name="object 8"/>
            <p:cNvSpPr/>
            <p:nvPr/>
          </p:nvSpPr>
          <p:spPr>
            <a:xfrm>
              <a:off x="11474585" y="4741586"/>
              <a:ext cx="4545330" cy="2456815"/>
            </a:xfrm>
            <a:custGeom>
              <a:avLst/>
              <a:gdLst/>
              <a:ahLst/>
              <a:cxnLst/>
              <a:rect l="l" t="t" r="r" b="b"/>
              <a:pathLst>
                <a:path w="4545330" h="2456815">
                  <a:moveTo>
                    <a:pt x="4345055" y="2456671"/>
                  </a:moveTo>
                  <a:lnTo>
                    <a:pt x="200024" y="2456671"/>
                  </a:lnTo>
                  <a:lnTo>
                    <a:pt x="160819" y="2452792"/>
                  </a:lnTo>
                  <a:lnTo>
                    <a:pt x="123478" y="2441445"/>
                  </a:lnTo>
                  <a:lnTo>
                    <a:pt x="89051" y="2423065"/>
                  </a:lnTo>
                  <a:lnTo>
                    <a:pt x="58586" y="2398085"/>
                  </a:lnTo>
                  <a:lnTo>
                    <a:pt x="33606" y="2367620"/>
                  </a:lnTo>
                  <a:lnTo>
                    <a:pt x="15225" y="2333192"/>
                  </a:lnTo>
                  <a:lnTo>
                    <a:pt x="3878" y="2295851"/>
                  </a:lnTo>
                  <a:lnTo>
                    <a:pt x="0" y="2256646"/>
                  </a:lnTo>
                  <a:lnTo>
                    <a:pt x="0" y="200024"/>
                  </a:lnTo>
                  <a:lnTo>
                    <a:pt x="3878" y="160819"/>
                  </a:lnTo>
                  <a:lnTo>
                    <a:pt x="15225" y="123478"/>
                  </a:lnTo>
                  <a:lnTo>
                    <a:pt x="33606" y="89050"/>
                  </a:lnTo>
                  <a:lnTo>
                    <a:pt x="58586" y="58585"/>
                  </a:lnTo>
                  <a:lnTo>
                    <a:pt x="89051" y="33606"/>
                  </a:lnTo>
                  <a:lnTo>
                    <a:pt x="123478" y="15225"/>
                  </a:lnTo>
                  <a:lnTo>
                    <a:pt x="160819" y="3878"/>
                  </a:lnTo>
                  <a:lnTo>
                    <a:pt x="200024" y="0"/>
                  </a:lnTo>
                  <a:lnTo>
                    <a:pt x="4345055" y="0"/>
                  </a:lnTo>
                  <a:lnTo>
                    <a:pt x="4384260" y="3878"/>
                  </a:lnTo>
                  <a:lnTo>
                    <a:pt x="4421601" y="15225"/>
                  </a:lnTo>
                  <a:lnTo>
                    <a:pt x="4456029" y="33606"/>
                  </a:lnTo>
                  <a:lnTo>
                    <a:pt x="4486494" y="58585"/>
                  </a:lnTo>
                  <a:lnTo>
                    <a:pt x="4511473" y="89050"/>
                  </a:lnTo>
                  <a:lnTo>
                    <a:pt x="4529854" y="123478"/>
                  </a:lnTo>
                  <a:lnTo>
                    <a:pt x="4541201" y="160819"/>
                  </a:lnTo>
                  <a:lnTo>
                    <a:pt x="4545080" y="200024"/>
                  </a:lnTo>
                  <a:lnTo>
                    <a:pt x="4545080" y="2256646"/>
                  </a:lnTo>
                  <a:lnTo>
                    <a:pt x="4541201" y="2295851"/>
                  </a:lnTo>
                  <a:lnTo>
                    <a:pt x="4529854" y="2333192"/>
                  </a:lnTo>
                  <a:lnTo>
                    <a:pt x="4511473" y="2367620"/>
                  </a:lnTo>
                  <a:lnTo>
                    <a:pt x="4486494" y="2398085"/>
                  </a:lnTo>
                  <a:lnTo>
                    <a:pt x="4456029" y="2423065"/>
                  </a:lnTo>
                  <a:lnTo>
                    <a:pt x="4421601" y="2441445"/>
                  </a:lnTo>
                  <a:lnTo>
                    <a:pt x="4384260" y="2452792"/>
                  </a:lnTo>
                  <a:lnTo>
                    <a:pt x="4345055" y="2456671"/>
                  </a:lnTo>
                  <a:close/>
                </a:path>
              </a:pathLst>
            </a:custGeom>
            <a:solidFill>
              <a:srgbClr val="2020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141823" y="5314022"/>
              <a:ext cx="47625" cy="1304925"/>
            </a:xfrm>
            <a:custGeom>
              <a:avLst/>
              <a:gdLst/>
              <a:ahLst/>
              <a:cxnLst/>
              <a:rect l="l" t="t" r="r" b="b"/>
              <a:pathLst>
                <a:path w="47625" h="1304925">
                  <a:moveTo>
                    <a:pt x="47625" y="1277950"/>
                  </a:moveTo>
                  <a:lnTo>
                    <a:pt x="26962" y="1257300"/>
                  </a:lnTo>
                  <a:lnTo>
                    <a:pt x="20650" y="1257300"/>
                  </a:lnTo>
                  <a:lnTo>
                    <a:pt x="0" y="1277950"/>
                  </a:lnTo>
                  <a:lnTo>
                    <a:pt x="0" y="1284274"/>
                  </a:lnTo>
                  <a:lnTo>
                    <a:pt x="20650" y="1304925"/>
                  </a:lnTo>
                  <a:lnTo>
                    <a:pt x="26962" y="1304925"/>
                  </a:lnTo>
                  <a:lnTo>
                    <a:pt x="47625" y="1284274"/>
                  </a:lnTo>
                  <a:lnTo>
                    <a:pt x="47625" y="1281112"/>
                  </a:lnTo>
                  <a:lnTo>
                    <a:pt x="47625" y="1277950"/>
                  </a:lnTo>
                  <a:close/>
                </a:path>
                <a:path w="47625" h="1304925">
                  <a:moveTo>
                    <a:pt x="47625" y="649300"/>
                  </a:moveTo>
                  <a:lnTo>
                    <a:pt x="26962" y="628650"/>
                  </a:lnTo>
                  <a:lnTo>
                    <a:pt x="20650" y="628650"/>
                  </a:lnTo>
                  <a:lnTo>
                    <a:pt x="0" y="649300"/>
                  </a:lnTo>
                  <a:lnTo>
                    <a:pt x="0" y="655624"/>
                  </a:lnTo>
                  <a:lnTo>
                    <a:pt x="20650" y="676275"/>
                  </a:lnTo>
                  <a:lnTo>
                    <a:pt x="26962" y="676275"/>
                  </a:lnTo>
                  <a:lnTo>
                    <a:pt x="47625" y="655624"/>
                  </a:lnTo>
                  <a:lnTo>
                    <a:pt x="47625" y="652462"/>
                  </a:lnTo>
                  <a:lnTo>
                    <a:pt x="47625" y="649300"/>
                  </a:lnTo>
                  <a:close/>
                </a:path>
                <a:path w="47625" h="1304925">
                  <a:moveTo>
                    <a:pt x="47625" y="20650"/>
                  </a:moveTo>
                  <a:lnTo>
                    <a:pt x="26962" y="0"/>
                  </a:lnTo>
                  <a:lnTo>
                    <a:pt x="20650" y="0"/>
                  </a:lnTo>
                  <a:lnTo>
                    <a:pt x="0" y="20650"/>
                  </a:lnTo>
                  <a:lnTo>
                    <a:pt x="0" y="26974"/>
                  </a:lnTo>
                  <a:lnTo>
                    <a:pt x="20650" y="47625"/>
                  </a:lnTo>
                  <a:lnTo>
                    <a:pt x="26962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948148" y="4788889"/>
            <a:ext cx="3511550" cy="222567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2.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Principles:</a:t>
            </a:r>
            <a:endParaRPr sz="1550">
              <a:latin typeface="Arial MT"/>
              <a:cs typeface="Arial MT"/>
            </a:endParaRPr>
          </a:p>
          <a:p>
            <a:pPr marL="352425" marR="470534">
              <a:lnSpc>
                <a:spcPct val="133100"/>
              </a:lnSpc>
            </a:pP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Mutual</a:t>
            </a:r>
            <a:r>
              <a:rPr sz="15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authentication</a:t>
            </a:r>
            <a:r>
              <a:rPr sz="15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(client</a:t>
            </a:r>
            <a:r>
              <a:rPr sz="15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50" dirty="0">
                <a:solidFill>
                  <a:srgbClr val="FFFFFF"/>
                </a:solidFill>
                <a:latin typeface="Arial MT"/>
                <a:cs typeface="Arial MT"/>
              </a:rPr>
              <a:t>&amp; 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gateway).</a:t>
            </a:r>
            <a:endParaRPr sz="1550">
              <a:latin typeface="Arial MT"/>
              <a:cs typeface="Arial MT"/>
            </a:endParaRPr>
          </a:p>
          <a:p>
            <a:pPr marL="352425" marR="5080">
              <a:lnSpc>
                <a:spcPct val="133100"/>
              </a:lnSpc>
            </a:pP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Just-in-time</a:t>
            </a:r>
            <a:r>
              <a:rPr sz="15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access</a:t>
            </a:r>
            <a:r>
              <a:rPr sz="15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(dynamic</a:t>
            </a:r>
            <a:r>
              <a:rPr sz="15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policy enforcement).</a:t>
            </a:r>
            <a:endParaRPr sz="1550">
              <a:latin typeface="Arial MT"/>
              <a:cs typeface="Arial MT"/>
            </a:endParaRPr>
          </a:p>
          <a:p>
            <a:pPr marL="352425" marR="137795">
              <a:lnSpc>
                <a:spcPct val="133100"/>
              </a:lnSpc>
            </a:pP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Micro-segmentation</a:t>
            </a:r>
            <a:r>
              <a:rPr sz="15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(per-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resource isolation).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"/>
            <a:ext cx="6191250" cy="4254500"/>
          </a:xfrm>
          <a:custGeom>
            <a:avLst/>
            <a:gdLst/>
            <a:ahLst/>
            <a:cxnLst/>
            <a:rect l="l" t="t" r="r" b="b"/>
            <a:pathLst>
              <a:path w="6191250" h="4254500">
                <a:moveTo>
                  <a:pt x="3556050" y="0"/>
                </a:moveTo>
                <a:lnTo>
                  <a:pt x="0" y="0"/>
                </a:lnTo>
                <a:lnTo>
                  <a:pt x="0" y="1729917"/>
                </a:lnTo>
                <a:lnTo>
                  <a:pt x="50723" y="1739404"/>
                </a:lnTo>
                <a:lnTo>
                  <a:pt x="98005" y="1747481"/>
                </a:lnTo>
                <a:lnTo>
                  <a:pt x="145529" y="1754873"/>
                </a:lnTo>
                <a:lnTo>
                  <a:pt x="193255" y="1761604"/>
                </a:lnTo>
                <a:lnTo>
                  <a:pt x="241223" y="1767636"/>
                </a:lnTo>
                <a:lnTo>
                  <a:pt x="289382" y="1772983"/>
                </a:lnTo>
                <a:lnTo>
                  <a:pt x="337756" y="1777631"/>
                </a:lnTo>
                <a:lnTo>
                  <a:pt x="386334" y="1781581"/>
                </a:lnTo>
                <a:lnTo>
                  <a:pt x="435114" y="1784819"/>
                </a:lnTo>
                <a:lnTo>
                  <a:pt x="481647" y="1787220"/>
                </a:lnTo>
                <a:lnTo>
                  <a:pt x="480669" y="1787220"/>
                </a:lnTo>
                <a:lnTo>
                  <a:pt x="531710" y="1789099"/>
                </a:lnTo>
                <a:lnTo>
                  <a:pt x="530694" y="1789099"/>
                </a:lnTo>
                <a:lnTo>
                  <a:pt x="581926" y="1790242"/>
                </a:lnTo>
                <a:lnTo>
                  <a:pt x="580656" y="1790242"/>
                </a:lnTo>
                <a:lnTo>
                  <a:pt x="632066" y="1790611"/>
                </a:lnTo>
                <a:lnTo>
                  <a:pt x="706755" y="1790242"/>
                </a:lnTo>
                <a:lnTo>
                  <a:pt x="779716" y="1789099"/>
                </a:lnTo>
                <a:lnTo>
                  <a:pt x="850976" y="1787220"/>
                </a:lnTo>
                <a:lnTo>
                  <a:pt x="920559" y="1784591"/>
                </a:lnTo>
                <a:lnTo>
                  <a:pt x="988517" y="1781225"/>
                </a:lnTo>
                <a:lnTo>
                  <a:pt x="1054862" y="1777136"/>
                </a:lnTo>
                <a:lnTo>
                  <a:pt x="1119632" y="1772310"/>
                </a:lnTo>
                <a:lnTo>
                  <a:pt x="1182852" y="1766760"/>
                </a:lnTo>
                <a:lnTo>
                  <a:pt x="1244574" y="1760486"/>
                </a:lnTo>
                <a:lnTo>
                  <a:pt x="1304823" y="1753514"/>
                </a:lnTo>
                <a:lnTo>
                  <a:pt x="1363624" y="1745830"/>
                </a:lnTo>
                <a:lnTo>
                  <a:pt x="1421015" y="1737448"/>
                </a:lnTo>
                <a:lnTo>
                  <a:pt x="1477035" y="1728368"/>
                </a:lnTo>
                <a:lnTo>
                  <a:pt x="1531696" y="1718602"/>
                </a:lnTo>
                <a:lnTo>
                  <a:pt x="1585048" y="1708137"/>
                </a:lnTo>
                <a:lnTo>
                  <a:pt x="1637118" y="1697012"/>
                </a:lnTo>
                <a:lnTo>
                  <a:pt x="1687944" y="1685201"/>
                </a:lnTo>
                <a:lnTo>
                  <a:pt x="1737550" y="1672717"/>
                </a:lnTo>
                <a:lnTo>
                  <a:pt x="1785975" y="1659585"/>
                </a:lnTo>
                <a:lnTo>
                  <a:pt x="1833245" y="1645780"/>
                </a:lnTo>
                <a:lnTo>
                  <a:pt x="1879384" y="1631327"/>
                </a:lnTo>
                <a:lnTo>
                  <a:pt x="1924456" y="1616227"/>
                </a:lnTo>
                <a:lnTo>
                  <a:pt x="1968461" y="1600492"/>
                </a:lnTo>
                <a:lnTo>
                  <a:pt x="2011451" y="1584109"/>
                </a:lnTo>
                <a:lnTo>
                  <a:pt x="2053437" y="1567103"/>
                </a:lnTo>
                <a:lnTo>
                  <a:pt x="2094484" y="1549463"/>
                </a:lnTo>
                <a:lnTo>
                  <a:pt x="2134590" y="1531200"/>
                </a:lnTo>
                <a:lnTo>
                  <a:pt x="2173808" y="1512328"/>
                </a:lnTo>
                <a:lnTo>
                  <a:pt x="2212175" y="1492846"/>
                </a:lnTo>
                <a:lnTo>
                  <a:pt x="2249703" y="1472768"/>
                </a:lnTo>
                <a:lnTo>
                  <a:pt x="2286431" y="1452079"/>
                </a:lnTo>
                <a:lnTo>
                  <a:pt x="2322411" y="1430794"/>
                </a:lnTo>
                <a:lnTo>
                  <a:pt x="2357653" y="1408925"/>
                </a:lnTo>
                <a:lnTo>
                  <a:pt x="2392197" y="1386484"/>
                </a:lnTo>
                <a:lnTo>
                  <a:pt x="2426068" y="1363446"/>
                </a:lnTo>
                <a:lnTo>
                  <a:pt x="2459317" y="1339850"/>
                </a:lnTo>
                <a:lnTo>
                  <a:pt x="2491956" y="1315681"/>
                </a:lnTo>
                <a:lnTo>
                  <a:pt x="2524023" y="1290942"/>
                </a:lnTo>
                <a:lnTo>
                  <a:pt x="2555570" y="1265656"/>
                </a:lnTo>
                <a:lnTo>
                  <a:pt x="2586596" y="1239824"/>
                </a:lnTo>
                <a:lnTo>
                  <a:pt x="2617152" y="1213434"/>
                </a:lnTo>
                <a:lnTo>
                  <a:pt x="2647277" y="1186510"/>
                </a:lnTo>
                <a:lnTo>
                  <a:pt x="2676995" y="1159052"/>
                </a:lnTo>
                <a:lnTo>
                  <a:pt x="2706332" y="1131062"/>
                </a:lnTo>
                <a:lnTo>
                  <a:pt x="2735326" y="1102550"/>
                </a:lnTo>
                <a:lnTo>
                  <a:pt x="2764015" y="1073518"/>
                </a:lnTo>
                <a:lnTo>
                  <a:pt x="2792425" y="1043965"/>
                </a:lnTo>
                <a:lnTo>
                  <a:pt x="2820593" y="1013917"/>
                </a:lnTo>
                <a:lnTo>
                  <a:pt x="2848546" y="983361"/>
                </a:lnTo>
                <a:lnTo>
                  <a:pt x="2876321" y="952309"/>
                </a:lnTo>
                <a:lnTo>
                  <a:pt x="2903944" y="920750"/>
                </a:lnTo>
                <a:lnTo>
                  <a:pt x="2931452" y="888720"/>
                </a:lnTo>
                <a:lnTo>
                  <a:pt x="2958884" y="856208"/>
                </a:lnTo>
                <a:lnTo>
                  <a:pt x="2986252" y="823214"/>
                </a:lnTo>
                <a:lnTo>
                  <a:pt x="3013608" y="789749"/>
                </a:lnTo>
                <a:lnTo>
                  <a:pt x="3040977" y="755827"/>
                </a:lnTo>
                <a:lnTo>
                  <a:pt x="3068396" y="721436"/>
                </a:lnTo>
                <a:lnTo>
                  <a:pt x="3095891" y="686587"/>
                </a:lnTo>
                <a:lnTo>
                  <a:pt x="3151251" y="615569"/>
                </a:lnTo>
                <a:lnTo>
                  <a:pt x="3235693" y="505739"/>
                </a:lnTo>
                <a:lnTo>
                  <a:pt x="3265157" y="466902"/>
                </a:lnTo>
                <a:lnTo>
                  <a:pt x="3294049" y="427621"/>
                </a:lnTo>
                <a:lnTo>
                  <a:pt x="3322358" y="387908"/>
                </a:lnTo>
                <a:lnTo>
                  <a:pt x="3350082" y="347751"/>
                </a:lnTo>
                <a:lnTo>
                  <a:pt x="3377222" y="307174"/>
                </a:lnTo>
                <a:lnTo>
                  <a:pt x="3403752" y="266179"/>
                </a:lnTo>
                <a:lnTo>
                  <a:pt x="3429698" y="224764"/>
                </a:lnTo>
                <a:lnTo>
                  <a:pt x="3455022" y="182943"/>
                </a:lnTo>
                <a:lnTo>
                  <a:pt x="3479736" y="140728"/>
                </a:lnTo>
                <a:lnTo>
                  <a:pt x="3503828" y="98107"/>
                </a:lnTo>
                <a:lnTo>
                  <a:pt x="3527285" y="55092"/>
                </a:lnTo>
                <a:lnTo>
                  <a:pt x="3550120" y="11696"/>
                </a:lnTo>
                <a:lnTo>
                  <a:pt x="3556050" y="0"/>
                </a:lnTo>
                <a:close/>
              </a:path>
              <a:path w="6191250" h="4254500">
                <a:moveTo>
                  <a:pt x="6191097" y="0"/>
                </a:moveTo>
                <a:lnTo>
                  <a:pt x="4063555" y="0"/>
                </a:lnTo>
                <a:lnTo>
                  <a:pt x="4042714" y="38100"/>
                </a:lnTo>
                <a:lnTo>
                  <a:pt x="4020731" y="88900"/>
                </a:lnTo>
                <a:lnTo>
                  <a:pt x="4016502" y="101600"/>
                </a:lnTo>
                <a:lnTo>
                  <a:pt x="4008031" y="114300"/>
                </a:lnTo>
                <a:lnTo>
                  <a:pt x="4003789" y="127000"/>
                </a:lnTo>
                <a:lnTo>
                  <a:pt x="3981132" y="177800"/>
                </a:lnTo>
                <a:lnTo>
                  <a:pt x="3957396" y="228600"/>
                </a:lnTo>
                <a:lnTo>
                  <a:pt x="3932834" y="266700"/>
                </a:lnTo>
                <a:lnTo>
                  <a:pt x="3907739" y="317500"/>
                </a:lnTo>
                <a:lnTo>
                  <a:pt x="3882364" y="355600"/>
                </a:lnTo>
                <a:lnTo>
                  <a:pt x="3876459" y="368300"/>
                </a:lnTo>
                <a:lnTo>
                  <a:pt x="3865689" y="393700"/>
                </a:lnTo>
                <a:lnTo>
                  <a:pt x="3859771" y="393700"/>
                </a:lnTo>
                <a:lnTo>
                  <a:pt x="3832644" y="444500"/>
                </a:lnTo>
                <a:lnTo>
                  <a:pt x="3805377" y="482600"/>
                </a:lnTo>
                <a:lnTo>
                  <a:pt x="3777843" y="533400"/>
                </a:lnTo>
                <a:lnTo>
                  <a:pt x="3749891" y="571500"/>
                </a:lnTo>
                <a:lnTo>
                  <a:pt x="3721404" y="622300"/>
                </a:lnTo>
                <a:lnTo>
                  <a:pt x="3715486" y="622300"/>
                </a:lnTo>
                <a:lnTo>
                  <a:pt x="3704729" y="647700"/>
                </a:lnTo>
                <a:lnTo>
                  <a:pt x="3698811" y="647700"/>
                </a:lnTo>
                <a:lnTo>
                  <a:pt x="3667976" y="698500"/>
                </a:lnTo>
                <a:lnTo>
                  <a:pt x="3636467" y="736600"/>
                </a:lnTo>
                <a:lnTo>
                  <a:pt x="3604272" y="774700"/>
                </a:lnTo>
                <a:lnTo>
                  <a:pt x="3571405" y="825500"/>
                </a:lnTo>
                <a:lnTo>
                  <a:pt x="3537851" y="863600"/>
                </a:lnTo>
                <a:lnTo>
                  <a:pt x="3532200" y="863600"/>
                </a:lnTo>
                <a:lnTo>
                  <a:pt x="3529380" y="876300"/>
                </a:lnTo>
                <a:lnTo>
                  <a:pt x="3523729" y="876300"/>
                </a:lnTo>
                <a:lnTo>
                  <a:pt x="3489502" y="914400"/>
                </a:lnTo>
                <a:lnTo>
                  <a:pt x="3454603" y="965200"/>
                </a:lnTo>
                <a:lnTo>
                  <a:pt x="3419017" y="1003300"/>
                </a:lnTo>
                <a:lnTo>
                  <a:pt x="3382759" y="1041400"/>
                </a:lnTo>
                <a:lnTo>
                  <a:pt x="3345827" y="1079500"/>
                </a:lnTo>
                <a:lnTo>
                  <a:pt x="3340176" y="1092200"/>
                </a:lnTo>
                <a:lnTo>
                  <a:pt x="3337356" y="1092200"/>
                </a:lnTo>
                <a:lnTo>
                  <a:pt x="3299764" y="1130300"/>
                </a:lnTo>
                <a:lnTo>
                  <a:pt x="3261626" y="1168400"/>
                </a:lnTo>
                <a:lnTo>
                  <a:pt x="3145332" y="1282700"/>
                </a:lnTo>
                <a:lnTo>
                  <a:pt x="3119920" y="1308100"/>
                </a:lnTo>
                <a:lnTo>
                  <a:pt x="3080626" y="1333500"/>
                </a:lnTo>
                <a:lnTo>
                  <a:pt x="3000565" y="1409700"/>
                </a:lnTo>
                <a:lnTo>
                  <a:pt x="2960065" y="1435100"/>
                </a:lnTo>
                <a:lnTo>
                  <a:pt x="2919425" y="1473200"/>
                </a:lnTo>
                <a:lnTo>
                  <a:pt x="2910954" y="1473200"/>
                </a:lnTo>
                <a:lnTo>
                  <a:pt x="2902483" y="1485900"/>
                </a:lnTo>
                <a:lnTo>
                  <a:pt x="2893999" y="1485900"/>
                </a:lnTo>
                <a:lnTo>
                  <a:pt x="2885529" y="1498600"/>
                </a:lnTo>
                <a:lnTo>
                  <a:pt x="2844533" y="1524000"/>
                </a:lnTo>
                <a:lnTo>
                  <a:pt x="2802852" y="1562100"/>
                </a:lnTo>
                <a:lnTo>
                  <a:pt x="2717457" y="1612900"/>
                </a:lnTo>
                <a:lnTo>
                  <a:pt x="2673743" y="1651000"/>
                </a:lnTo>
                <a:lnTo>
                  <a:pt x="2664828" y="1651000"/>
                </a:lnTo>
                <a:lnTo>
                  <a:pt x="2655392" y="1663700"/>
                </a:lnTo>
                <a:lnTo>
                  <a:pt x="2637028" y="1663700"/>
                </a:lnTo>
                <a:lnTo>
                  <a:pt x="2592667" y="1701800"/>
                </a:lnTo>
                <a:lnTo>
                  <a:pt x="2411120" y="1803400"/>
                </a:lnTo>
                <a:lnTo>
                  <a:pt x="2403094" y="1803400"/>
                </a:lnTo>
                <a:lnTo>
                  <a:pt x="2388082" y="1816100"/>
                </a:lnTo>
                <a:lnTo>
                  <a:pt x="2380056" y="1816100"/>
                </a:lnTo>
                <a:lnTo>
                  <a:pt x="2283815" y="1866900"/>
                </a:lnTo>
                <a:lnTo>
                  <a:pt x="2184870" y="1917700"/>
                </a:lnTo>
                <a:lnTo>
                  <a:pt x="2134374" y="1943100"/>
                </a:lnTo>
                <a:lnTo>
                  <a:pt x="2123084" y="1943100"/>
                </a:lnTo>
                <a:lnTo>
                  <a:pt x="2072233" y="1968500"/>
                </a:lnTo>
                <a:lnTo>
                  <a:pt x="2021243" y="1981200"/>
                </a:lnTo>
                <a:lnTo>
                  <a:pt x="1969985" y="2006600"/>
                </a:lnTo>
                <a:lnTo>
                  <a:pt x="1918322" y="2019300"/>
                </a:lnTo>
                <a:lnTo>
                  <a:pt x="1866112" y="2044700"/>
                </a:lnTo>
                <a:lnTo>
                  <a:pt x="1843519" y="2044700"/>
                </a:lnTo>
                <a:lnTo>
                  <a:pt x="1792376" y="2070100"/>
                </a:lnTo>
                <a:lnTo>
                  <a:pt x="1636217" y="2108200"/>
                </a:lnTo>
                <a:lnTo>
                  <a:pt x="1583715" y="2133600"/>
                </a:lnTo>
                <a:lnTo>
                  <a:pt x="1554327" y="2133600"/>
                </a:lnTo>
                <a:lnTo>
                  <a:pt x="1493012" y="2159000"/>
                </a:lnTo>
                <a:lnTo>
                  <a:pt x="1441170" y="2159000"/>
                </a:lnTo>
                <a:lnTo>
                  <a:pt x="1281557" y="2197100"/>
                </a:lnTo>
                <a:lnTo>
                  <a:pt x="1247406" y="2197100"/>
                </a:lnTo>
                <a:lnTo>
                  <a:pt x="1236383" y="2209800"/>
                </a:lnTo>
                <a:lnTo>
                  <a:pt x="1183538" y="2209800"/>
                </a:lnTo>
                <a:lnTo>
                  <a:pt x="1130160" y="2222500"/>
                </a:lnTo>
                <a:lnTo>
                  <a:pt x="1076363" y="2222500"/>
                </a:lnTo>
                <a:lnTo>
                  <a:pt x="1022311" y="2235200"/>
                </a:lnTo>
                <a:lnTo>
                  <a:pt x="935151" y="2235200"/>
                </a:lnTo>
                <a:lnTo>
                  <a:pt x="922921" y="2247900"/>
                </a:lnTo>
                <a:lnTo>
                  <a:pt x="356743" y="2247900"/>
                </a:lnTo>
                <a:lnTo>
                  <a:pt x="327088" y="2235200"/>
                </a:lnTo>
                <a:lnTo>
                  <a:pt x="216954" y="2235200"/>
                </a:lnTo>
                <a:lnTo>
                  <a:pt x="89877" y="2209800"/>
                </a:lnTo>
                <a:lnTo>
                  <a:pt x="44157" y="2209800"/>
                </a:lnTo>
                <a:lnTo>
                  <a:pt x="0" y="2197100"/>
                </a:lnTo>
                <a:lnTo>
                  <a:pt x="0" y="4216400"/>
                </a:lnTo>
                <a:lnTo>
                  <a:pt x="17767" y="4216400"/>
                </a:lnTo>
                <a:lnTo>
                  <a:pt x="64820" y="4229100"/>
                </a:lnTo>
                <a:lnTo>
                  <a:pt x="159258" y="4229100"/>
                </a:lnTo>
                <a:lnTo>
                  <a:pt x="206641" y="4241800"/>
                </a:lnTo>
                <a:lnTo>
                  <a:pt x="397230" y="4241800"/>
                </a:lnTo>
                <a:lnTo>
                  <a:pt x="445135" y="4254500"/>
                </a:lnTo>
                <a:lnTo>
                  <a:pt x="857224" y="4254500"/>
                </a:lnTo>
                <a:lnTo>
                  <a:pt x="911504" y="4241800"/>
                </a:lnTo>
                <a:lnTo>
                  <a:pt x="1126159" y="4241800"/>
                </a:lnTo>
                <a:lnTo>
                  <a:pt x="1179207" y="4229100"/>
                </a:lnTo>
                <a:lnTo>
                  <a:pt x="1284592" y="4229100"/>
                </a:lnTo>
                <a:lnTo>
                  <a:pt x="1336903" y="4216400"/>
                </a:lnTo>
                <a:lnTo>
                  <a:pt x="1388986" y="4216400"/>
                </a:lnTo>
                <a:lnTo>
                  <a:pt x="1440802" y="4203700"/>
                </a:lnTo>
                <a:lnTo>
                  <a:pt x="1492389" y="4203700"/>
                </a:lnTo>
                <a:lnTo>
                  <a:pt x="1543723" y="4191000"/>
                </a:lnTo>
                <a:lnTo>
                  <a:pt x="1594815" y="4191000"/>
                </a:lnTo>
                <a:lnTo>
                  <a:pt x="1645653" y="4178300"/>
                </a:lnTo>
                <a:lnTo>
                  <a:pt x="1696237" y="4178300"/>
                </a:lnTo>
                <a:lnTo>
                  <a:pt x="1796681" y="4152900"/>
                </a:lnTo>
                <a:lnTo>
                  <a:pt x="1846516" y="4152900"/>
                </a:lnTo>
                <a:lnTo>
                  <a:pt x="2043404" y="4102100"/>
                </a:lnTo>
                <a:lnTo>
                  <a:pt x="2091994" y="4102100"/>
                </a:lnTo>
                <a:lnTo>
                  <a:pt x="2564079" y="3975100"/>
                </a:lnTo>
                <a:lnTo>
                  <a:pt x="2609888" y="3949700"/>
                </a:lnTo>
                <a:lnTo>
                  <a:pt x="2790583" y="3898900"/>
                </a:lnTo>
                <a:lnTo>
                  <a:pt x="2835110" y="3873500"/>
                </a:lnTo>
                <a:lnTo>
                  <a:pt x="2923400" y="3848100"/>
                </a:lnTo>
                <a:lnTo>
                  <a:pt x="2967164" y="3822700"/>
                </a:lnTo>
                <a:lnTo>
                  <a:pt x="3010674" y="3810000"/>
                </a:lnTo>
                <a:lnTo>
                  <a:pt x="3053918" y="3784600"/>
                </a:lnTo>
                <a:lnTo>
                  <a:pt x="3139630" y="3759200"/>
                </a:lnTo>
                <a:lnTo>
                  <a:pt x="3182099" y="3733800"/>
                </a:lnTo>
                <a:lnTo>
                  <a:pt x="3224301" y="3721100"/>
                </a:lnTo>
                <a:lnTo>
                  <a:pt x="3307931" y="3670300"/>
                </a:lnTo>
                <a:lnTo>
                  <a:pt x="3349358" y="3657600"/>
                </a:lnTo>
                <a:lnTo>
                  <a:pt x="3390519" y="3632200"/>
                </a:lnTo>
                <a:lnTo>
                  <a:pt x="3431425" y="3619500"/>
                </a:lnTo>
                <a:lnTo>
                  <a:pt x="3552558" y="3543300"/>
                </a:lnTo>
                <a:lnTo>
                  <a:pt x="3592411" y="3530600"/>
                </a:lnTo>
                <a:lnTo>
                  <a:pt x="3749192" y="3429000"/>
                </a:lnTo>
                <a:lnTo>
                  <a:pt x="3787724" y="3416300"/>
                </a:lnTo>
                <a:lnTo>
                  <a:pt x="3901719" y="3340100"/>
                </a:lnTo>
                <a:lnTo>
                  <a:pt x="4050004" y="3238500"/>
                </a:lnTo>
                <a:lnTo>
                  <a:pt x="4158399" y="3162300"/>
                </a:lnTo>
                <a:lnTo>
                  <a:pt x="4193984" y="3124200"/>
                </a:lnTo>
                <a:lnTo>
                  <a:pt x="4229316" y="3098800"/>
                </a:lnTo>
                <a:lnTo>
                  <a:pt x="4333672" y="3022600"/>
                </a:lnTo>
                <a:lnTo>
                  <a:pt x="4367923" y="2984500"/>
                </a:lnTo>
                <a:lnTo>
                  <a:pt x="4469028" y="2908300"/>
                </a:lnTo>
                <a:lnTo>
                  <a:pt x="4502188" y="2870200"/>
                </a:lnTo>
                <a:lnTo>
                  <a:pt x="4567694" y="2819400"/>
                </a:lnTo>
                <a:lnTo>
                  <a:pt x="4600029" y="2781300"/>
                </a:lnTo>
                <a:lnTo>
                  <a:pt x="4632096" y="2755900"/>
                </a:lnTo>
                <a:lnTo>
                  <a:pt x="4663897" y="2717800"/>
                </a:lnTo>
                <a:lnTo>
                  <a:pt x="4695418" y="2692400"/>
                </a:lnTo>
                <a:lnTo>
                  <a:pt x="4726660" y="2654300"/>
                </a:lnTo>
                <a:lnTo>
                  <a:pt x="4757636" y="2628900"/>
                </a:lnTo>
                <a:lnTo>
                  <a:pt x="4788319" y="2590800"/>
                </a:lnTo>
                <a:lnTo>
                  <a:pt x="4818748" y="2565400"/>
                </a:lnTo>
                <a:lnTo>
                  <a:pt x="4848885" y="2527300"/>
                </a:lnTo>
                <a:lnTo>
                  <a:pt x="4878756" y="2501900"/>
                </a:lnTo>
                <a:lnTo>
                  <a:pt x="4908347" y="2463800"/>
                </a:lnTo>
                <a:lnTo>
                  <a:pt x="4937658" y="2438400"/>
                </a:lnTo>
                <a:lnTo>
                  <a:pt x="4966690" y="2400300"/>
                </a:lnTo>
                <a:lnTo>
                  <a:pt x="4995456" y="2362200"/>
                </a:lnTo>
                <a:lnTo>
                  <a:pt x="5023929" y="2336800"/>
                </a:lnTo>
                <a:lnTo>
                  <a:pt x="5052136" y="2298700"/>
                </a:lnTo>
                <a:lnTo>
                  <a:pt x="5080051" y="2260600"/>
                </a:lnTo>
                <a:lnTo>
                  <a:pt x="5093881" y="2247900"/>
                </a:lnTo>
                <a:lnTo>
                  <a:pt x="5107698" y="2235200"/>
                </a:lnTo>
                <a:lnTo>
                  <a:pt x="5135067" y="2197100"/>
                </a:lnTo>
                <a:lnTo>
                  <a:pt x="5162143" y="2159000"/>
                </a:lnTo>
                <a:lnTo>
                  <a:pt x="5188953" y="2120900"/>
                </a:lnTo>
                <a:lnTo>
                  <a:pt x="5215471" y="2095500"/>
                </a:lnTo>
                <a:lnTo>
                  <a:pt x="5241709" y="2057400"/>
                </a:lnTo>
                <a:lnTo>
                  <a:pt x="5267680" y="2019300"/>
                </a:lnTo>
                <a:lnTo>
                  <a:pt x="5293347" y="1981200"/>
                </a:lnTo>
                <a:lnTo>
                  <a:pt x="5318747" y="1943100"/>
                </a:lnTo>
                <a:lnTo>
                  <a:pt x="5343868" y="1905000"/>
                </a:lnTo>
                <a:lnTo>
                  <a:pt x="5368696" y="1866900"/>
                </a:lnTo>
                <a:lnTo>
                  <a:pt x="5393245" y="1828800"/>
                </a:lnTo>
                <a:lnTo>
                  <a:pt x="5417502" y="1803400"/>
                </a:lnTo>
                <a:lnTo>
                  <a:pt x="5441493" y="1765300"/>
                </a:lnTo>
                <a:lnTo>
                  <a:pt x="5465178" y="1727200"/>
                </a:lnTo>
                <a:lnTo>
                  <a:pt x="5488597" y="1689100"/>
                </a:lnTo>
                <a:lnTo>
                  <a:pt x="5511724" y="1651000"/>
                </a:lnTo>
                <a:lnTo>
                  <a:pt x="5534558" y="1612900"/>
                </a:lnTo>
                <a:lnTo>
                  <a:pt x="5557113" y="1574800"/>
                </a:lnTo>
                <a:lnTo>
                  <a:pt x="5579389" y="1524000"/>
                </a:lnTo>
                <a:lnTo>
                  <a:pt x="5601373" y="1485900"/>
                </a:lnTo>
                <a:lnTo>
                  <a:pt x="5623064" y="1447800"/>
                </a:lnTo>
                <a:lnTo>
                  <a:pt x="5644477" y="1409700"/>
                </a:lnTo>
                <a:lnTo>
                  <a:pt x="5665597" y="1371600"/>
                </a:lnTo>
                <a:lnTo>
                  <a:pt x="5686425" y="1333500"/>
                </a:lnTo>
                <a:lnTo>
                  <a:pt x="5706973" y="1295400"/>
                </a:lnTo>
                <a:lnTo>
                  <a:pt x="5727230" y="1257300"/>
                </a:lnTo>
                <a:lnTo>
                  <a:pt x="5747207" y="1206500"/>
                </a:lnTo>
                <a:lnTo>
                  <a:pt x="5766879" y="1168400"/>
                </a:lnTo>
                <a:lnTo>
                  <a:pt x="5786272" y="1130300"/>
                </a:lnTo>
                <a:lnTo>
                  <a:pt x="5805373" y="1092200"/>
                </a:lnTo>
                <a:lnTo>
                  <a:pt x="5824182" y="1054100"/>
                </a:lnTo>
                <a:lnTo>
                  <a:pt x="5842698" y="1003300"/>
                </a:lnTo>
                <a:lnTo>
                  <a:pt x="5860923" y="965200"/>
                </a:lnTo>
                <a:lnTo>
                  <a:pt x="5878855" y="927100"/>
                </a:lnTo>
                <a:lnTo>
                  <a:pt x="5896495" y="876300"/>
                </a:lnTo>
                <a:lnTo>
                  <a:pt x="5913856" y="838200"/>
                </a:lnTo>
                <a:lnTo>
                  <a:pt x="5930912" y="800100"/>
                </a:lnTo>
                <a:lnTo>
                  <a:pt x="5947676" y="749300"/>
                </a:lnTo>
                <a:lnTo>
                  <a:pt x="5964148" y="711200"/>
                </a:lnTo>
                <a:lnTo>
                  <a:pt x="5980328" y="673100"/>
                </a:lnTo>
                <a:lnTo>
                  <a:pt x="5996216" y="622300"/>
                </a:lnTo>
                <a:lnTo>
                  <a:pt x="6011799" y="584200"/>
                </a:lnTo>
                <a:lnTo>
                  <a:pt x="6027102" y="546100"/>
                </a:lnTo>
                <a:lnTo>
                  <a:pt x="6042101" y="495300"/>
                </a:lnTo>
                <a:lnTo>
                  <a:pt x="6056808" y="457200"/>
                </a:lnTo>
                <a:lnTo>
                  <a:pt x="6071209" y="406400"/>
                </a:lnTo>
                <a:lnTo>
                  <a:pt x="6085332" y="368300"/>
                </a:lnTo>
                <a:lnTo>
                  <a:pt x="6099149" y="317500"/>
                </a:lnTo>
                <a:lnTo>
                  <a:pt x="6112662" y="279400"/>
                </a:lnTo>
                <a:lnTo>
                  <a:pt x="6125883" y="228600"/>
                </a:lnTo>
                <a:lnTo>
                  <a:pt x="6138811" y="190500"/>
                </a:lnTo>
                <a:lnTo>
                  <a:pt x="6151448" y="139700"/>
                </a:lnTo>
                <a:lnTo>
                  <a:pt x="6163767" y="101600"/>
                </a:lnTo>
                <a:lnTo>
                  <a:pt x="6175807" y="50800"/>
                </a:lnTo>
                <a:lnTo>
                  <a:pt x="6187529" y="12700"/>
                </a:lnTo>
                <a:lnTo>
                  <a:pt x="6191097" y="0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1646" y="1688794"/>
            <a:ext cx="9203055" cy="183324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 marR="5080">
              <a:lnSpc>
                <a:spcPts val="6600"/>
              </a:lnSpc>
              <a:spcBef>
                <a:spcPts val="1180"/>
              </a:spcBef>
            </a:pPr>
            <a:r>
              <a:rPr sz="6350" spc="-250" dirty="0"/>
              <a:t>Alignment</a:t>
            </a:r>
            <a:r>
              <a:rPr sz="6350" spc="-495" dirty="0"/>
              <a:t> </a:t>
            </a:r>
            <a:r>
              <a:rPr sz="6350" spc="-210" dirty="0"/>
              <a:t>with</a:t>
            </a:r>
            <a:r>
              <a:rPr sz="6350" spc="-495" dirty="0"/>
              <a:t> </a:t>
            </a:r>
            <a:r>
              <a:rPr sz="6350" spc="-20" dirty="0"/>
              <a:t>NIST </a:t>
            </a:r>
            <a:r>
              <a:rPr sz="6350" spc="-270" dirty="0"/>
              <a:t>Cybersecurity</a:t>
            </a:r>
            <a:r>
              <a:rPr sz="6350" spc="-545" dirty="0"/>
              <a:t> </a:t>
            </a:r>
            <a:r>
              <a:rPr sz="6350" spc="-270" dirty="0"/>
              <a:t>Framework</a:t>
            </a:r>
            <a:endParaRPr sz="6350"/>
          </a:p>
        </p:txBody>
      </p:sp>
      <p:sp>
        <p:nvSpPr>
          <p:cNvPr id="4" name="object 4"/>
          <p:cNvSpPr/>
          <p:nvPr/>
        </p:nvSpPr>
        <p:spPr>
          <a:xfrm>
            <a:off x="1892223" y="5318613"/>
            <a:ext cx="4399915" cy="698500"/>
          </a:xfrm>
          <a:custGeom>
            <a:avLst/>
            <a:gdLst/>
            <a:ahLst/>
            <a:cxnLst/>
            <a:rect l="l" t="t" r="r" b="b"/>
            <a:pathLst>
              <a:path w="4399915" h="698500">
                <a:moveTo>
                  <a:pt x="4050422" y="698258"/>
                </a:moveTo>
                <a:lnTo>
                  <a:pt x="349129" y="698258"/>
                </a:lnTo>
                <a:lnTo>
                  <a:pt x="301754" y="695071"/>
                </a:lnTo>
                <a:lnTo>
                  <a:pt x="256316" y="685787"/>
                </a:lnTo>
                <a:lnTo>
                  <a:pt x="213232" y="670822"/>
                </a:lnTo>
                <a:lnTo>
                  <a:pt x="172917" y="650592"/>
                </a:lnTo>
                <a:lnTo>
                  <a:pt x="135786" y="625513"/>
                </a:lnTo>
                <a:lnTo>
                  <a:pt x="102257" y="596001"/>
                </a:lnTo>
                <a:lnTo>
                  <a:pt x="72745" y="562472"/>
                </a:lnTo>
                <a:lnTo>
                  <a:pt x="47666" y="525341"/>
                </a:lnTo>
                <a:lnTo>
                  <a:pt x="27436" y="485026"/>
                </a:lnTo>
                <a:lnTo>
                  <a:pt x="12471" y="441941"/>
                </a:lnTo>
                <a:lnTo>
                  <a:pt x="3187" y="396504"/>
                </a:lnTo>
                <a:lnTo>
                  <a:pt x="0" y="349129"/>
                </a:lnTo>
                <a:lnTo>
                  <a:pt x="3187" y="301754"/>
                </a:lnTo>
                <a:lnTo>
                  <a:pt x="12471" y="256317"/>
                </a:lnTo>
                <a:lnTo>
                  <a:pt x="27436" y="213232"/>
                </a:lnTo>
                <a:lnTo>
                  <a:pt x="47666" y="172917"/>
                </a:lnTo>
                <a:lnTo>
                  <a:pt x="72745" y="135786"/>
                </a:lnTo>
                <a:lnTo>
                  <a:pt x="102257" y="102257"/>
                </a:lnTo>
                <a:lnTo>
                  <a:pt x="135786" y="72745"/>
                </a:lnTo>
                <a:lnTo>
                  <a:pt x="172917" y="47666"/>
                </a:lnTo>
                <a:lnTo>
                  <a:pt x="213232" y="27436"/>
                </a:lnTo>
                <a:lnTo>
                  <a:pt x="256316" y="12471"/>
                </a:lnTo>
                <a:lnTo>
                  <a:pt x="301754" y="3187"/>
                </a:lnTo>
                <a:lnTo>
                  <a:pt x="349129" y="0"/>
                </a:lnTo>
                <a:lnTo>
                  <a:pt x="4050422" y="0"/>
                </a:lnTo>
                <a:lnTo>
                  <a:pt x="4097797" y="3187"/>
                </a:lnTo>
                <a:lnTo>
                  <a:pt x="4143234" y="12471"/>
                </a:lnTo>
                <a:lnTo>
                  <a:pt x="4186319" y="27436"/>
                </a:lnTo>
                <a:lnTo>
                  <a:pt x="4226635" y="47666"/>
                </a:lnTo>
                <a:lnTo>
                  <a:pt x="4263765" y="72745"/>
                </a:lnTo>
                <a:lnTo>
                  <a:pt x="4297294" y="102257"/>
                </a:lnTo>
                <a:lnTo>
                  <a:pt x="4326806" y="135786"/>
                </a:lnTo>
                <a:lnTo>
                  <a:pt x="4351885" y="172917"/>
                </a:lnTo>
                <a:lnTo>
                  <a:pt x="4372116" y="213232"/>
                </a:lnTo>
                <a:lnTo>
                  <a:pt x="4387081" y="256317"/>
                </a:lnTo>
                <a:lnTo>
                  <a:pt x="4396365" y="301754"/>
                </a:lnTo>
                <a:lnTo>
                  <a:pt x="4399552" y="349129"/>
                </a:lnTo>
                <a:lnTo>
                  <a:pt x="4396365" y="396504"/>
                </a:lnTo>
                <a:lnTo>
                  <a:pt x="4387081" y="441941"/>
                </a:lnTo>
                <a:lnTo>
                  <a:pt x="4372116" y="485026"/>
                </a:lnTo>
                <a:lnTo>
                  <a:pt x="4351885" y="525341"/>
                </a:lnTo>
                <a:lnTo>
                  <a:pt x="4326806" y="562472"/>
                </a:lnTo>
                <a:lnTo>
                  <a:pt x="4297294" y="596001"/>
                </a:lnTo>
                <a:lnTo>
                  <a:pt x="4263765" y="625513"/>
                </a:lnTo>
                <a:lnTo>
                  <a:pt x="4226635" y="650592"/>
                </a:lnTo>
                <a:lnTo>
                  <a:pt x="4186319" y="670822"/>
                </a:lnTo>
                <a:lnTo>
                  <a:pt x="4143234" y="685787"/>
                </a:lnTo>
                <a:lnTo>
                  <a:pt x="4097797" y="695071"/>
                </a:lnTo>
                <a:lnTo>
                  <a:pt x="4050422" y="69825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2223" y="4165303"/>
            <a:ext cx="4399194" cy="98186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892223" y="6140697"/>
            <a:ext cx="4399915" cy="698500"/>
          </a:xfrm>
          <a:custGeom>
            <a:avLst/>
            <a:gdLst/>
            <a:ahLst/>
            <a:cxnLst/>
            <a:rect l="l" t="t" r="r" b="b"/>
            <a:pathLst>
              <a:path w="4399915" h="698500">
                <a:moveTo>
                  <a:pt x="4050422" y="698258"/>
                </a:moveTo>
                <a:lnTo>
                  <a:pt x="349129" y="698258"/>
                </a:lnTo>
                <a:lnTo>
                  <a:pt x="301754" y="695071"/>
                </a:lnTo>
                <a:lnTo>
                  <a:pt x="256316" y="685787"/>
                </a:lnTo>
                <a:lnTo>
                  <a:pt x="213232" y="670822"/>
                </a:lnTo>
                <a:lnTo>
                  <a:pt x="172917" y="650592"/>
                </a:lnTo>
                <a:lnTo>
                  <a:pt x="135786" y="625513"/>
                </a:lnTo>
                <a:lnTo>
                  <a:pt x="102257" y="596001"/>
                </a:lnTo>
                <a:lnTo>
                  <a:pt x="72745" y="562472"/>
                </a:lnTo>
                <a:lnTo>
                  <a:pt x="47666" y="525341"/>
                </a:lnTo>
                <a:lnTo>
                  <a:pt x="27436" y="485026"/>
                </a:lnTo>
                <a:lnTo>
                  <a:pt x="12471" y="441942"/>
                </a:lnTo>
                <a:lnTo>
                  <a:pt x="3187" y="396504"/>
                </a:lnTo>
                <a:lnTo>
                  <a:pt x="0" y="349129"/>
                </a:lnTo>
                <a:lnTo>
                  <a:pt x="3187" y="301754"/>
                </a:lnTo>
                <a:lnTo>
                  <a:pt x="12471" y="256317"/>
                </a:lnTo>
                <a:lnTo>
                  <a:pt x="27436" y="213232"/>
                </a:lnTo>
                <a:lnTo>
                  <a:pt x="47666" y="172917"/>
                </a:lnTo>
                <a:lnTo>
                  <a:pt x="72745" y="135787"/>
                </a:lnTo>
                <a:lnTo>
                  <a:pt x="102257" y="102257"/>
                </a:lnTo>
                <a:lnTo>
                  <a:pt x="135786" y="72745"/>
                </a:lnTo>
                <a:lnTo>
                  <a:pt x="172917" y="47666"/>
                </a:lnTo>
                <a:lnTo>
                  <a:pt x="213232" y="27436"/>
                </a:lnTo>
                <a:lnTo>
                  <a:pt x="256316" y="12471"/>
                </a:lnTo>
                <a:lnTo>
                  <a:pt x="301754" y="3187"/>
                </a:lnTo>
                <a:lnTo>
                  <a:pt x="349129" y="0"/>
                </a:lnTo>
                <a:lnTo>
                  <a:pt x="4050422" y="0"/>
                </a:lnTo>
                <a:lnTo>
                  <a:pt x="4097797" y="3187"/>
                </a:lnTo>
                <a:lnTo>
                  <a:pt x="4143234" y="12471"/>
                </a:lnTo>
                <a:lnTo>
                  <a:pt x="4186319" y="27436"/>
                </a:lnTo>
                <a:lnTo>
                  <a:pt x="4226635" y="47666"/>
                </a:lnTo>
                <a:lnTo>
                  <a:pt x="4263765" y="72745"/>
                </a:lnTo>
                <a:lnTo>
                  <a:pt x="4297294" y="102257"/>
                </a:lnTo>
                <a:lnTo>
                  <a:pt x="4326806" y="135787"/>
                </a:lnTo>
                <a:lnTo>
                  <a:pt x="4351885" y="172917"/>
                </a:lnTo>
                <a:lnTo>
                  <a:pt x="4372116" y="213232"/>
                </a:lnTo>
                <a:lnTo>
                  <a:pt x="4387081" y="256317"/>
                </a:lnTo>
                <a:lnTo>
                  <a:pt x="4396365" y="301754"/>
                </a:lnTo>
                <a:lnTo>
                  <a:pt x="4399552" y="349129"/>
                </a:lnTo>
                <a:lnTo>
                  <a:pt x="4396365" y="396504"/>
                </a:lnTo>
                <a:lnTo>
                  <a:pt x="4387081" y="441942"/>
                </a:lnTo>
                <a:lnTo>
                  <a:pt x="4372116" y="485026"/>
                </a:lnTo>
                <a:lnTo>
                  <a:pt x="4351885" y="525341"/>
                </a:lnTo>
                <a:lnTo>
                  <a:pt x="4326806" y="562472"/>
                </a:lnTo>
                <a:lnTo>
                  <a:pt x="4297294" y="596001"/>
                </a:lnTo>
                <a:lnTo>
                  <a:pt x="4263765" y="625513"/>
                </a:lnTo>
                <a:lnTo>
                  <a:pt x="4226635" y="650592"/>
                </a:lnTo>
                <a:lnTo>
                  <a:pt x="4186319" y="670822"/>
                </a:lnTo>
                <a:lnTo>
                  <a:pt x="4143234" y="685787"/>
                </a:lnTo>
                <a:lnTo>
                  <a:pt x="4097797" y="695071"/>
                </a:lnTo>
                <a:lnTo>
                  <a:pt x="4050422" y="69825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2223" y="6963122"/>
            <a:ext cx="4399915" cy="698500"/>
          </a:xfrm>
          <a:custGeom>
            <a:avLst/>
            <a:gdLst/>
            <a:ahLst/>
            <a:cxnLst/>
            <a:rect l="l" t="t" r="r" b="b"/>
            <a:pathLst>
              <a:path w="4399915" h="698500">
                <a:moveTo>
                  <a:pt x="4050422" y="698259"/>
                </a:moveTo>
                <a:lnTo>
                  <a:pt x="349129" y="698259"/>
                </a:lnTo>
                <a:lnTo>
                  <a:pt x="301754" y="695072"/>
                </a:lnTo>
                <a:lnTo>
                  <a:pt x="256316" y="685788"/>
                </a:lnTo>
                <a:lnTo>
                  <a:pt x="213232" y="670822"/>
                </a:lnTo>
                <a:lnTo>
                  <a:pt x="172917" y="650592"/>
                </a:lnTo>
                <a:lnTo>
                  <a:pt x="135786" y="625513"/>
                </a:lnTo>
                <a:lnTo>
                  <a:pt x="102257" y="596001"/>
                </a:lnTo>
                <a:lnTo>
                  <a:pt x="72745" y="562472"/>
                </a:lnTo>
                <a:lnTo>
                  <a:pt x="47666" y="525341"/>
                </a:lnTo>
                <a:lnTo>
                  <a:pt x="27436" y="485026"/>
                </a:lnTo>
                <a:lnTo>
                  <a:pt x="12471" y="441941"/>
                </a:lnTo>
                <a:lnTo>
                  <a:pt x="3187" y="396504"/>
                </a:lnTo>
                <a:lnTo>
                  <a:pt x="0" y="349129"/>
                </a:lnTo>
                <a:lnTo>
                  <a:pt x="3187" y="301754"/>
                </a:lnTo>
                <a:lnTo>
                  <a:pt x="12471" y="256316"/>
                </a:lnTo>
                <a:lnTo>
                  <a:pt x="27436" y="213232"/>
                </a:lnTo>
                <a:lnTo>
                  <a:pt x="47666" y="172917"/>
                </a:lnTo>
                <a:lnTo>
                  <a:pt x="72745" y="135786"/>
                </a:lnTo>
                <a:lnTo>
                  <a:pt x="102257" y="102257"/>
                </a:lnTo>
                <a:lnTo>
                  <a:pt x="135786" y="72745"/>
                </a:lnTo>
                <a:lnTo>
                  <a:pt x="172917" y="47666"/>
                </a:lnTo>
                <a:lnTo>
                  <a:pt x="213232" y="27436"/>
                </a:lnTo>
                <a:lnTo>
                  <a:pt x="256316" y="12471"/>
                </a:lnTo>
                <a:lnTo>
                  <a:pt x="301754" y="3187"/>
                </a:lnTo>
                <a:lnTo>
                  <a:pt x="349129" y="0"/>
                </a:lnTo>
                <a:lnTo>
                  <a:pt x="4050422" y="0"/>
                </a:lnTo>
                <a:lnTo>
                  <a:pt x="4097797" y="3187"/>
                </a:lnTo>
                <a:lnTo>
                  <a:pt x="4143234" y="12471"/>
                </a:lnTo>
                <a:lnTo>
                  <a:pt x="4186319" y="27436"/>
                </a:lnTo>
                <a:lnTo>
                  <a:pt x="4226635" y="47666"/>
                </a:lnTo>
                <a:lnTo>
                  <a:pt x="4263765" y="72745"/>
                </a:lnTo>
                <a:lnTo>
                  <a:pt x="4297294" y="102257"/>
                </a:lnTo>
                <a:lnTo>
                  <a:pt x="4326806" y="135786"/>
                </a:lnTo>
                <a:lnTo>
                  <a:pt x="4351885" y="172917"/>
                </a:lnTo>
                <a:lnTo>
                  <a:pt x="4372116" y="213232"/>
                </a:lnTo>
                <a:lnTo>
                  <a:pt x="4387081" y="256316"/>
                </a:lnTo>
                <a:lnTo>
                  <a:pt x="4396365" y="301754"/>
                </a:lnTo>
                <a:lnTo>
                  <a:pt x="4399552" y="349129"/>
                </a:lnTo>
                <a:lnTo>
                  <a:pt x="4396365" y="396504"/>
                </a:lnTo>
                <a:lnTo>
                  <a:pt x="4387081" y="441941"/>
                </a:lnTo>
                <a:lnTo>
                  <a:pt x="4372116" y="485026"/>
                </a:lnTo>
                <a:lnTo>
                  <a:pt x="4351885" y="525341"/>
                </a:lnTo>
                <a:lnTo>
                  <a:pt x="4326806" y="562472"/>
                </a:lnTo>
                <a:lnTo>
                  <a:pt x="4297294" y="596001"/>
                </a:lnTo>
                <a:lnTo>
                  <a:pt x="4263765" y="625513"/>
                </a:lnTo>
                <a:lnTo>
                  <a:pt x="4226635" y="650592"/>
                </a:lnTo>
                <a:lnTo>
                  <a:pt x="4186319" y="670822"/>
                </a:lnTo>
                <a:lnTo>
                  <a:pt x="4143234" y="685788"/>
                </a:lnTo>
                <a:lnTo>
                  <a:pt x="4097797" y="695072"/>
                </a:lnTo>
                <a:lnTo>
                  <a:pt x="4050422" y="698259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92223" y="7785205"/>
            <a:ext cx="4399915" cy="698500"/>
          </a:xfrm>
          <a:custGeom>
            <a:avLst/>
            <a:gdLst/>
            <a:ahLst/>
            <a:cxnLst/>
            <a:rect l="l" t="t" r="r" b="b"/>
            <a:pathLst>
              <a:path w="4399915" h="698500">
                <a:moveTo>
                  <a:pt x="4050422" y="698259"/>
                </a:moveTo>
                <a:lnTo>
                  <a:pt x="349129" y="698259"/>
                </a:lnTo>
                <a:lnTo>
                  <a:pt x="301754" y="695072"/>
                </a:lnTo>
                <a:lnTo>
                  <a:pt x="256316" y="685788"/>
                </a:lnTo>
                <a:lnTo>
                  <a:pt x="213232" y="670822"/>
                </a:lnTo>
                <a:lnTo>
                  <a:pt x="172917" y="650592"/>
                </a:lnTo>
                <a:lnTo>
                  <a:pt x="135786" y="625513"/>
                </a:lnTo>
                <a:lnTo>
                  <a:pt x="102257" y="596001"/>
                </a:lnTo>
                <a:lnTo>
                  <a:pt x="72745" y="562472"/>
                </a:lnTo>
                <a:lnTo>
                  <a:pt x="47666" y="525341"/>
                </a:lnTo>
                <a:lnTo>
                  <a:pt x="27436" y="485026"/>
                </a:lnTo>
                <a:lnTo>
                  <a:pt x="12471" y="441941"/>
                </a:lnTo>
                <a:lnTo>
                  <a:pt x="3187" y="396504"/>
                </a:lnTo>
                <a:lnTo>
                  <a:pt x="0" y="349129"/>
                </a:lnTo>
                <a:lnTo>
                  <a:pt x="3187" y="301754"/>
                </a:lnTo>
                <a:lnTo>
                  <a:pt x="12471" y="256316"/>
                </a:lnTo>
                <a:lnTo>
                  <a:pt x="27436" y="213232"/>
                </a:lnTo>
                <a:lnTo>
                  <a:pt x="47666" y="172917"/>
                </a:lnTo>
                <a:lnTo>
                  <a:pt x="72745" y="135786"/>
                </a:lnTo>
                <a:lnTo>
                  <a:pt x="102257" y="102257"/>
                </a:lnTo>
                <a:lnTo>
                  <a:pt x="135786" y="72745"/>
                </a:lnTo>
                <a:lnTo>
                  <a:pt x="172917" y="47666"/>
                </a:lnTo>
                <a:lnTo>
                  <a:pt x="213232" y="27436"/>
                </a:lnTo>
                <a:lnTo>
                  <a:pt x="256316" y="12471"/>
                </a:lnTo>
                <a:lnTo>
                  <a:pt x="301754" y="3187"/>
                </a:lnTo>
                <a:lnTo>
                  <a:pt x="349129" y="0"/>
                </a:lnTo>
                <a:lnTo>
                  <a:pt x="4050422" y="0"/>
                </a:lnTo>
                <a:lnTo>
                  <a:pt x="4097797" y="3187"/>
                </a:lnTo>
                <a:lnTo>
                  <a:pt x="4143234" y="12471"/>
                </a:lnTo>
                <a:lnTo>
                  <a:pt x="4186319" y="27436"/>
                </a:lnTo>
                <a:lnTo>
                  <a:pt x="4226635" y="47666"/>
                </a:lnTo>
                <a:lnTo>
                  <a:pt x="4263765" y="72745"/>
                </a:lnTo>
                <a:lnTo>
                  <a:pt x="4297294" y="102257"/>
                </a:lnTo>
                <a:lnTo>
                  <a:pt x="4326806" y="135786"/>
                </a:lnTo>
                <a:lnTo>
                  <a:pt x="4351885" y="172917"/>
                </a:lnTo>
                <a:lnTo>
                  <a:pt x="4372116" y="213232"/>
                </a:lnTo>
                <a:lnTo>
                  <a:pt x="4387081" y="256316"/>
                </a:lnTo>
                <a:lnTo>
                  <a:pt x="4396365" y="301754"/>
                </a:lnTo>
                <a:lnTo>
                  <a:pt x="4399552" y="349129"/>
                </a:lnTo>
                <a:lnTo>
                  <a:pt x="4396365" y="396504"/>
                </a:lnTo>
                <a:lnTo>
                  <a:pt x="4387081" y="441941"/>
                </a:lnTo>
                <a:lnTo>
                  <a:pt x="4372116" y="485026"/>
                </a:lnTo>
                <a:lnTo>
                  <a:pt x="4351885" y="525341"/>
                </a:lnTo>
                <a:lnTo>
                  <a:pt x="4326806" y="562472"/>
                </a:lnTo>
                <a:lnTo>
                  <a:pt x="4297294" y="596001"/>
                </a:lnTo>
                <a:lnTo>
                  <a:pt x="4263765" y="625513"/>
                </a:lnTo>
                <a:lnTo>
                  <a:pt x="4226635" y="650592"/>
                </a:lnTo>
                <a:lnTo>
                  <a:pt x="4186319" y="670822"/>
                </a:lnTo>
                <a:lnTo>
                  <a:pt x="4143234" y="685788"/>
                </a:lnTo>
                <a:lnTo>
                  <a:pt x="4097797" y="695072"/>
                </a:lnTo>
                <a:lnTo>
                  <a:pt x="4050422" y="698259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92223" y="8607290"/>
            <a:ext cx="4399915" cy="698500"/>
          </a:xfrm>
          <a:custGeom>
            <a:avLst/>
            <a:gdLst/>
            <a:ahLst/>
            <a:cxnLst/>
            <a:rect l="l" t="t" r="r" b="b"/>
            <a:pathLst>
              <a:path w="4399915" h="698500">
                <a:moveTo>
                  <a:pt x="4050422" y="698258"/>
                </a:moveTo>
                <a:lnTo>
                  <a:pt x="349129" y="698258"/>
                </a:lnTo>
                <a:lnTo>
                  <a:pt x="301754" y="695071"/>
                </a:lnTo>
                <a:lnTo>
                  <a:pt x="256316" y="685787"/>
                </a:lnTo>
                <a:lnTo>
                  <a:pt x="213232" y="670822"/>
                </a:lnTo>
                <a:lnTo>
                  <a:pt x="172917" y="650592"/>
                </a:lnTo>
                <a:lnTo>
                  <a:pt x="135786" y="625513"/>
                </a:lnTo>
                <a:lnTo>
                  <a:pt x="102257" y="596001"/>
                </a:lnTo>
                <a:lnTo>
                  <a:pt x="72745" y="562472"/>
                </a:lnTo>
                <a:lnTo>
                  <a:pt x="47666" y="525341"/>
                </a:lnTo>
                <a:lnTo>
                  <a:pt x="27436" y="485026"/>
                </a:lnTo>
                <a:lnTo>
                  <a:pt x="12471" y="441941"/>
                </a:lnTo>
                <a:lnTo>
                  <a:pt x="3187" y="396504"/>
                </a:lnTo>
                <a:lnTo>
                  <a:pt x="0" y="349129"/>
                </a:lnTo>
                <a:lnTo>
                  <a:pt x="3187" y="301754"/>
                </a:lnTo>
                <a:lnTo>
                  <a:pt x="12471" y="256316"/>
                </a:lnTo>
                <a:lnTo>
                  <a:pt x="27436" y="213232"/>
                </a:lnTo>
                <a:lnTo>
                  <a:pt x="47666" y="172916"/>
                </a:lnTo>
                <a:lnTo>
                  <a:pt x="72745" y="135786"/>
                </a:lnTo>
                <a:lnTo>
                  <a:pt x="102257" y="102257"/>
                </a:lnTo>
                <a:lnTo>
                  <a:pt x="135786" y="72745"/>
                </a:lnTo>
                <a:lnTo>
                  <a:pt x="172917" y="47666"/>
                </a:lnTo>
                <a:lnTo>
                  <a:pt x="213232" y="27436"/>
                </a:lnTo>
                <a:lnTo>
                  <a:pt x="256316" y="12471"/>
                </a:lnTo>
                <a:lnTo>
                  <a:pt x="301754" y="3187"/>
                </a:lnTo>
                <a:lnTo>
                  <a:pt x="349129" y="0"/>
                </a:lnTo>
                <a:lnTo>
                  <a:pt x="4050422" y="0"/>
                </a:lnTo>
                <a:lnTo>
                  <a:pt x="4097797" y="3187"/>
                </a:lnTo>
                <a:lnTo>
                  <a:pt x="4143234" y="12471"/>
                </a:lnTo>
                <a:lnTo>
                  <a:pt x="4186319" y="27436"/>
                </a:lnTo>
                <a:lnTo>
                  <a:pt x="4226635" y="47666"/>
                </a:lnTo>
                <a:lnTo>
                  <a:pt x="4263765" y="72745"/>
                </a:lnTo>
                <a:lnTo>
                  <a:pt x="4297294" y="102257"/>
                </a:lnTo>
                <a:lnTo>
                  <a:pt x="4326806" y="135786"/>
                </a:lnTo>
                <a:lnTo>
                  <a:pt x="4351885" y="172916"/>
                </a:lnTo>
                <a:lnTo>
                  <a:pt x="4372116" y="213232"/>
                </a:lnTo>
                <a:lnTo>
                  <a:pt x="4387081" y="256316"/>
                </a:lnTo>
                <a:lnTo>
                  <a:pt x="4396365" y="301754"/>
                </a:lnTo>
                <a:lnTo>
                  <a:pt x="4399552" y="349129"/>
                </a:lnTo>
                <a:lnTo>
                  <a:pt x="4396365" y="396504"/>
                </a:lnTo>
                <a:lnTo>
                  <a:pt x="4387081" y="441941"/>
                </a:lnTo>
                <a:lnTo>
                  <a:pt x="4372116" y="485026"/>
                </a:lnTo>
                <a:lnTo>
                  <a:pt x="4351885" y="525341"/>
                </a:lnTo>
                <a:lnTo>
                  <a:pt x="4326806" y="562472"/>
                </a:lnTo>
                <a:lnTo>
                  <a:pt x="4297294" y="596001"/>
                </a:lnTo>
                <a:lnTo>
                  <a:pt x="4263765" y="625513"/>
                </a:lnTo>
                <a:lnTo>
                  <a:pt x="4226635" y="650592"/>
                </a:lnTo>
                <a:lnTo>
                  <a:pt x="4186319" y="670822"/>
                </a:lnTo>
                <a:lnTo>
                  <a:pt x="4143234" y="685787"/>
                </a:lnTo>
                <a:lnTo>
                  <a:pt x="4097797" y="695071"/>
                </a:lnTo>
                <a:lnTo>
                  <a:pt x="4050422" y="69825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083259" y="5318613"/>
            <a:ext cx="9124315" cy="698500"/>
          </a:xfrm>
          <a:custGeom>
            <a:avLst/>
            <a:gdLst/>
            <a:ahLst/>
            <a:cxnLst/>
            <a:rect l="l" t="t" r="r" b="b"/>
            <a:pathLst>
              <a:path w="9124315" h="698500">
                <a:moveTo>
                  <a:pt x="8774738" y="698258"/>
                </a:moveTo>
                <a:lnTo>
                  <a:pt x="349129" y="698258"/>
                </a:lnTo>
                <a:lnTo>
                  <a:pt x="301754" y="695071"/>
                </a:lnTo>
                <a:lnTo>
                  <a:pt x="256317" y="685787"/>
                </a:lnTo>
                <a:lnTo>
                  <a:pt x="213232" y="670822"/>
                </a:lnTo>
                <a:lnTo>
                  <a:pt x="172917" y="650592"/>
                </a:lnTo>
                <a:lnTo>
                  <a:pt x="135786" y="625513"/>
                </a:lnTo>
                <a:lnTo>
                  <a:pt x="102257" y="596001"/>
                </a:lnTo>
                <a:lnTo>
                  <a:pt x="72745" y="562472"/>
                </a:lnTo>
                <a:lnTo>
                  <a:pt x="47666" y="525341"/>
                </a:lnTo>
                <a:lnTo>
                  <a:pt x="27436" y="485026"/>
                </a:lnTo>
                <a:lnTo>
                  <a:pt x="12471" y="441941"/>
                </a:lnTo>
                <a:lnTo>
                  <a:pt x="3187" y="396504"/>
                </a:lnTo>
                <a:lnTo>
                  <a:pt x="0" y="349129"/>
                </a:lnTo>
                <a:lnTo>
                  <a:pt x="3187" y="301754"/>
                </a:lnTo>
                <a:lnTo>
                  <a:pt x="12471" y="256317"/>
                </a:lnTo>
                <a:lnTo>
                  <a:pt x="27436" y="213232"/>
                </a:lnTo>
                <a:lnTo>
                  <a:pt x="47666" y="172917"/>
                </a:lnTo>
                <a:lnTo>
                  <a:pt x="72745" y="135786"/>
                </a:lnTo>
                <a:lnTo>
                  <a:pt x="102257" y="102257"/>
                </a:lnTo>
                <a:lnTo>
                  <a:pt x="135786" y="72745"/>
                </a:lnTo>
                <a:lnTo>
                  <a:pt x="172917" y="47666"/>
                </a:lnTo>
                <a:lnTo>
                  <a:pt x="213232" y="27436"/>
                </a:lnTo>
                <a:lnTo>
                  <a:pt x="256317" y="12471"/>
                </a:lnTo>
                <a:lnTo>
                  <a:pt x="301754" y="3187"/>
                </a:lnTo>
                <a:lnTo>
                  <a:pt x="349129" y="0"/>
                </a:lnTo>
                <a:lnTo>
                  <a:pt x="8774738" y="0"/>
                </a:lnTo>
                <a:lnTo>
                  <a:pt x="8822113" y="3187"/>
                </a:lnTo>
                <a:lnTo>
                  <a:pt x="8867550" y="12471"/>
                </a:lnTo>
                <a:lnTo>
                  <a:pt x="8910635" y="27436"/>
                </a:lnTo>
                <a:lnTo>
                  <a:pt x="8950951" y="47666"/>
                </a:lnTo>
                <a:lnTo>
                  <a:pt x="8988081" y="72745"/>
                </a:lnTo>
                <a:lnTo>
                  <a:pt x="9021610" y="102257"/>
                </a:lnTo>
                <a:lnTo>
                  <a:pt x="9051122" y="135786"/>
                </a:lnTo>
                <a:lnTo>
                  <a:pt x="9076201" y="172917"/>
                </a:lnTo>
                <a:lnTo>
                  <a:pt x="9096431" y="213232"/>
                </a:lnTo>
                <a:lnTo>
                  <a:pt x="9111396" y="256317"/>
                </a:lnTo>
                <a:lnTo>
                  <a:pt x="9120680" y="301754"/>
                </a:lnTo>
                <a:lnTo>
                  <a:pt x="9123734" y="347142"/>
                </a:lnTo>
                <a:lnTo>
                  <a:pt x="9123734" y="351116"/>
                </a:lnTo>
                <a:lnTo>
                  <a:pt x="9120680" y="396504"/>
                </a:lnTo>
                <a:lnTo>
                  <a:pt x="9111396" y="441941"/>
                </a:lnTo>
                <a:lnTo>
                  <a:pt x="9096431" y="485026"/>
                </a:lnTo>
                <a:lnTo>
                  <a:pt x="9076201" y="525341"/>
                </a:lnTo>
                <a:lnTo>
                  <a:pt x="9051122" y="562472"/>
                </a:lnTo>
                <a:lnTo>
                  <a:pt x="9021610" y="596001"/>
                </a:lnTo>
                <a:lnTo>
                  <a:pt x="8988081" y="625513"/>
                </a:lnTo>
                <a:lnTo>
                  <a:pt x="8950951" y="650592"/>
                </a:lnTo>
                <a:lnTo>
                  <a:pt x="8910635" y="670822"/>
                </a:lnTo>
                <a:lnTo>
                  <a:pt x="8867550" y="685787"/>
                </a:lnTo>
                <a:lnTo>
                  <a:pt x="8822113" y="695071"/>
                </a:lnTo>
                <a:lnTo>
                  <a:pt x="8774738" y="69825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83260" y="4165303"/>
            <a:ext cx="9123866" cy="981860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7083259" y="6140697"/>
            <a:ext cx="9124315" cy="698500"/>
          </a:xfrm>
          <a:custGeom>
            <a:avLst/>
            <a:gdLst/>
            <a:ahLst/>
            <a:cxnLst/>
            <a:rect l="l" t="t" r="r" b="b"/>
            <a:pathLst>
              <a:path w="9124315" h="698500">
                <a:moveTo>
                  <a:pt x="8774738" y="698258"/>
                </a:moveTo>
                <a:lnTo>
                  <a:pt x="349129" y="698258"/>
                </a:lnTo>
                <a:lnTo>
                  <a:pt x="301754" y="695071"/>
                </a:lnTo>
                <a:lnTo>
                  <a:pt x="256317" y="685787"/>
                </a:lnTo>
                <a:lnTo>
                  <a:pt x="213232" y="670822"/>
                </a:lnTo>
                <a:lnTo>
                  <a:pt x="172917" y="650592"/>
                </a:lnTo>
                <a:lnTo>
                  <a:pt x="135786" y="625513"/>
                </a:lnTo>
                <a:lnTo>
                  <a:pt x="102257" y="596001"/>
                </a:lnTo>
                <a:lnTo>
                  <a:pt x="72745" y="562472"/>
                </a:lnTo>
                <a:lnTo>
                  <a:pt x="47666" y="525341"/>
                </a:lnTo>
                <a:lnTo>
                  <a:pt x="27436" y="485026"/>
                </a:lnTo>
                <a:lnTo>
                  <a:pt x="12471" y="441942"/>
                </a:lnTo>
                <a:lnTo>
                  <a:pt x="3187" y="396504"/>
                </a:lnTo>
                <a:lnTo>
                  <a:pt x="0" y="349129"/>
                </a:lnTo>
                <a:lnTo>
                  <a:pt x="3187" y="301755"/>
                </a:lnTo>
                <a:lnTo>
                  <a:pt x="12471" y="256317"/>
                </a:lnTo>
                <a:lnTo>
                  <a:pt x="27436" y="213232"/>
                </a:lnTo>
                <a:lnTo>
                  <a:pt x="47666" y="172917"/>
                </a:lnTo>
                <a:lnTo>
                  <a:pt x="72745" y="135787"/>
                </a:lnTo>
                <a:lnTo>
                  <a:pt x="102257" y="102257"/>
                </a:lnTo>
                <a:lnTo>
                  <a:pt x="135786" y="72745"/>
                </a:lnTo>
                <a:lnTo>
                  <a:pt x="172917" y="47666"/>
                </a:lnTo>
                <a:lnTo>
                  <a:pt x="213232" y="27436"/>
                </a:lnTo>
                <a:lnTo>
                  <a:pt x="256317" y="12471"/>
                </a:lnTo>
                <a:lnTo>
                  <a:pt x="301754" y="3187"/>
                </a:lnTo>
                <a:lnTo>
                  <a:pt x="349129" y="0"/>
                </a:lnTo>
                <a:lnTo>
                  <a:pt x="8774738" y="0"/>
                </a:lnTo>
                <a:lnTo>
                  <a:pt x="8822113" y="3187"/>
                </a:lnTo>
                <a:lnTo>
                  <a:pt x="8867550" y="12471"/>
                </a:lnTo>
                <a:lnTo>
                  <a:pt x="8910635" y="27436"/>
                </a:lnTo>
                <a:lnTo>
                  <a:pt x="8950951" y="47666"/>
                </a:lnTo>
                <a:lnTo>
                  <a:pt x="8988081" y="72745"/>
                </a:lnTo>
                <a:lnTo>
                  <a:pt x="9021610" y="102257"/>
                </a:lnTo>
                <a:lnTo>
                  <a:pt x="9051122" y="135787"/>
                </a:lnTo>
                <a:lnTo>
                  <a:pt x="9076201" y="172917"/>
                </a:lnTo>
                <a:lnTo>
                  <a:pt x="9096431" y="213232"/>
                </a:lnTo>
                <a:lnTo>
                  <a:pt x="9111396" y="256317"/>
                </a:lnTo>
                <a:lnTo>
                  <a:pt x="9120680" y="301755"/>
                </a:lnTo>
                <a:lnTo>
                  <a:pt x="9123734" y="347142"/>
                </a:lnTo>
                <a:lnTo>
                  <a:pt x="9123734" y="351117"/>
                </a:lnTo>
                <a:lnTo>
                  <a:pt x="9120680" y="396504"/>
                </a:lnTo>
                <a:lnTo>
                  <a:pt x="9111396" y="441942"/>
                </a:lnTo>
                <a:lnTo>
                  <a:pt x="9096431" y="485026"/>
                </a:lnTo>
                <a:lnTo>
                  <a:pt x="9076201" y="525341"/>
                </a:lnTo>
                <a:lnTo>
                  <a:pt x="9051122" y="562472"/>
                </a:lnTo>
                <a:lnTo>
                  <a:pt x="9021610" y="596001"/>
                </a:lnTo>
                <a:lnTo>
                  <a:pt x="8988081" y="625513"/>
                </a:lnTo>
                <a:lnTo>
                  <a:pt x="8950951" y="650592"/>
                </a:lnTo>
                <a:lnTo>
                  <a:pt x="8910635" y="670822"/>
                </a:lnTo>
                <a:lnTo>
                  <a:pt x="8867550" y="685787"/>
                </a:lnTo>
                <a:lnTo>
                  <a:pt x="8822113" y="695071"/>
                </a:lnTo>
                <a:lnTo>
                  <a:pt x="8774738" y="69825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83259" y="6963122"/>
            <a:ext cx="9124315" cy="698500"/>
          </a:xfrm>
          <a:custGeom>
            <a:avLst/>
            <a:gdLst/>
            <a:ahLst/>
            <a:cxnLst/>
            <a:rect l="l" t="t" r="r" b="b"/>
            <a:pathLst>
              <a:path w="9124315" h="698500">
                <a:moveTo>
                  <a:pt x="8774738" y="698258"/>
                </a:moveTo>
                <a:lnTo>
                  <a:pt x="349129" y="698258"/>
                </a:lnTo>
                <a:lnTo>
                  <a:pt x="301754" y="695072"/>
                </a:lnTo>
                <a:lnTo>
                  <a:pt x="256317" y="685788"/>
                </a:lnTo>
                <a:lnTo>
                  <a:pt x="213232" y="670822"/>
                </a:lnTo>
                <a:lnTo>
                  <a:pt x="172917" y="650592"/>
                </a:lnTo>
                <a:lnTo>
                  <a:pt x="135786" y="625513"/>
                </a:lnTo>
                <a:lnTo>
                  <a:pt x="102257" y="596001"/>
                </a:lnTo>
                <a:lnTo>
                  <a:pt x="72745" y="562472"/>
                </a:lnTo>
                <a:lnTo>
                  <a:pt x="47666" y="525341"/>
                </a:lnTo>
                <a:lnTo>
                  <a:pt x="27436" y="485026"/>
                </a:lnTo>
                <a:lnTo>
                  <a:pt x="12471" y="441941"/>
                </a:lnTo>
                <a:lnTo>
                  <a:pt x="3187" y="396504"/>
                </a:lnTo>
                <a:lnTo>
                  <a:pt x="0" y="349129"/>
                </a:lnTo>
                <a:lnTo>
                  <a:pt x="3187" y="301754"/>
                </a:lnTo>
                <a:lnTo>
                  <a:pt x="12471" y="256316"/>
                </a:lnTo>
                <a:lnTo>
                  <a:pt x="27436" y="213232"/>
                </a:lnTo>
                <a:lnTo>
                  <a:pt x="47666" y="172917"/>
                </a:lnTo>
                <a:lnTo>
                  <a:pt x="72745" y="135786"/>
                </a:lnTo>
                <a:lnTo>
                  <a:pt x="102257" y="102257"/>
                </a:lnTo>
                <a:lnTo>
                  <a:pt x="135786" y="72745"/>
                </a:lnTo>
                <a:lnTo>
                  <a:pt x="172917" y="47666"/>
                </a:lnTo>
                <a:lnTo>
                  <a:pt x="213232" y="27436"/>
                </a:lnTo>
                <a:lnTo>
                  <a:pt x="256317" y="12471"/>
                </a:lnTo>
                <a:lnTo>
                  <a:pt x="301754" y="3187"/>
                </a:lnTo>
                <a:lnTo>
                  <a:pt x="349129" y="0"/>
                </a:lnTo>
                <a:lnTo>
                  <a:pt x="8774738" y="0"/>
                </a:lnTo>
                <a:lnTo>
                  <a:pt x="8822113" y="3187"/>
                </a:lnTo>
                <a:lnTo>
                  <a:pt x="8867550" y="12471"/>
                </a:lnTo>
                <a:lnTo>
                  <a:pt x="8910635" y="27436"/>
                </a:lnTo>
                <a:lnTo>
                  <a:pt x="8950951" y="47666"/>
                </a:lnTo>
                <a:lnTo>
                  <a:pt x="8988081" y="72745"/>
                </a:lnTo>
                <a:lnTo>
                  <a:pt x="9021610" y="102257"/>
                </a:lnTo>
                <a:lnTo>
                  <a:pt x="9051122" y="135786"/>
                </a:lnTo>
                <a:lnTo>
                  <a:pt x="9076201" y="172917"/>
                </a:lnTo>
                <a:lnTo>
                  <a:pt x="9096431" y="213232"/>
                </a:lnTo>
                <a:lnTo>
                  <a:pt x="9111396" y="256316"/>
                </a:lnTo>
                <a:lnTo>
                  <a:pt x="9120680" y="301754"/>
                </a:lnTo>
                <a:lnTo>
                  <a:pt x="9123734" y="347141"/>
                </a:lnTo>
                <a:lnTo>
                  <a:pt x="9123734" y="351116"/>
                </a:lnTo>
                <a:lnTo>
                  <a:pt x="9120680" y="396504"/>
                </a:lnTo>
                <a:lnTo>
                  <a:pt x="9111396" y="441941"/>
                </a:lnTo>
                <a:lnTo>
                  <a:pt x="9096431" y="485026"/>
                </a:lnTo>
                <a:lnTo>
                  <a:pt x="9076201" y="525341"/>
                </a:lnTo>
                <a:lnTo>
                  <a:pt x="9051122" y="562472"/>
                </a:lnTo>
                <a:lnTo>
                  <a:pt x="9021610" y="596001"/>
                </a:lnTo>
                <a:lnTo>
                  <a:pt x="8988081" y="625513"/>
                </a:lnTo>
                <a:lnTo>
                  <a:pt x="8950951" y="650592"/>
                </a:lnTo>
                <a:lnTo>
                  <a:pt x="8910635" y="670822"/>
                </a:lnTo>
                <a:lnTo>
                  <a:pt x="8867550" y="685788"/>
                </a:lnTo>
                <a:lnTo>
                  <a:pt x="8822113" y="695072"/>
                </a:lnTo>
                <a:lnTo>
                  <a:pt x="8774738" y="69825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7083259" y="7785205"/>
            <a:ext cx="11205210" cy="2501900"/>
            <a:chOff x="7083259" y="7785205"/>
            <a:chExt cx="11205210" cy="250190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52333" y="8456807"/>
              <a:ext cx="7235665" cy="183019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083260" y="7785213"/>
              <a:ext cx="9124315" cy="1520825"/>
            </a:xfrm>
            <a:custGeom>
              <a:avLst/>
              <a:gdLst/>
              <a:ahLst/>
              <a:cxnLst/>
              <a:rect l="l" t="t" r="r" b="b"/>
              <a:pathLst>
                <a:path w="9124315" h="1520825">
                  <a:moveTo>
                    <a:pt x="9123731" y="1169225"/>
                  </a:moveTo>
                  <a:lnTo>
                    <a:pt x="9120670" y="1123835"/>
                  </a:lnTo>
                  <a:lnTo>
                    <a:pt x="9111386" y="1078395"/>
                  </a:lnTo>
                  <a:lnTo>
                    <a:pt x="9096426" y="1035316"/>
                  </a:lnTo>
                  <a:lnTo>
                    <a:pt x="9076195" y="994994"/>
                  </a:lnTo>
                  <a:lnTo>
                    <a:pt x="9051112" y="957872"/>
                  </a:lnTo>
                  <a:lnTo>
                    <a:pt x="9021610" y="924344"/>
                  </a:lnTo>
                  <a:lnTo>
                    <a:pt x="8988069" y="894829"/>
                  </a:lnTo>
                  <a:lnTo>
                    <a:pt x="8950947" y="869746"/>
                  </a:lnTo>
                  <a:lnTo>
                    <a:pt x="8910625" y="849515"/>
                  </a:lnTo>
                  <a:lnTo>
                    <a:pt x="8867546" y="834555"/>
                  </a:lnTo>
                  <a:lnTo>
                    <a:pt x="8822106" y="825271"/>
                  </a:lnTo>
                  <a:lnTo>
                    <a:pt x="8774735" y="822083"/>
                  </a:lnTo>
                  <a:lnTo>
                    <a:pt x="349123" y="822083"/>
                  </a:lnTo>
                  <a:lnTo>
                    <a:pt x="301752" y="825271"/>
                  </a:lnTo>
                  <a:lnTo>
                    <a:pt x="256311" y="834555"/>
                  </a:lnTo>
                  <a:lnTo>
                    <a:pt x="213220" y="849515"/>
                  </a:lnTo>
                  <a:lnTo>
                    <a:pt x="172910" y="869746"/>
                  </a:lnTo>
                  <a:lnTo>
                    <a:pt x="135775" y="894829"/>
                  </a:lnTo>
                  <a:lnTo>
                    <a:pt x="102247" y="924344"/>
                  </a:lnTo>
                  <a:lnTo>
                    <a:pt x="72745" y="957872"/>
                  </a:lnTo>
                  <a:lnTo>
                    <a:pt x="47663" y="994994"/>
                  </a:lnTo>
                  <a:lnTo>
                    <a:pt x="27432" y="1035316"/>
                  </a:lnTo>
                  <a:lnTo>
                    <a:pt x="12471" y="1078395"/>
                  </a:lnTo>
                  <a:lnTo>
                    <a:pt x="3175" y="1123835"/>
                  </a:lnTo>
                  <a:lnTo>
                    <a:pt x="0" y="1171206"/>
                  </a:lnTo>
                  <a:lnTo>
                    <a:pt x="3175" y="1218590"/>
                  </a:lnTo>
                  <a:lnTo>
                    <a:pt x="12471" y="1264018"/>
                  </a:lnTo>
                  <a:lnTo>
                    <a:pt x="27432" y="1307109"/>
                  </a:lnTo>
                  <a:lnTo>
                    <a:pt x="47663" y="1347419"/>
                  </a:lnTo>
                  <a:lnTo>
                    <a:pt x="72745" y="1384554"/>
                  </a:lnTo>
                  <a:lnTo>
                    <a:pt x="102247" y="1418082"/>
                  </a:lnTo>
                  <a:lnTo>
                    <a:pt x="135775" y="1447596"/>
                  </a:lnTo>
                  <a:lnTo>
                    <a:pt x="172910" y="1472679"/>
                  </a:lnTo>
                  <a:lnTo>
                    <a:pt x="213220" y="1492910"/>
                  </a:lnTo>
                  <a:lnTo>
                    <a:pt x="256311" y="1507871"/>
                  </a:lnTo>
                  <a:lnTo>
                    <a:pt x="301752" y="1517154"/>
                  </a:lnTo>
                  <a:lnTo>
                    <a:pt x="349123" y="1520342"/>
                  </a:lnTo>
                  <a:lnTo>
                    <a:pt x="8774735" y="1520342"/>
                  </a:lnTo>
                  <a:lnTo>
                    <a:pt x="8822106" y="1517154"/>
                  </a:lnTo>
                  <a:lnTo>
                    <a:pt x="8867546" y="1507871"/>
                  </a:lnTo>
                  <a:lnTo>
                    <a:pt x="8910625" y="1492910"/>
                  </a:lnTo>
                  <a:lnTo>
                    <a:pt x="8950947" y="1472679"/>
                  </a:lnTo>
                  <a:lnTo>
                    <a:pt x="8988069" y="1447596"/>
                  </a:lnTo>
                  <a:lnTo>
                    <a:pt x="9021610" y="1418082"/>
                  </a:lnTo>
                  <a:lnTo>
                    <a:pt x="9051112" y="1384554"/>
                  </a:lnTo>
                  <a:lnTo>
                    <a:pt x="9076195" y="1347419"/>
                  </a:lnTo>
                  <a:lnTo>
                    <a:pt x="9096426" y="1307109"/>
                  </a:lnTo>
                  <a:lnTo>
                    <a:pt x="9111386" y="1264018"/>
                  </a:lnTo>
                  <a:lnTo>
                    <a:pt x="9120670" y="1218590"/>
                  </a:lnTo>
                  <a:lnTo>
                    <a:pt x="9123731" y="1173200"/>
                  </a:lnTo>
                  <a:lnTo>
                    <a:pt x="9123731" y="1169225"/>
                  </a:lnTo>
                  <a:close/>
                </a:path>
                <a:path w="9124315" h="1520825">
                  <a:moveTo>
                    <a:pt x="9123731" y="347141"/>
                  </a:moveTo>
                  <a:lnTo>
                    <a:pt x="9120670" y="301752"/>
                  </a:lnTo>
                  <a:lnTo>
                    <a:pt x="9111386" y="256311"/>
                  </a:lnTo>
                  <a:lnTo>
                    <a:pt x="9096426" y="213233"/>
                  </a:lnTo>
                  <a:lnTo>
                    <a:pt x="9076195" y="172910"/>
                  </a:lnTo>
                  <a:lnTo>
                    <a:pt x="9051112" y="135788"/>
                  </a:lnTo>
                  <a:lnTo>
                    <a:pt x="9021610" y="102260"/>
                  </a:lnTo>
                  <a:lnTo>
                    <a:pt x="8988069" y="72745"/>
                  </a:lnTo>
                  <a:lnTo>
                    <a:pt x="8950947" y="47663"/>
                  </a:lnTo>
                  <a:lnTo>
                    <a:pt x="8910625" y="27432"/>
                  </a:lnTo>
                  <a:lnTo>
                    <a:pt x="8867546" y="12471"/>
                  </a:lnTo>
                  <a:lnTo>
                    <a:pt x="8822106" y="3187"/>
                  </a:lnTo>
                  <a:lnTo>
                    <a:pt x="8774735" y="0"/>
                  </a:lnTo>
                  <a:lnTo>
                    <a:pt x="349123" y="0"/>
                  </a:lnTo>
                  <a:lnTo>
                    <a:pt x="301752" y="3187"/>
                  </a:lnTo>
                  <a:lnTo>
                    <a:pt x="256311" y="12471"/>
                  </a:lnTo>
                  <a:lnTo>
                    <a:pt x="213220" y="27432"/>
                  </a:lnTo>
                  <a:lnTo>
                    <a:pt x="172910" y="47663"/>
                  </a:lnTo>
                  <a:lnTo>
                    <a:pt x="135775" y="72745"/>
                  </a:lnTo>
                  <a:lnTo>
                    <a:pt x="102247" y="102260"/>
                  </a:lnTo>
                  <a:lnTo>
                    <a:pt x="72745" y="135788"/>
                  </a:lnTo>
                  <a:lnTo>
                    <a:pt x="47663" y="172910"/>
                  </a:lnTo>
                  <a:lnTo>
                    <a:pt x="27432" y="213233"/>
                  </a:lnTo>
                  <a:lnTo>
                    <a:pt x="12471" y="256311"/>
                  </a:lnTo>
                  <a:lnTo>
                    <a:pt x="3175" y="301752"/>
                  </a:lnTo>
                  <a:lnTo>
                    <a:pt x="0" y="349123"/>
                  </a:lnTo>
                  <a:lnTo>
                    <a:pt x="3175" y="396506"/>
                  </a:lnTo>
                  <a:lnTo>
                    <a:pt x="12471" y="441934"/>
                  </a:lnTo>
                  <a:lnTo>
                    <a:pt x="27432" y="485025"/>
                  </a:lnTo>
                  <a:lnTo>
                    <a:pt x="47663" y="525335"/>
                  </a:lnTo>
                  <a:lnTo>
                    <a:pt x="72745" y="562470"/>
                  </a:lnTo>
                  <a:lnTo>
                    <a:pt x="102247" y="595998"/>
                  </a:lnTo>
                  <a:lnTo>
                    <a:pt x="135775" y="625513"/>
                  </a:lnTo>
                  <a:lnTo>
                    <a:pt x="172910" y="650595"/>
                  </a:lnTo>
                  <a:lnTo>
                    <a:pt x="213220" y="670826"/>
                  </a:lnTo>
                  <a:lnTo>
                    <a:pt x="256311" y="685787"/>
                  </a:lnTo>
                  <a:lnTo>
                    <a:pt x="301752" y="695071"/>
                  </a:lnTo>
                  <a:lnTo>
                    <a:pt x="349123" y="698258"/>
                  </a:lnTo>
                  <a:lnTo>
                    <a:pt x="8774735" y="698258"/>
                  </a:lnTo>
                  <a:lnTo>
                    <a:pt x="8822106" y="695071"/>
                  </a:lnTo>
                  <a:lnTo>
                    <a:pt x="8867546" y="685787"/>
                  </a:lnTo>
                  <a:lnTo>
                    <a:pt x="8910625" y="670826"/>
                  </a:lnTo>
                  <a:lnTo>
                    <a:pt x="8950947" y="650595"/>
                  </a:lnTo>
                  <a:lnTo>
                    <a:pt x="8988069" y="625513"/>
                  </a:lnTo>
                  <a:lnTo>
                    <a:pt x="9021610" y="595998"/>
                  </a:lnTo>
                  <a:lnTo>
                    <a:pt x="9051112" y="562470"/>
                  </a:lnTo>
                  <a:lnTo>
                    <a:pt x="9076195" y="525335"/>
                  </a:lnTo>
                  <a:lnTo>
                    <a:pt x="9096426" y="485025"/>
                  </a:lnTo>
                  <a:lnTo>
                    <a:pt x="9111386" y="441934"/>
                  </a:lnTo>
                  <a:lnTo>
                    <a:pt x="9120670" y="396506"/>
                  </a:lnTo>
                  <a:lnTo>
                    <a:pt x="9123731" y="351116"/>
                  </a:lnTo>
                  <a:lnTo>
                    <a:pt x="9123731" y="347141"/>
                  </a:lnTo>
                  <a:close/>
                </a:path>
              </a:pathLst>
            </a:custGeom>
            <a:solidFill>
              <a:srgbClr val="2020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323924" y="4234613"/>
            <a:ext cx="12859385" cy="48583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169025" algn="l"/>
              </a:tabLst>
            </a:pPr>
            <a:r>
              <a:rPr sz="4050" b="1" dirty="0">
                <a:latin typeface="Arial"/>
                <a:cs typeface="Arial"/>
              </a:rPr>
              <a:t>NIST</a:t>
            </a:r>
            <a:r>
              <a:rPr sz="4050" b="1" spc="-20" dirty="0">
                <a:latin typeface="Arial"/>
                <a:cs typeface="Arial"/>
              </a:rPr>
              <a:t> </a:t>
            </a:r>
            <a:r>
              <a:rPr sz="4050" b="1" spc="-10" dirty="0">
                <a:latin typeface="Arial"/>
                <a:cs typeface="Arial"/>
              </a:rPr>
              <a:t>Function</a:t>
            </a:r>
            <a:r>
              <a:rPr sz="4050" b="1" dirty="0">
                <a:latin typeface="Arial"/>
                <a:cs typeface="Arial"/>
              </a:rPr>
              <a:t>	Waverley</a:t>
            </a:r>
            <a:r>
              <a:rPr sz="4050" b="1" spc="-30" dirty="0">
                <a:latin typeface="Arial"/>
                <a:cs typeface="Arial"/>
              </a:rPr>
              <a:t> </a:t>
            </a:r>
            <a:r>
              <a:rPr sz="4050" b="1" dirty="0">
                <a:latin typeface="Arial"/>
                <a:cs typeface="Arial"/>
              </a:rPr>
              <a:t>SDP</a:t>
            </a:r>
            <a:r>
              <a:rPr sz="4050" b="1" spc="-15" dirty="0">
                <a:latin typeface="Arial"/>
                <a:cs typeface="Arial"/>
              </a:rPr>
              <a:t> </a:t>
            </a:r>
            <a:r>
              <a:rPr sz="4050" b="1" spc="-10" dirty="0">
                <a:latin typeface="Arial"/>
                <a:cs typeface="Arial"/>
              </a:rPr>
              <a:t>Integration</a:t>
            </a:r>
            <a:endParaRPr sz="4050">
              <a:latin typeface="Arial"/>
              <a:cs typeface="Arial"/>
            </a:endParaRPr>
          </a:p>
          <a:p>
            <a:pPr marL="1269365" marR="5080" indent="-8890">
              <a:lnSpc>
                <a:spcPct val="220200"/>
              </a:lnSpc>
              <a:spcBef>
                <a:spcPts val="785"/>
              </a:spcBef>
              <a:tabLst>
                <a:tab pos="5795645" algn="l"/>
                <a:tab pos="6854190" algn="l"/>
              </a:tabLst>
            </a:pP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Identify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	Risk</a:t>
            </a:r>
            <a:r>
              <a:rPr sz="24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profiling</a:t>
            </a:r>
            <a:r>
              <a:rPr sz="24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asset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mapping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via</a:t>
            </a:r>
            <a:r>
              <a:rPr sz="24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automated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tools Protect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		SDP</a:t>
            </a:r>
            <a:r>
              <a:rPr sz="24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micro-perimeters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encryption</a:t>
            </a:r>
            <a:endParaRPr sz="2450">
              <a:latin typeface="Arial MT"/>
              <a:cs typeface="Arial MT"/>
            </a:endParaRPr>
          </a:p>
          <a:p>
            <a:pPr marL="1137920" marR="74930" indent="174625">
              <a:lnSpc>
                <a:spcPct val="220200"/>
              </a:lnSpc>
              <a:tabLst>
                <a:tab pos="5865495" algn="l"/>
                <a:tab pos="7265034" algn="l"/>
              </a:tabLst>
            </a:pP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Detect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	Unified</a:t>
            </a:r>
            <a:r>
              <a:rPr sz="24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attack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pattern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SIEM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integration Respond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		Incident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agile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25" dirty="0">
                <a:solidFill>
                  <a:srgbClr val="FFFFFF"/>
                </a:solidFill>
                <a:latin typeface="Arial MT"/>
                <a:cs typeface="Arial MT"/>
              </a:rPr>
              <a:t>ATO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2450">
              <a:latin typeface="Arial MT"/>
              <a:cs typeface="Arial MT"/>
            </a:endParaRPr>
          </a:p>
          <a:p>
            <a:pPr marL="1181735">
              <a:lnSpc>
                <a:spcPct val="100000"/>
              </a:lnSpc>
              <a:spcBef>
                <a:spcPts val="5"/>
              </a:spcBef>
              <a:tabLst>
                <a:tab pos="5804535" algn="l"/>
              </a:tabLst>
            </a:pP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Recover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	Digital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resilience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modeling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(e.g.,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power</a:t>
            </a:r>
            <a:r>
              <a:rPr sz="24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FFFFFF"/>
                </a:solidFill>
                <a:latin typeface="Arial MT"/>
                <a:cs typeface="Arial MT"/>
              </a:rPr>
              <a:t>grid</a:t>
            </a:r>
            <a:r>
              <a:rPr sz="24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FFFFFF"/>
                </a:solidFill>
                <a:latin typeface="Arial MT"/>
                <a:cs typeface="Arial MT"/>
              </a:rPr>
              <a:t>collab)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"/>
            <a:ext cx="6191250" cy="4254500"/>
          </a:xfrm>
          <a:custGeom>
            <a:avLst/>
            <a:gdLst/>
            <a:ahLst/>
            <a:cxnLst/>
            <a:rect l="l" t="t" r="r" b="b"/>
            <a:pathLst>
              <a:path w="6191250" h="4254500">
                <a:moveTo>
                  <a:pt x="3556050" y="0"/>
                </a:moveTo>
                <a:lnTo>
                  <a:pt x="0" y="0"/>
                </a:lnTo>
                <a:lnTo>
                  <a:pt x="0" y="1729917"/>
                </a:lnTo>
                <a:lnTo>
                  <a:pt x="50723" y="1739404"/>
                </a:lnTo>
                <a:lnTo>
                  <a:pt x="98005" y="1747481"/>
                </a:lnTo>
                <a:lnTo>
                  <a:pt x="145529" y="1754873"/>
                </a:lnTo>
                <a:lnTo>
                  <a:pt x="193255" y="1761604"/>
                </a:lnTo>
                <a:lnTo>
                  <a:pt x="241223" y="1767636"/>
                </a:lnTo>
                <a:lnTo>
                  <a:pt x="289382" y="1772983"/>
                </a:lnTo>
                <a:lnTo>
                  <a:pt x="337756" y="1777631"/>
                </a:lnTo>
                <a:lnTo>
                  <a:pt x="386334" y="1781581"/>
                </a:lnTo>
                <a:lnTo>
                  <a:pt x="435114" y="1784819"/>
                </a:lnTo>
                <a:lnTo>
                  <a:pt x="481647" y="1787220"/>
                </a:lnTo>
                <a:lnTo>
                  <a:pt x="480669" y="1787220"/>
                </a:lnTo>
                <a:lnTo>
                  <a:pt x="531710" y="1789099"/>
                </a:lnTo>
                <a:lnTo>
                  <a:pt x="530694" y="1789099"/>
                </a:lnTo>
                <a:lnTo>
                  <a:pt x="581926" y="1790242"/>
                </a:lnTo>
                <a:lnTo>
                  <a:pt x="580656" y="1790242"/>
                </a:lnTo>
                <a:lnTo>
                  <a:pt x="632066" y="1790611"/>
                </a:lnTo>
                <a:lnTo>
                  <a:pt x="706755" y="1790242"/>
                </a:lnTo>
                <a:lnTo>
                  <a:pt x="779716" y="1789099"/>
                </a:lnTo>
                <a:lnTo>
                  <a:pt x="850976" y="1787220"/>
                </a:lnTo>
                <a:lnTo>
                  <a:pt x="920559" y="1784591"/>
                </a:lnTo>
                <a:lnTo>
                  <a:pt x="988517" y="1781225"/>
                </a:lnTo>
                <a:lnTo>
                  <a:pt x="1054862" y="1777136"/>
                </a:lnTo>
                <a:lnTo>
                  <a:pt x="1119632" y="1772310"/>
                </a:lnTo>
                <a:lnTo>
                  <a:pt x="1182852" y="1766760"/>
                </a:lnTo>
                <a:lnTo>
                  <a:pt x="1244574" y="1760486"/>
                </a:lnTo>
                <a:lnTo>
                  <a:pt x="1304823" y="1753514"/>
                </a:lnTo>
                <a:lnTo>
                  <a:pt x="1363624" y="1745830"/>
                </a:lnTo>
                <a:lnTo>
                  <a:pt x="1421015" y="1737448"/>
                </a:lnTo>
                <a:lnTo>
                  <a:pt x="1477035" y="1728368"/>
                </a:lnTo>
                <a:lnTo>
                  <a:pt x="1531696" y="1718602"/>
                </a:lnTo>
                <a:lnTo>
                  <a:pt x="1585048" y="1708137"/>
                </a:lnTo>
                <a:lnTo>
                  <a:pt x="1637118" y="1697012"/>
                </a:lnTo>
                <a:lnTo>
                  <a:pt x="1687944" y="1685201"/>
                </a:lnTo>
                <a:lnTo>
                  <a:pt x="1737550" y="1672717"/>
                </a:lnTo>
                <a:lnTo>
                  <a:pt x="1785975" y="1659585"/>
                </a:lnTo>
                <a:lnTo>
                  <a:pt x="1833245" y="1645780"/>
                </a:lnTo>
                <a:lnTo>
                  <a:pt x="1879384" y="1631327"/>
                </a:lnTo>
                <a:lnTo>
                  <a:pt x="1924456" y="1616227"/>
                </a:lnTo>
                <a:lnTo>
                  <a:pt x="1968461" y="1600492"/>
                </a:lnTo>
                <a:lnTo>
                  <a:pt x="2011451" y="1584109"/>
                </a:lnTo>
                <a:lnTo>
                  <a:pt x="2053437" y="1567103"/>
                </a:lnTo>
                <a:lnTo>
                  <a:pt x="2094484" y="1549463"/>
                </a:lnTo>
                <a:lnTo>
                  <a:pt x="2134590" y="1531200"/>
                </a:lnTo>
                <a:lnTo>
                  <a:pt x="2173808" y="1512328"/>
                </a:lnTo>
                <a:lnTo>
                  <a:pt x="2212175" y="1492846"/>
                </a:lnTo>
                <a:lnTo>
                  <a:pt x="2249703" y="1472768"/>
                </a:lnTo>
                <a:lnTo>
                  <a:pt x="2286431" y="1452079"/>
                </a:lnTo>
                <a:lnTo>
                  <a:pt x="2322411" y="1430794"/>
                </a:lnTo>
                <a:lnTo>
                  <a:pt x="2357653" y="1408925"/>
                </a:lnTo>
                <a:lnTo>
                  <a:pt x="2392197" y="1386484"/>
                </a:lnTo>
                <a:lnTo>
                  <a:pt x="2426068" y="1363446"/>
                </a:lnTo>
                <a:lnTo>
                  <a:pt x="2459317" y="1339850"/>
                </a:lnTo>
                <a:lnTo>
                  <a:pt x="2491956" y="1315681"/>
                </a:lnTo>
                <a:lnTo>
                  <a:pt x="2524023" y="1290942"/>
                </a:lnTo>
                <a:lnTo>
                  <a:pt x="2555570" y="1265656"/>
                </a:lnTo>
                <a:lnTo>
                  <a:pt x="2586596" y="1239824"/>
                </a:lnTo>
                <a:lnTo>
                  <a:pt x="2617152" y="1213434"/>
                </a:lnTo>
                <a:lnTo>
                  <a:pt x="2647277" y="1186510"/>
                </a:lnTo>
                <a:lnTo>
                  <a:pt x="2676995" y="1159052"/>
                </a:lnTo>
                <a:lnTo>
                  <a:pt x="2706332" y="1131062"/>
                </a:lnTo>
                <a:lnTo>
                  <a:pt x="2735326" y="1102550"/>
                </a:lnTo>
                <a:lnTo>
                  <a:pt x="2764015" y="1073518"/>
                </a:lnTo>
                <a:lnTo>
                  <a:pt x="2792425" y="1043965"/>
                </a:lnTo>
                <a:lnTo>
                  <a:pt x="2820593" y="1013917"/>
                </a:lnTo>
                <a:lnTo>
                  <a:pt x="2848546" y="983361"/>
                </a:lnTo>
                <a:lnTo>
                  <a:pt x="2876321" y="952309"/>
                </a:lnTo>
                <a:lnTo>
                  <a:pt x="2903944" y="920750"/>
                </a:lnTo>
                <a:lnTo>
                  <a:pt x="2931452" y="888720"/>
                </a:lnTo>
                <a:lnTo>
                  <a:pt x="2958884" y="856208"/>
                </a:lnTo>
                <a:lnTo>
                  <a:pt x="2986252" y="823214"/>
                </a:lnTo>
                <a:lnTo>
                  <a:pt x="3013608" y="789749"/>
                </a:lnTo>
                <a:lnTo>
                  <a:pt x="3040977" y="755827"/>
                </a:lnTo>
                <a:lnTo>
                  <a:pt x="3068396" y="721436"/>
                </a:lnTo>
                <a:lnTo>
                  <a:pt x="3095891" y="686587"/>
                </a:lnTo>
                <a:lnTo>
                  <a:pt x="3151251" y="615569"/>
                </a:lnTo>
                <a:lnTo>
                  <a:pt x="3235693" y="505739"/>
                </a:lnTo>
                <a:lnTo>
                  <a:pt x="3265157" y="466902"/>
                </a:lnTo>
                <a:lnTo>
                  <a:pt x="3294049" y="427621"/>
                </a:lnTo>
                <a:lnTo>
                  <a:pt x="3322358" y="387908"/>
                </a:lnTo>
                <a:lnTo>
                  <a:pt x="3350082" y="347751"/>
                </a:lnTo>
                <a:lnTo>
                  <a:pt x="3377222" y="307174"/>
                </a:lnTo>
                <a:lnTo>
                  <a:pt x="3403752" y="266179"/>
                </a:lnTo>
                <a:lnTo>
                  <a:pt x="3429698" y="224764"/>
                </a:lnTo>
                <a:lnTo>
                  <a:pt x="3455022" y="182943"/>
                </a:lnTo>
                <a:lnTo>
                  <a:pt x="3479736" y="140728"/>
                </a:lnTo>
                <a:lnTo>
                  <a:pt x="3503828" y="98107"/>
                </a:lnTo>
                <a:lnTo>
                  <a:pt x="3527285" y="55092"/>
                </a:lnTo>
                <a:lnTo>
                  <a:pt x="3550120" y="11696"/>
                </a:lnTo>
                <a:lnTo>
                  <a:pt x="3556050" y="0"/>
                </a:lnTo>
                <a:close/>
              </a:path>
              <a:path w="6191250" h="4254500">
                <a:moveTo>
                  <a:pt x="6191097" y="0"/>
                </a:moveTo>
                <a:lnTo>
                  <a:pt x="4063555" y="0"/>
                </a:lnTo>
                <a:lnTo>
                  <a:pt x="4042714" y="38100"/>
                </a:lnTo>
                <a:lnTo>
                  <a:pt x="4020731" y="88900"/>
                </a:lnTo>
                <a:lnTo>
                  <a:pt x="4016502" y="101600"/>
                </a:lnTo>
                <a:lnTo>
                  <a:pt x="4008031" y="114300"/>
                </a:lnTo>
                <a:lnTo>
                  <a:pt x="4003789" y="127000"/>
                </a:lnTo>
                <a:lnTo>
                  <a:pt x="3981132" y="177800"/>
                </a:lnTo>
                <a:lnTo>
                  <a:pt x="3957396" y="228600"/>
                </a:lnTo>
                <a:lnTo>
                  <a:pt x="3932834" y="266700"/>
                </a:lnTo>
                <a:lnTo>
                  <a:pt x="3907739" y="317500"/>
                </a:lnTo>
                <a:lnTo>
                  <a:pt x="3882364" y="355600"/>
                </a:lnTo>
                <a:lnTo>
                  <a:pt x="3876459" y="368300"/>
                </a:lnTo>
                <a:lnTo>
                  <a:pt x="3865689" y="393700"/>
                </a:lnTo>
                <a:lnTo>
                  <a:pt x="3859771" y="393700"/>
                </a:lnTo>
                <a:lnTo>
                  <a:pt x="3832644" y="444500"/>
                </a:lnTo>
                <a:lnTo>
                  <a:pt x="3805377" y="482600"/>
                </a:lnTo>
                <a:lnTo>
                  <a:pt x="3777843" y="533400"/>
                </a:lnTo>
                <a:lnTo>
                  <a:pt x="3749891" y="571500"/>
                </a:lnTo>
                <a:lnTo>
                  <a:pt x="3721404" y="622300"/>
                </a:lnTo>
                <a:lnTo>
                  <a:pt x="3715486" y="622300"/>
                </a:lnTo>
                <a:lnTo>
                  <a:pt x="3704729" y="647700"/>
                </a:lnTo>
                <a:lnTo>
                  <a:pt x="3698811" y="647700"/>
                </a:lnTo>
                <a:lnTo>
                  <a:pt x="3667976" y="698500"/>
                </a:lnTo>
                <a:lnTo>
                  <a:pt x="3636467" y="736600"/>
                </a:lnTo>
                <a:lnTo>
                  <a:pt x="3604272" y="774700"/>
                </a:lnTo>
                <a:lnTo>
                  <a:pt x="3571405" y="825500"/>
                </a:lnTo>
                <a:lnTo>
                  <a:pt x="3537851" y="863600"/>
                </a:lnTo>
                <a:lnTo>
                  <a:pt x="3532200" y="863600"/>
                </a:lnTo>
                <a:lnTo>
                  <a:pt x="3529380" y="876300"/>
                </a:lnTo>
                <a:lnTo>
                  <a:pt x="3523729" y="876300"/>
                </a:lnTo>
                <a:lnTo>
                  <a:pt x="3489502" y="914400"/>
                </a:lnTo>
                <a:lnTo>
                  <a:pt x="3454603" y="965200"/>
                </a:lnTo>
                <a:lnTo>
                  <a:pt x="3419017" y="1003300"/>
                </a:lnTo>
                <a:lnTo>
                  <a:pt x="3382759" y="1041400"/>
                </a:lnTo>
                <a:lnTo>
                  <a:pt x="3345827" y="1079500"/>
                </a:lnTo>
                <a:lnTo>
                  <a:pt x="3340176" y="1092200"/>
                </a:lnTo>
                <a:lnTo>
                  <a:pt x="3337356" y="1092200"/>
                </a:lnTo>
                <a:lnTo>
                  <a:pt x="3299764" y="1130300"/>
                </a:lnTo>
                <a:lnTo>
                  <a:pt x="3261626" y="1168400"/>
                </a:lnTo>
                <a:lnTo>
                  <a:pt x="3145332" y="1282700"/>
                </a:lnTo>
                <a:lnTo>
                  <a:pt x="3119920" y="1308100"/>
                </a:lnTo>
                <a:lnTo>
                  <a:pt x="3080626" y="1333500"/>
                </a:lnTo>
                <a:lnTo>
                  <a:pt x="3000565" y="1409700"/>
                </a:lnTo>
                <a:lnTo>
                  <a:pt x="2960065" y="1435100"/>
                </a:lnTo>
                <a:lnTo>
                  <a:pt x="2919425" y="1473200"/>
                </a:lnTo>
                <a:lnTo>
                  <a:pt x="2910954" y="1473200"/>
                </a:lnTo>
                <a:lnTo>
                  <a:pt x="2902483" y="1485900"/>
                </a:lnTo>
                <a:lnTo>
                  <a:pt x="2893999" y="1485900"/>
                </a:lnTo>
                <a:lnTo>
                  <a:pt x="2885529" y="1498600"/>
                </a:lnTo>
                <a:lnTo>
                  <a:pt x="2844533" y="1524000"/>
                </a:lnTo>
                <a:lnTo>
                  <a:pt x="2802852" y="1562100"/>
                </a:lnTo>
                <a:lnTo>
                  <a:pt x="2717457" y="1612900"/>
                </a:lnTo>
                <a:lnTo>
                  <a:pt x="2673743" y="1651000"/>
                </a:lnTo>
                <a:lnTo>
                  <a:pt x="2664828" y="1651000"/>
                </a:lnTo>
                <a:lnTo>
                  <a:pt x="2655392" y="1663700"/>
                </a:lnTo>
                <a:lnTo>
                  <a:pt x="2637028" y="1663700"/>
                </a:lnTo>
                <a:lnTo>
                  <a:pt x="2592667" y="1701800"/>
                </a:lnTo>
                <a:lnTo>
                  <a:pt x="2411120" y="1803400"/>
                </a:lnTo>
                <a:lnTo>
                  <a:pt x="2403094" y="1803400"/>
                </a:lnTo>
                <a:lnTo>
                  <a:pt x="2388082" y="1816100"/>
                </a:lnTo>
                <a:lnTo>
                  <a:pt x="2380056" y="1816100"/>
                </a:lnTo>
                <a:lnTo>
                  <a:pt x="2283815" y="1866900"/>
                </a:lnTo>
                <a:lnTo>
                  <a:pt x="2184870" y="1917700"/>
                </a:lnTo>
                <a:lnTo>
                  <a:pt x="2134374" y="1943100"/>
                </a:lnTo>
                <a:lnTo>
                  <a:pt x="2123084" y="1943100"/>
                </a:lnTo>
                <a:lnTo>
                  <a:pt x="2072233" y="1968500"/>
                </a:lnTo>
                <a:lnTo>
                  <a:pt x="2021243" y="1981200"/>
                </a:lnTo>
                <a:lnTo>
                  <a:pt x="1969985" y="2006600"/>
                </a:lnTo>
                <a:lnTo>
                  <a:pt x="1918322" y="2019300"/>
                </a:lnTo>
                <a:lnTo>
                  <a:pt x="1866112" y="2044700"/>
                </a:lnTo>
                <a:lnTo>
                  <a:pt x="1843519" y="2044700"/>
                </a:lnTo>
                <a:lnTo>
                  <a:pt x="1792376" y="2070100"/>
                </a:lnTo>
                <a:lnTo>
                  <a:pt x="1636217" y="2108200"/>
                </a:lnTo>
                <a:lnTo>
                  <a:pt x="1583715" y="2133600"/>
                </a:lnTo>
                <a:lnTo>
                  <a:pt x="1554327" y="2133600"/>
                </a:lnTo>
                <a:lnTo>
                  <a:pt x="1493012" y="2159000"/>
                </a:lnTo>
                <a:lnTo>
                  <a:pt x="1441170" y="2159000"/>
                </a:lnTo>
                <a:lnTo>
                  <a:pt x="1281557" y="2197100"/>
                </a:lnTo>
                <a:lnTo>
                  <a:pt x="1247406" y="2197100"/>
                </a:lnTo>
                <a:lnTo>
                  <a:pt x="1236383" y="2209800"/>
                </a:lnTo>
                <a:lnTo>
                  <a:pt x="1183538" y="2209800"/>
                </a:lnTo>
                <a:lnTo>
                  <a:pt x="1130160" y="2222500"/>
                </a:lnTo>
                <a:lnTo>
                  <a:pt x="1076363" y="2222500"/>
                </a:lnTo>
                <a:lnTo>
                  <a:pt x="1022311" y="2235200"/>
                </a:lnTo>
                <a:lnTo>
                  <a:pt x="935151" y="2235200"/>
                </a:lnTo>
                <a:lnTo>
                  <a:pt x="922921" y="2247900"/>
                </a:lnTo>
                <a:lnTo>
                  <a:pt x="356743" y="2247900"/>
                </a:lnTo>
                <a:lnTo>
                  <a:pt x="327088" y="2235200"/>
                </a:lnTo>
                <a:lnTo>
                  <a:pt x="216954" y="2235200"/>
                </a:lnTo>
                <a:lnTo>
                  <a:pt x="89877" y="2209800"/>
                </a:lnTo>
                <a:lnTo>
                  <a:pt x="44157" y="2209800"/>
                </a:lnTo>
                <a:lnTo>
                  <a:pt x="0" y="2197100"/>
                </a:lnTo>
                <a:lnTo>
                  <a:pt x="0" y="4216400"/>
                </a:lnTo>
                <a:lnTo>
                  <a:pt x="17767" y="4216400"/>
                </a:lnTo>
                <a:lnTo>
                  <a:pt x="64820" y="4229100"/>
                </a:lnTo>
                <a:lnTo>
                  <a:pt x="159258" y="4229100"/>
                </a:lnTo>
                <a:lnTo>
                  <a:pt x="206641" y="4241800"/>
                </a:lnTo>
                <a:lnTo>
                  <a:pt x="397230" y="4241800"/>
                </a:lnTo>
                <a:lnTo>
                  <a:pt x="445135" y="4254500"/>
                </a:lnTo>
                <a:lnTo>
                  <a:pt x="857224" y="4254500"/>
                </a:lnTo>
                <a:lnTo>
                  <a:pt x="911504" y="4241800"/>
                </a:lnTo>
                <a:lnTo>
                  <a:pt x="1126159" y="4241800"/>
                </a:lnTo>
                <a:lnTo>
                  <a:pt x="1179207" y="4229100"/>
                </a:lnTo>
                <a:lnTo>
                  <a:pt x="1284592" y="4229100"/>
                </a:lnTo>
                <a:lnTo>
                  <a:pt x="1336903" y="4216400"/>
                </a:lnTo>
                <a:lnTo>
                  <a:pt x="1388986" y="4216400"/>
                </a:lnTo>
                <a:lnTo>
                  <a:pt x="1440802" y="4203700"/>
                </a:lnTo>
                <a:lnTo>
                  <a:pt x="1492389" y="4203700"/>
                </a:lnTo>
                <a:lnTo>
                  <a:pt x="1543723" y="4191000"/>
                </a:lnTo>
                <a:lnTo>
                  <a:pt x="1594815" y="4191000"/>
                </a:lnTo>
                <a:lnTo>
                  <a:pt x="1645653" y="4178300"/>
                </a:lnTo>
                <a:lnTo>
                  <a:pt x="1696237" y="4178300"/>
                </a:lnTo>
                <a:lnTo>
                  <a:pt x="1796681" y="4152900"/>
                </a:lnTo>
                <a:lnTo>
                  <a:pt x="1846516" y="4152900"/>
                </a:lnTo>
                <a:lnTo>
                  <a:pt x="2043404" y="4102100"/>
                </a:lnTo>
                <a:lnTo>
                  <a:pt x="2091994" y="4102100"/>
                </a:lnTo>
                <a:lnTo>
                  <a:pt x="2564079" y="3975100"/>
                </a:lnTo>
                <a:lnTo>
                  <a:pt x="2609888" y="3949700"/>
                </a:lnTo>
                <a:lnTo>
                  <a:pt x="2790583" y="3898900"/>
                </a:lnTo>
                <a:lnTo>
                  <a:pt x="2835110" y="3873500"/>
                </a:lnTo>
                <a:lnTo>
                  <a:pt x="2923400" y="3848100"/>
                </a:lnTo>
                <a:lnTo>
                  <a:pt x="2967164" y="3822700"/>
                </a:lnTo>
                <a:lnTo>
                  <a:pt x="3010674" y="3810000"/>
                </a:lnTo>
                <a:lnTo>
                  <a:pt x="3053918" y="3784600"/>
                </a:lnTo>
                <a:lnTo>
                  <a:pt x="3139630" y="3759200"/>
                </a:lnTo>
                <a:lnTo>
                  <a:pt x="3182099" y="3733800"/>
                </a:lnTo>
                <a:lnTo>
                  <a:pt x="3224301" y="3721100"/>
                </a:lnTo>
                <a:lnTo>
                  <a:pt x="3307931" y="3670300"/>
                </a:lnTo>
                <a:lnTo>
                  <a:pt x="3349358" y="3657600"/>
                </a:lnTo>
                <a:lnTo>
                  <a:pt x="3390519" y="3632200"/>
                </a:lnTo>
                <a:lnTo>
                  <a:pt x="3431425" y="3619500"/>
                </a:lnTo>
                <a:lnTo>
                  <a:pt x="3552558" y="3543300"/>
                </a:lnTo>
                <a:lnTo>
                  <a:pt x="3592411" y="3530600"/>
                </a:lnTo>
                <a:lnTo>
                  <a:pt x="3749192" y="3429000"/>
                </a:lnTo>
                <a:lnTo>
                  <a:pt x="3787724" y="3416300"/>
                </a:lnTo>
                <a:lnTo>
                  <a:pt x="3901719" y="3340100"/>
                </a:lnTo>
                <a:lnTo>
                  <a:pt x="4050004" y="3238500"/>
                </a:lnTo>
                <a:lnTo>
                  <a:pt x="4158399" y="3162300"/>
                </a:lnTo>
                <a:lnTo>
                  <a:pt x="4193984" y="3124200"/>
                </a:lnTo>
                <a:lnTo>
                  <a:pt x="4229316" y="3098800"/>
                </a:lnTo>
                <a:lnTo>
                  <a:pt x="4333672" y="3022600"/>
                </a:lnTo>
                <a:lnTo>
                  <a:pt x="4367923" y="2984500"/>
                </a:lnTo>
                <a:lnTo>
                  <a:pt x="4469028" y="2908300"/>
                </a:lnTo>
                <a:lnTo>
                  <a:pt x="4502188" y="2870200"/>
                </a:lnTo>
                <a:lnTo>
                  <a:pt x="4567694" y="2819400"/>
                </a:lnTo>
                <a:lnTo>
                  <a:pt x="4600029" y="2781300"/>
                </a:lnTo>
                <a:lnTo>
                  <a:pt x="4632096" y="2755900"/>
                </a:lnTo>
                <a:lnTo>
                  <a:pt x="4663897" y="2717800"/>
                </a:lnTo>
                <a:lnTo>
                  <a:pt x="4695418" y="2692400"/>
                </a:lnTo>
                <a:lnTo>
                  <a:pt x="4726660" y="2654300"/>
                </a:lnTo>
                <a:lnTo>
                  <a:pt x="4757636" y="2628900"/>
                </a:lnTo>
                <a:lnTo>
                  <a:pt x="4788319" y="2590800"/>
                </a:lnTo>
                <a:lnTo>
                  <a:pt x="4818748" y="2565400"/>
                </a:lnTo>
                <a:lnTo>
                  <a:pt x="4848885" y="2527300"/>
                </a:lnTo>
                <a:lnTo>
                  <a:pt x="4878756" y="2501900"/>
                </a:lnTo>
                <a:lnTo>
                  <a:pt x="4908347" y="2463800"/>
                </a:lnTo>
                <a:lnTo>
                  <a:pt x="4937658" y="2438400"/>
                </a:lnTo>
                <a:lnTo>
                  <a:pt x="4966690" y="2400300"/>
                </a:lnTo>
                <a:lnTo>
                  <a:pt x="4995456" y="2362200"/>
                </a:lnTo>
                <a:lnTo>
                  <a:pt x="5023929" y="2336800"/>
                </a:lnTo>
                <a:lnTo>
                  <a:pt x="5052136" y="2298700"/>
                </a:lnTo>
                <a:lnTo>
                  <a:pt x="5080051" y="2260600"/>
                </a:lnTo>
                <a:lnTo>
                  <a:pt x="5093881" y="2247900"/>
                </a:lnTo>
                <a:lnTo>
                  <a:pt x="5107698" y="2235200"/>
                </a:lnTo>
                <a:lnTo>
                  <a:pt x="5135067" y="2197100"/>
                </a:lnTo>
                <a:lnTo>
                  <a:pt x="5162143" y="2159000"/>
                </a:lnTo>
                <a:lnTo>
                  <a:pt x="5188953" y="2120900"/>
                </a:lnTo>
                <a:lnTo>
                  <a:pt x="5215471" y="2095500"/>
                </a:lnTo>
                <a:lnTo>
                  <a:pt x="5241709" y="2057400"/>
                </a:lnTo>
                <a:lnTo>
                  <a:pt x="5267680" y="2019300"/>
                </a:lnTo>
                <a:lnTo>
                  <a:pt x="5293347" y="1981200"/>
                </a:lnTo>
                <a:lnTo>
                  <a:pt x="5318747" y="1943100"/>
                </a:lnTo>
                <a:lnTo>
                  <a:pt x="5343868" y="1905000"/>
                </a:lnTo>
                <a:lnTo>
                  <a:pt x="5368696" y="1866900"/>
                </a:lnTo>
                <a:lnTo>
                  <a:pt x="5393245" y="1828800"/>
                </a:lnTo>
                <a:lnTo>
                  <a:pt x="5417502" y="1803400"/>
                </a:lnTo>
                <a:lnTo>
                  <a:pt x="5441493" y="1765300"/>
                </a:lnTo>
                <a:lnTo>
                  <a:pt x="5465178" y="1727200"/>
                </a:lnTo>
                <a:lnTo>
                  <a:pt x="5488597" y="1689100"/>
                </a:lnTo>
                <a:lnTo>
                  <a:pt x="5511724" y="1651000"/>
                </a:lnTo>
                <a:lnTo>
                  <a:pt x="5534558" y="1612900"/>
                </a:lnTo>
                <a:lnTo>
                  <a:pt x="5557113" y="1574800"/>
                </a:lnTo>
                <a:lnTo>
                  <a:pt x="5579389" y="1524000"/>
                </a:lnTo>
                <a:lnTo>
                  <a:pt x="5601373" y="1485900"/>
                </a:lnTo>
                <a:lnTo>
                  <a:pt x="5623064" y="1447800"/>
                </a:lnTo>
                <a:lnTo>
                  <a:pt x="5644477" y="1409700"/>
                </a:lnTo>
                <a:lnTo>
                  <a:pt x="5665597" y="1371600"/>
                </a:lnTo>
                <a:lnTo>
                  <a:pt x="5686425" y="1333500"/>
                </a:lnTo>
                <a:lnTo>
                  <a:pt x="5706973" y="1295400"/>
                </a:lnTo>
                <a:lnTo>
                  <a:pt x="5727230" y="1257300"/>
                </a:lnTo>
                <a:lnTo>
                  <a:pt x="5747207" y="1206500"/>
                </a:lnTo>
                <a:lnTo>
                  <a:pt x="5766879" y="1168400"/>
                </a:lnTo>
                <a:lnTo>
                  <a:pt x="5786272" y="1130300"/>
                </a:lnTo>
                <a:lnTo>
                  <a:pt x="5805373" y="1092200"/>
                </a:lnTo>
                <a:lnTo>
                  <a:pt x="5824182" y="1054100"/>
                </a:lnTo>
                <a:lnTo>
                  <a:pt x="5842698" y="1003300"/>
                </a:lnTo>
                <a:lnTo>
                  <a:pt x="5860923" y="965200"/>
                </a:lnTo>
                <a:lnTo>
                  <a:pt x="5878855" y="927100"/>
                </a:lnTo>
                <a:lnTo>
                  <a:pt x="5896495" y="876300"/>
                </a:lnTo>
                <a:lnTo>
                  <a:pt x="5913856" y="838200"/>
                </a:lnTo>
                <a:lnTo>
                  <a:pt x="5930912" y="800100"/>
                </a:lnTo>
                <a:lnTo>
                  <a:pt x="5947676" y="749300"/>
                </a:lnTo>
                <a:lnTo>
                  <a:pt x="5964148" y="711200"/>
                </a:lnTo>
                <a:lnTo>
                  <a:pt x="5980328" y="673100"/>
                </a:lnTo>
                <a:lnTo>
                  <a:pt x="5996216" y="622300"/>
                </a:lnTo>
                <a:lnTo>
                  <a:pt x="6011799" y="584200"/>
                </a:lnTo>
                <a:lnTo>
                  <a:pt x="6027102" y="546100"/>
                </a:lnTo>
                <a:lnTo>
                  <a:pt x="6042101" y="495300"/>
                </a:lnTo>
                <a:lnTo>
                  <a:pt x="6056808" y="457200"/>
                </a:lnTo>
                <a:lnTo>
                  <a:pt x="6071209" y="406400"/>
                </a:lnTo>
                <a:lnTo>
                  <a:pt x="6085332" y="368300"/>
                </a:lnTo>
                <a:lnTo>
                  <a:pt x="6099149" y="317500"/>
                </a:lnTo>
                <a:lnTo>
                  <a:pt x="6112662" y="279400"/>
                </a:lnTo>
                <a:lnTo>
                  <a:pt x="6125883" y="228600"/>
                </a:lnTo>
                <a:lnTo>
                  <a:pt x="6138811" y="190500"/>
                </a:lnTo>
                <a:lnTo>
                  <a:pt x="6151448" y="139700"/>
                </a:lnTo>
                <a:lnTo>
                  <a:pt x="6163767" y="101600"/>
                </a:lnTo>
                <a:lnTo>
                  <a:pt x="6175807" y="50800"/>
                </a:lnTo>
                <a:lnTo>
                  <a:pt x="6187529" y="12700"/>
                </a:lnTo>
                <a:lnTo>
                  <a:pt x="6191097" y="0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1602" y="901064"/>
            <a:ext cx="631888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spc="-220" dirty="0"/>
              <a:t>Architecture</a:t>
            </a:r>
            <a:r>
              <a:rPr sz="4900" spc="-365" dirty="0"/>
              <a:t> </a:t>
            </a:r>
            <a:r>
              <a:rPr sz="4900" spc="-180" dirty="0"/>
              <a:t>Deep</a:t>
            </a:r>
            <a:r>
              <a:rPr sz="4900" spc="-365" dirty="0"/>
              <a:t> </a:t>
            </a:r>
            <a:r>
              <a:rPr sz="4900" spc="-65" dirty="0"/>
              <a:t>Dive</a:t>
            </a:r>
            <a:endParaRPr sz="4900"/>
          </a:p>
        </p:txBody>
      </p:sp>
      <p:grpSp>
        <p:nvGrpSpPr>
          <p:cNvPr id="4" name="object 4"/>
          <p:cNvGrpSpPr/>
          <p:nvPr/>
        </p:nvGrpSpPr>
        <p:grpSpPr>
          <a:xfrm>
            <a:off x="4799331" y="0"/>
            <a:ext cx="13488669" cy="10287000"/>
            <a:chOff x="4799331" y="0"/>
            <a:chExt cx="13488669" cy="10287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99331" y="0"/>
              <a:ext cx="13488668" cy="10286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99331" y="3499259"/>
              <a:ext cx="9124315" cy="982344"/>
            </a:xfrm>
            <a:custGeom>
              <a:avLst/>
              <a:gdLst/>
              <a:ahLst/>
              <a:cxnLst/>
              <a:rect l="l" t="t" r="r" b="b"/>
              <a:pathLst>
                <a:path w="9124315" h="982345">
                  <a:moveTo>
                    <a:pt x="8761916" y="981860"/>
                  </a:moveTo>
                  <a:lnTo>
                    <a:pt x="361950" y="981860"/>
                  </a:lnTo>
                  <a:lnTo>
                    <a:pt x="312835" y="978556"/>
                  </a:lnTo>
                  <a:lnTo>
                    <a:pt x="265729" y="968931"/>
                  </a:lnTo>
                  <a:lnTo>
                    <a:pt x="221062" y="953416"/>
                  </a:lnTo>
                  <a:lnTo>
                    <a:pt x="179266" y="932443"/>
                  </a:lnTo>
                  <a:lnTo>
                    <a:pt x="140773" y="906443"/>
                  </a:lnTo>
                  <a:lnTo>
                    <a:pt x="106012" y="875847"/>
                  </a:lnTo>
                  <a:lnTo>
                    <a:pt x="75416" y="841087"/>
                  </a:lnTo>
                  <a:lnTo>
                    <a:pt x="49416" y="802593"/>
                  </a:lnTo>
                  <a:lnTo>
                    <a:pt x="28443" y="760797"/>
                  </a:lnTo>
                  <a:lnTo>
                    <a:pt x="12929" y="716131"/>
                  </a:lnTo>
                  <a:lnTo>
                    <a:pt x="3304" y="669024"/>
                  </a:lnTo>
                  <a:lnTo>
                    <a:pt x="0" y="619910"/>
                  </a:lnTo>
                  <a:lnTo>
                    <a:pt x="0" y="361949"/>
                  </a:lnTo>
                  <a:lnTo>
                    <a:pt x="3304" y="312835"/>
                  </a:lnTo>
                  <a:lnTo>
                    <a:pt x="12929" y="265729"/>
                  </a:lnTo>
                  <a:lnTo>
                    <a:pt x="28443" y="221062"/>
                  </a:lnTo>
                  <a:lnTo>
                    <a:pt x="49416" y="179266"/>
                  </a:lnTo>
                  <a:lnTo>
                    <a:pt x="75416" y="140773"/>
                  </a:lnTo>
                  <a:lnTo>
                    <a:pt x="106012" y="106012"/>
                  </a:lnTo>
                  <a:lnTo>
                    <a:pt x="140773" y="75416"/>
                  </a:lnTo>
                  <a:lnTo>
                    <a:pt x="179266" y="49416"/>
                  </a:lnTo>
                  <a:lnTo>
                    <a:pt x="221062" y="28443"/>
                  </a:lnTo>
                  <a:lnTo>
                    <a:pt x="265729" y="12929"/>
                  </a:lnTo>
                  <a:lnTo>
                    <a:pt x="312835" y="3304"/>
                  </a:lnTo>
                  <a:lnTo>
                    <a:pt x="361950" y="0"/>
                  </a:lnTo>
                  <a:lnTo>
                    <a:pt x="8761916" y="0"/>
                  </a:lnTo>
                  <a:lnTo>
                    <a:pt x="8811031" y="3304"/>
                  </a:lnTo>
                  <a:lnTo>
                    <a:pt x="8858137" y="12929"/>
                  </a:lnTo>
                  <a:lnTo>
                    <a:pt x="8902804" y="28443"/>
                  </a:lnTo>
                  <a:lnTo>
                    <a:pt x="8944599" y="49416"/>
                  </a:lnTo>
                  <a:lnTo>
                    <a:pt x="8983093" y="75416"/>
                  </a:lnTo>
                  <a:lnTo>
                    <a:pt x="9017854" y="106012"/>
                  </a:lnTo>
                  <a:lnTo>
                    <a:pt x="9048449" y="140773"/>
                  </a:lnTo>
                  <a:lnTo>
                    <a:pt x="9074449" y="179266"/>
                  </a:lnTo>
                  <a:lnTo>
                    <a:pt x="9095422" y="221062"/>
                  </a:lnTo>
                  <a:lnTo>
                    <a:pt x="9110937" y="265729"/>
                  </a:lnTo>
                  <a:lnTo>
                    <a:pt x="9120562" y="312835"/>
                  </a:lnTo>
                  <a:lnTo>
                    <a:pt x="9123866" y="361949"/>
                  </a:lnTo>
                  <a:lnTo>
                    <a:pt x="9123866" y="619910"/>
                  </a:lnTo>
                  <a:lnTo>
                    <a:pt x="9120562" y="669024"/>
                  </a:lnTo>
                  <a:lnTo>
                    <a:pt x="9110937" y="716131"/>
                  </a:lnTo>
                  <a:lnTo>
                    <a:pt x="9095422" y="760797"/>
                  </a:lnTo>
                  <a:lnTo>
                    <a:pt x="9074449" y="802593"/>
                  </a:lnTo>
                  <a:lnTo>
                    <a:pt x="9048449" y="841087"/>
                  </a:lnTo>
                  <a:lnTo>
                    <a:pt x="9017854" y="875847"/>
                  </a:lnTo>
                  <a:lnTo>
                    <a:pt x="8983093" y="906443"/>
                  </a:lnTo>
                  <a:lnTo>
                    <a:pt x="8944599" y="932443"/>
                  </a:lnTo>
                  <a:lnTo>
                    <a:pt x="8902804" y="953416"/>
                  </a:lnTo>
                  <a:lnTo>
                    <a:pt x="8858137" y="968931"/>
                  </a:lnTo>
                  <a:lnTo>
                    <a:pt x="8811031" y="978556"/>
                  </a:lnTo>
                  <a:lnTo>
                    <a:pt x="8761916" y="981860"/>
                  </a:lnTo>
                  <a:close/>
                </a:path>
              </a:pathLst>
            </a:custGeom>
            <a:solidFill>
              <a:srgbClr val="2020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57995" y="2375194"/>
            <a:ext cx="7806690" cy="17818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97155" algn="ctr">
              <a:lnSpc>
                <a:spcPts val="3045"/>
              </a:lnSpc>
              <a:spcBef>
                <a:spcPts val="130"/>
              </a:spcBef>
            </a:pPr>
            <a:r>
              <a:rPr sz="2950" b="1" dirty="0">
                <a:latin typeface="Arial"/>
                <a:cs typeface="Arial"/>
              </a:rPr>
              <a:t>Deployment</a:t>
            </a:r>
            <a:r>
              <a:rPr sz="2950" b="1" spc="75" dirty="0">
                <a:latin typeface="Arial"/>
                <a:cs typeface="Arial"/>
              </a:rPr>
              <a:t> </a:t>
            </a:r>
            <a:r>
              <a:rPr sz="2950" b="1" spc="-10" dirty="0">
                <a:latin typeface="Arial"/>
                <a:cs typeface="Arial"/>
              </a:rPr>
              <a:t>Models:</a:t>
            </a:r>
            <a:endParaRPr sz="2950">
              <a:latin typeface="Arial"/>
              <a:cs typeface="Arial"/>
            </a:endParaRPr>
          </a:p>
          <a:p>
            <a:pPr algn="ctr">
              <a:lnSpc>
                <a:spcPts val="3045"/>
              </a:lnSpc>
            </a:pPr>
            <a:r>
              <a:rPr sz="2950" b="1" dirty="0">
                <a:latin typeface="Arial"/>
                <a:cs typeface="Arial"/>
              </a:rPr>
              <a:t>On-premises,</a:t>
            </a:r>
            <a:r>
              <a:rPr sz="2950" b="1" spc="50" dirty="0">
                <a:latin typeface="Arial"/>
                <a:cs typeface="Arial"/>
              </a:rPr>
              <a:t> </a:t>
            </a:r>
            <a:r>
              <a:rPr sz="2950" b="1" dirty="0">
                <a:latin typeface="Arial"/>
                <a:cs typeface="Arial"/>
              </a:rPr>
              <a:t>public/private</a:t>
            </a:r>
            <a:r>
              <a:rPr sz="2950" b="1" spc="60" dirty="0">
                <a:latin typeface="Arial"/>
                <a:cs typeface="Arial"/>
              </a:rPr>
              <a:t> </a:t>
            </a:r>
            <a:r>
              <a:rPr sz="2950" b="1" dirty="0">
                <a:latin typeface="Arial"/>
                <a:cs typeface="Arial"/>
              </a:rPr>
              <a:t>cloud,</a:t>
            </a:r>
            <a:r>
              <a:rPr sz="2950" b="1" spc="60" dirty="0">
                <a:latin typeface="Arial"/>
                <a:cs typeface="Arial"/>
              </a:rPr>
              <a:t> </a:t>
            </a:r>
            <a:r>
              <a:rPr sz="2950" b="1" spc="-10" dirty="0">
                <a:latin typeface="Arial"/>
                <a:cs typeface="Arial"/>
              </a:rPr>
              <a:t>hybrid.</a:t>
            </a:r>
            <a:endParaRPr sz="2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2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850" b="1" dirty="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sz="28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50" b="1" dirty="0">
                <a:solidFill>
                  <a:srgbClr val="FFFFFF"/>
                </a:solidFill>
                <a:latin typeface="Arial"/>
                <a:cs typeface="Arial"/>
              </a:rPr>
              <a:t>requests</a:t>
            </a:r>
            <a:r>
              <a:rPr sz="285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50" b="1" dirty="0">
                <a:solidFill>
                  <a:srgbClr val="FFFFFF"/>
                </a:solidFill>
                <a:latin typeface="Arial"/>
                <a:cs typeface="Arial"/>
              </a:rPr>
              <a:t>access</a:t>
            </a:r>
            <a:r>
              <a:rPr sz="285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b="1" spc="1525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1350" b="1" spc="4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50" b="1" dirty="0">
                <a:solidFill>
                  <a:srgbClr val="FFFFFF"/>
                </a:solidFill>
                <a:latin typeface="Arial"/>
                <a:cs typeface="Arial"/>
              </a:rPr>
              <a:t>Gateway</a:t>
            </a:r>
            <a:r>
              <a:rPr sz="285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50" b="1" spc="-10" dirty="0">
                <a:solidFill>
                  <a:srgbClr val="FFFFFF"/>
                </a:solidFill>
                <a:latin typeface="Arial"/>
                <a:cs typeface="Arial"/>
              </a:rPr>
              <a:t>intercepts.</a:t>
            </a:r>
            <a:endParaRPr sz="28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28700" y="4651295"/>
            <a:ext cx="13987780" cy="4607560"/>
            <a:chOff x="1028700" y="4651295"/>
            <a:chExt cx="13987780" cy="4607560"/>
          </a:xfrm>
        </p:grpSpPr>
        <p:sp>
          <p:nvSpPr>
            <p:cNvPr id="9" name="object 9"/>
            <p:cNvSpPr/>
            <p:nvPr/>
          </p:nvSpPr>
          <p:spPr>
            <a:xfrm>
              <a:off x="4799330" y="4651298"/>
              <a:ext cx="9124315" cy="3288665"/>
            </a:xfrm>
            <a:custGeom>
              <a:avLst/>
              <a:gdLst/>
              <a:ahLst/>
              <a:cxnLst/>
              <a:rect l="l" t="t" r="r" b="b"/>
              <a:pathLst>
                <a:path w="9124315" h="3288665">
                  <a:moveTo>
                    <a:pt x="9123858" y="2668574"/>
                  </a:moveTo>
                  <a:lnTo>
                    <a:pt x="9120556" y="2619464"/>
                  </a:lnTo>
                  <a:lnTo>
                    <a:pt x="9110929" y="2572359"/>
                  </a:lnTo>
                  <a:lnTo>
                    <a:pt x="9095422" y="2527693"/>
                  </a:lnTo>
                  <a:lnTo>
                    <a:pt x="9074442" y="2485898"/>
                  </a:lnTo>
                  <a:lnTo>
                    <a:pt x="9048445" y="2447404"/>
                  </a:lnTo>
                  <a:lnTo>
                    <a:pt x="9017851" y="2412631"/>
                  </a:lnTo>
                  <a:lnTo>
                    <a:pt x="8983091" y="2382037"/>
                  </a:lnTo>
                  <a:lnTo>
                    <a:pt x="8944597" y="2356040"/>
                  </a:lnTo>
                  <a:lnTo>
                    <a:pt x="8902802" y="2335072"/>
                  </a:lnTo>
                  <a:lnTo>
                    <a:pt x="8858136" y="2319553"/>
                  </a:lnTo>
                  <a:lnTo>
                    <a:pt x="8811031" y="2309926"/>
                  </a:lnTo>
                  <a:lnTo>
                    <a:pt x="8761908" y="2306624"/>
                  </a:lnTo>
                  <a:lnTo>
                    <a:pt x="361950" y="2306624"/>
                  </a:lnTo>
                  <a:lnTo>
                    <a:pt x="312826" y="2309926"/>
                  </a:lnTo>
                  <a:lnTo>
                    <a:pt x="265722" y="2319553"/>
                  </a:lnTo>
                  <a:lnTo>
                    <a:pt x="221056" y="2335072"/>
                  </a:lnTo>
                  <a:lnTo>
                    <a:pt x="179260" y="2356040"/>
                  </a:lnTo>
                  <a:lnTo>
                    <a:pt x="140766" y="2382037"/>
                  </a:lnTo>
                  <a:lnTo>
                    <a:pt x="106006" y="2412631"/>
                  </a:lnTo>
                  <a:lnTo>
                    <a:pt x="75412" y="2447404"/>
                  </a:lnTo>
                  <a:lnTo>
                    <a:pt x="49415" y="2485898"/>
                  </a:lnTo>
                  <a:lnTo>
                    <a:pt x="28435" y="2527693"/>
                  </a:lnTo>
                  <a:lnTo>
                    <a:pt x="12928" y="2572359"/>
                  </a:lnTo>
                  <a:lnTo>
                    <a:pt x="3302" y="2619464"/>
                  </a:lnTo>
                  <a:lnTo>
                    <a:pt x="0" y="2668574"/>
                  </a:lnTo>
                  <a:lnTo>
                    <a:pt x="0" y="2926537"/>
                  </a:lnTo>
                  <a:lnTo>
                    <a:pt x="3302" y="2975648"/>
                  </a:lnTo>
                  <a:lnTo>
                    <a:pt x="12928" y="3022752"/>
                  </a:lnTo>
                  <a:lnTo>
                    <a:pt x="28435" y="3067418"/>
                  </a:lnTo>
                  <a:lnTo>
                    <a:pt x="49415" y="3109214"/>
                  </a:lnTo>
                  <a:lnTo>
                    <a:pt x="75412" y="3147707"/>
                  </a:lnTo>
                  <a:lnTo>
                    <a:pt x="106006" y="3182467"/>
                  </a:lnTo>
                  <a:lnTo>
                    <a:pt x="140766" y="3213062"/>
                  </a:lnTo>
                  <a:lnTo>
                    <a:pt x="179260" y="3239071"/>
                  </a:lnTo>
                  <a:lnTo>
                    <a:pt x="221056" y="3260039"/>
                  </a:lnTo>
                  <a:lnTo>
                    <a:pt x="265722" y="3275558"/>
                  </a:lnTo>
                  <a:lnTo>
                    <a:pt x="312826" y="3285185"/>
                  </a:lnTo>
                  <a:lnTo>
                    <a:pt x="361950" y="3288487"/>
                  </a:lnTo>
                  <a:lnTo>
                    <a:pt x="8761908" y="3288487"/>
                  </a:lnTo>
                  <a:lnTo>
                    <a:pt x="8811031" y="3285185"/>
                  </a:lnTo>
                  <a:lnTo>
                    <a:pt x="8858136" y="3275558"/>
                  </a:lnTo>
                  <a:lnTo>
                    <a:pt x="8902802" y="3260039"/>
                  </a:lnTo>
                  <a:lnTo>
                    <a:pt x="8944597" y="3239071"/>
                  </a:lnTo>
                  <a:lnTo>
                    <a:pt x="8983091" y="3213062"/>
                  </a:lnTo>
                  <a:lnTo>
                    <a:pt x="9017851" y="3182467"/>
                  </a:lnTo>
                  <a:lnTo>
                    <a:pt x="9048445" y="3147707"/>
                  </a:lnTo>
                  <a:lnTo>
                    <a:pt x="9074442" y="3109214"/>
                  </a:lnTo>
                  <a:lnTo>
                    <a:pt x="9095422" y="3067418"/>
                  </a:lnTo>
                  <a:lnTo>
                    <a:pt x="9110929" y="3022752"/>
                  </a:lnTo>
                  <a:lnTo>
                    <a:pt x="9120556" y="2975648"/>
                  </a:lnTo>
                  <a:lnTo>
                    <a:pt x="9123858" y="2926537"/>
                  </a:lnTo>
                  <a:lnTo>
                    <a:pt x="9123858" y="2668574"/>
                  </a:lnTo>
                  <a:close/>
                </a:path>
                <a:path w="9124315" h="3288665">
                  <a:moveTo>
                    <a:pt x="9123858" y="1515262"/>
                  </a:moveTo>
                  <a:lnTo>
                    <a:pt x="9120556" y="1466151"/>
                  </a:lnTo>
                  <a:lnTo>
                    <a:pt x="9110929" y="1419047"/>
                  </a:lnTo>
                  <a:lnTo>
                    <a:pt x="9095422" y="1374381"/>
                  </a:lnTo>
                  <a:lnTo>
                    <a:pt x="9074442" y="1332585"/>
                  </a:lnTo>
                  <a:lnTo>
                    <a:pt x="9048445" y="1294091"/>
                  </a:lnTo>
                  <a:lnTo>
                    <a:pt x="9017851" y="1259332"/>
                  </a:lnTo>
                  <a:lnTo>
                    <a:pt x="8983091" y="1228737"/>
                  </a:lnTo>
                  <a:lnTo>
                    <a:pt x="8944597" y="1202728"/>
                  </a:lnTo>
                  <a:lnTo>
                    <a:pt x="8902802" y="1181760"/>
                  </a:lnTo>
                  <a:lnTo>
                    <a:pt x="8858136" y="1166241"/>
                  </a:lnTo>
                  <a:lnTo>
                    <a:pt x="8811031" y="1156614"/>
                  </a:lnTo>
                  <a:lnTo>
                    <a:pt x="8761908" y="1153312"/>
                  </a:lnTo>
                  <a:lnTo>
                    <a:pt x="361950" y="1153312"/>
                  </a:lnTo>
                  <a:lnTo>
                    <a:pt x="312826" y="1156614"/>
                  </a:lnTo>
                  <a:lnTo>
                    <a:pt x="265722" y="1166241"/>
                  </a:lnTo>
                  <a:lnTo>
                    <a:pt x="221056" y="1181760"/>
                  </a:lnTo>
                  <a:lnTo>
                    <a:pt x="179260" y="1202728"/>
                  </a:lnTo>
                  <a:lnTo>
                    <a:pt x="140766" y="1228737"/>
                  </a:lnTo>
                  <a:lnTo>
                    <a:pt x="106006" y="1259332"/>
                  </a:lnTo>
                  <a:lnTo>
                    <a:pt x="75412" y="1294091"/>
                  </a:lnTo>
                  <a:lnTo>
                    <a:pt x="49415" y="1332585"/>
                  </a:lnTo>
                  <a:lnTo>
                    <a:pt x="28435" y="1374381"/>
                  </a:lnTo>
                  <a:lnTo>
                    <a:pt x="12928" y="1419047"/>
                  </a:lnTo>
                  <a:lnTo>
                    <a:pt x="3302" y="1466151"/>
                  </a:lnTo>
                  <a:lnTo>
                    <a:pt x="0" y="1515262"/>
                  </a:lnTo>
                  <a:lnTo>
                    <a:pt x="0" y="1773224"/>
                  </a:lnTo>
                  <a:lnTo>
                    <a:pt x="3302" y="1822335"/>
                  </a:lnTo>
                  <a:lnTo>
                    <a:pt x="12928" y="1869440"/>
                  </a:lnTo>
                  <a:lnTo>
                    <a:pt x="28435" y="1914118"/>
                  </a:lnTo>
                  <a:lnTo>
                    <a:pt x="49415" y="1955914"/>
                  </a:lnTo>
                  <a:lnTo>
                    <a:pt x="75412" y="1994408"/>
                  </a:lnTo>
                  <a:lnTo>
                    <a:pt x="106006" y="2029167"/>
                  </a:lnTo>
                  <a:lnTo>
                    <a:pt x="140766" y="2059762"/>
                  </a:lnTo>
                  <a:lnTo>
                    <a:pt x="179260" y="2085759"/>
                  </a:lnTo>
                  <a:lnTo>
                    <a:pt x="221056" y="2106726"/>
                  </a:lnTo>
                  <a:lnTo>
                    <a:pt x="265722" y="2122246"/>
                  </a:lnTo>
                  <a:lnTo>
                    <a:pt x="312826" y="2131872"/>
                  </a:lnTo>
                  <a:lnTo>
                    <a:pt x="361950" y="2135174"/>
                  </a:lnTo>
                  <a:lnTo>
                    <a:pt x="8761908" y="2135174"/>
                  </a:lnTo>
                  <a:lnTo>
                    <a:pt x="8811031" y="2131872"/>
                  </a:lnTo>
                  <a:lnTo>
                    <a:pt x="8858136" y="2122246"/>
                  </a:lnTo>
                  <a:lnTo>
                    <a:pt x="8902802" y="2106726"/>
                  </a:lnTo>
                  <a:lnTo>
                    <a:pt x="8944597" y="2085759"/>
                  </a:lnTo>
                  <a:lnTo>
                    <a:pt x="8983091" y="2059762"/>
                  </a:lnTo>
                  <a:lnTo>
                    <a:pt x="9017851" y="2029167"/>
                  </a:lnTo>
                  <a:lnTo>
                    <a:pt x="9048445" y="1994408"/>
                  </a:lnTo>
                  <a:lnTo>
                    <a:pt x="9074442" y="1955914"/>
                  </a:lnTo>
                  <a:lnTo>
                    <a:pt x="9095422" y="1914118"/>
                  </a:lnTo>
                  <a:lnTo>
                    <a:pt x="9110929" y="1869440"/>
                  </a:lnTo>
                  <a:lnTo>
                    <a:pt x="9120556" y="1822335"/>
                  </a:lnTo>
                  <a:lnTo>
                    <a:pt x="9123858" y="1773224"/>
                  </a:lnTo>
                  <a:lnTo>
                    <a:pt x="9123858" y="1515262"/>
                  </a:lnTo>
                  <a:close/>
                </a:path>
                <a:path w="9124315" h="3288665">
                  <a:moveTo>
                    <a:pt x="9123858" y="361950"/>
                  </a:moveTo>
                  <a:lnTo>
                    <a:pt x="9120556" y="312839"/>
                  </a:lnTo>
                  <a:lnTo>
                    <a:pt x="9110929" y="265734"/>
                  </a:lnTo>
                  <a:lnTo>
                    <a:pt x="9095422" y="221068"/>
                  </a:lnTo>
                  <a:lnTo>
                    <a:pt x="9074442" y="179273"/>
                  </a:lnTo>
                  <a:lnTo>
                    <a:pt x="9048445" y="140779"/>
                  </a:lnTo>
                  <a:lnTo>
                    <a:pt x="9017851" y="106019"/>
                  </a:lnTo>
                  <a:lnTo>
                    <a:pt x="8983091" y="75425"/>
                  </a:lnTo>
                  <a:lnTo>
                    <a:pt x="8944597" y="49415"/>
                  </a:lnTo>
                  <a:lnTo>
                    <a:pt x="8902802" y="28448"/>
                  </a:lnTo>
                  <a:lnTo>
                    <a:pt x="8858136" y="12928"/>
                  </a:lnTo>
                  <a:lnTo>
                    <a:pt x="8811031" y="3302"/>
                  </a:lnTo>
                  <a:lnTo>
                    <a:pt x="8761908" y="0"/>
                  </a:lnTo>
                  <a:lnTo>
                    <a:pt x="361950" y="0"/>
                  </a:lnTo>
                  <a:lnTo>
                    <a:pt x="312826" y="3302"/>
                  </a:lnTo>
                  <a:lnTo>
                    <a:pt x="265722" y="12928"/>
                  </a:lnTo>
                  <a:lnTo>
                    <a:pt x="221056" y="28448"/>
                  </a:lnTo>
                  <a:lnTo>
                    <a:pt x="179260" y="49415"/>
                  </a:lnTo>
                  <a:lnTo>
                    <a:pt x="140766" y="75425"/>
                  </a:lnTo>
                  <a:lnTo>
                    <a:pt x="106006" y="106019"/>
                  </a:lnTo>
                  <a:lnTo>
                    <a:pt x="75412" y="140779"/>
                  </a:lnTo>
                  <a:lnTo>
                    <a:pt x="49415" y="179273"/>
                  </a:lnTo>
                  <a:lnTo>
                    <a:pt x="28435" y="221068"/>
                  </a:lnTo>
                  <a:lnTo>
                    <a:pt x="12928" y="265734"/>
                  </a:lnTo>
                  <a:lnTo>
                    <a:pt x="3302" y="312839"/>
                  </a:lnTo>
                  <a:lnTo>
                    <a:pt x="0" y="361950"/>
                  </a:lnTo>
                  <a:lnTo>
                    <a:pt x="0" y="619912"/>
                  </a:lnTo>
                  <a:lnTo>
                    <a:pt x="3302" y="669023"/>
                  </a:lnTo>
                  <a:lnTo>
                    <a:pt x="12928" y="716140"/>
                  </a:lnTo>
                  <a:lnTo>
                    <a:pt x="28435" y="760806"/>
                  </a:lnTo>
                  <a:lnTo>
                    <a:pt x="49415" y="802601"/>
                  </a:lnTo>
                  <a:lnTo>
                    <a:pt x="75412" y="841095"/>
                  </a:lnTo>
                  <a:lnTo>
                    <a:pt x="106006" y="875855"/>
                  </a:lnTo>
                  <a:lnTo>
                    <a:pt x="140766" y="906449"/>
                  </a:lnTo>
                  <a:lnTo>
                    <a:pt x="179260" y="932446"/>
                  </a:lnTo>
                  <a:lnTo>
                    <a:pt x="221056" y="953414"/>
                  </a:lnTo>
                  <a:lnTo>
                    <a:pt x="265722" y="968933"/>
                  </a:lnTo>
                  <a:lnTo>
                    <a:pt x="312826" y="978560"/>
                  </a:lnTo>
                  <a:lnTo>
                    <a:pt x="361950" y="981862"/>
                  </a:lnTo>
                  <a:lnTo>
                    <a:pt x="8761908" y="981862"/>
                  </a:lnTo>
                  <a:lnTo>
                    <a:pt x="8811031" y="978560"/>
                  </a:lnTo>
                  <a:lnTo>
                    <a:pt x="8858136" y="968933"/>
                  </a:lnTo>
                  <a:lnTo>
                    <a:pt x="8902802" y="953414"/>
                  </a:lnTo>
                  <a:lnTo>
                    <a:pt x="8944597" y="932446"/>
                  </a:lnTo>
                  <a:lnTo>
                    <a:pt x="8983091" y="906449"/>
                  </a:lnTo>
                  <a:lnTo>
                    <a:pt x="9017851" y="875855"/>
                  </a:lnTo>
                  <a:lnTo>
                    <a:pt x="9048445" y="841095"/>
                  </a:lnTo>
                  <a:lnTo>
                    <a:pt x="9074442" y="802601"/>
                  </a:lnTo>
                  <a:lnTo>
                    <a:pt x="9095422" y="760806"/>
                  </a:lnTo>
                  <a:lnTo>
                    <a:pt x="9110929" y="716140"/>
                  </a:lnTo>
                  <a:lnTo>
                    <a:pt x="9120556" y="669023"/>
                  </a:lnTo>
                  <a:lnTo>
                    <a:pt x="9123858" y="619912"/>
                  </a:lnTo>
                  <a:lnTo>
                    <a:pt x="9123858" y="361950"/>
                  </a:lnTo>
                  <a:close/>
                </a:path>
              </a:pathLst>
            </a:custGeom>
            <a:solidFill>
              <a:srgbClr val="2020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00" y="8276439"/>
              <a:ext cx="13987158" cy="98186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054100" y="4876149"/>
            <a:ext cx="12815570" cy="4069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798570" algn="ctr">
              <a:lnSpc>
                <a:spcPct val="100000"/>
              </a:lnSpc>
              <a:spcBef>
                <a:spcPts val="130"/>
              </a:spcBef>
            </a:pPr>
            <a:r>
              <a:rPr sz="2450" b="1" dirty="0">
                <a:solidFill>
                  <a:srgbClr val="FFFFFF"/>
                </a:solidFill>
                <a:latin typeface="Arial"/>
                <a:cs typeface="Arial"/>
              </a:rPr>
              <a:t>Authenticator</a:t>
            </a:r>
            <a:r>
              <a:rPr sz="245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FFFFFF"/>
                </a:solidFill>
                <a:latin typeface="Arial"/>
                <a:cs typeface="Arial"/>
              </a:rPr>
              <a:t>verifies</a:t>
            </a:r>
            <a:r>
              <a:rPr sz="245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FFFFFF"/>
                </a:solidFill>
                <a:latin typeface="Arial"/>
                <a:cs typeface="Arial"/>
              </a:rPr>
              <a:t>identity</a:t>
            </a:r>
            <a:r>
              <a:rPr sz="245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132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1150" b="1" spc="4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FFFFFF"/>
                </a:solidFill>
                <a:latin typeface="Arial"/>
                <a:cs typeface="Arial"/>
              </a:rPr>
              <a:t>Controller</a:t>
            </a:r>
            <a:r>
              <a:rPr sz="245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FFFFFF"/>
                </a:solidFill>
                <a:latin typeface="Arial"/>
                <a:cs typeface="Arial"/>
              </a:rPr>
              <a:t>queries</a:t>
            </a:r>
            <a:r>
              <a:rPr sz="245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50" b="1" spc="-10" dirty="0">
                <a:solidFill>
                  <a:srgbClr val="FFFFFF"/>
                </a:solidFill>
                <a:latin typeface="Arial"/>
                <a:cs typeface="Arial"/>
              </a:rPr>
              <a:t>policies.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2450">
              <a:latin typeface="Arial"/>
              <a:cs typeface="Arial"/>
            </a:endParaRPr>
          </a:p>
          <a:p>
            <a:pPr marL="3798570" algn="ctr">
              <a:lnSpc>
                <a:spcPct val="100000"/>
              </a:lnSpc>
            </a:pPr>
            <a:r>
              <a:rPr sz="2950" b="1" dirty="0">
                <a:solidFill>
                  <a:srgbClr val="FFFFFF"/>
                </a:solidFill>
                <a:latin typeface="Arial"/>
                <a:cs typeface="Arial"/>
              </a:rPr>
              <a:t>Access</a:t>
            </a:r>
            <a:r>
              <a:rPr sz="295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FFFFFF"/>
                </a:solidFill>
                <a:latin typeface="Arial"/>
                <a:cs typeface="Arial"/>
              </a:rPr>
              <a:t>granted</a:t>
            </a:r>
            <a:r>
              <a:rPr sz="2950" b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1565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1400" b="1" spc="4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FFFFFF"/>
                </a:solidFill>
                <a:latin typeface="Arial"/>
                <a:cs typeface="Arial"/>
              </a:rPr>
              <a:t>Encrypted</a:t>
            </a:r>
            <a:r>
              <a:rPr sz="295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FFFFFF"/>
                </a:solidFill>
                <a:latin typeface="Arial"/>
                <a:cs typeface="Arial"/>
              </a:rPr>
              <a:t>tunnel</a:t>
            </a:r>
            <a:r>
              <a:rPr sz="2950" b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95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FFFFFF"/>
                </a:solidFill>
                <a:latin typeface="Arial"/>
                <a:cs typeface="Arial"/>
              </a:rPr>
              <a:t>resource.</a:t>
            </a:r>
            <a:endParaRPr sz="2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0"/>
              </a:spcBef>
            </a:pPr>
            <a:endParaRPr sz="2950">
              <a:latin typeface="Arial"/>
              <a:cs typeface="Arial"/>
            </a:endParaRPr>
          </a:p>
          <a:p>
            <a:pPr marL="3798570" algn="ctr">
              <a:lnSpc>
                <a:spcPct val="100000"/>
              </a:lnSpc>
            </a:pPr>
            <a:r>
              <a:rPr sz="2950" b="1" dirty="0">
                <a:solidFill>
                  <a:srgbClr val="FFFFFF"/>
                </a:solidFill>
                <a:latin typeface="Arial"/>
                <a:cs typeface="Arial"/>
              </a:rPr>
              <a:t>Session</a:t>
            </a:r>
            <a:r>
              <a:rPr sz="295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FFFFFF"/>
                </a:solidFill>
                <a:latin typeface="Arial"/>
                <a:cs typeface="Arial"/>
              </a:rPr>
              <a:t>ends</a:t>
            </a:r>
            <a:r>
              <a:rPr sz="295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1565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1400" b="1" spc="48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FFFFFF"/>
                </a:solidFill>
                <a:latin typeface="Arial"/>
                <a:cs typeface="Arial"/>
              </a:rPr>
              <a:t>Resource</a:t>
            </a:r>
            <a:r>
              <a:rPr sz="295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FFFFFF"/>
                </a:solidFill>
                <a:latin typeface="Arial"/>
                <a:cs typeface="Arial"/>
              </a:rPr>
              <a:t>re-</a:t>
            </a:r>
            <a:r>
              <a:rPr sz="2950" b="1" spc="-10" dirty="0">
                <a:solidFill>
                  <a:srgbClr val="FFFFFF"/>
                </a:solidFill>
                <a:latin typeface="Arial"/>
                <a:cs typeface="Arial"/>
              </a:rPr>
              <a:t>hidden.</a:t>
            </a:r>
            <a:endParaRPr sz="29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950" b="1" dirty="0">
                <a:solidFill>
                  <a:srgbClr val="FFFFFF"/>
                </a:solidFill>
                <a:latin typeface="Arial"/>
                <a:cs typeface="Arial"/>
              </a:rPr>
              <a:t>Scalability:</a:t>
            </a:r>
            <a:r>
              <a:rPr sz="295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FFFFFF"/>
                </a:solidFill>
                <a:latin typeface="Arial"/>
                <a:cs typeface="Arial"/>
              </a:rPr>
              <a:t>Handles</a:t>
            </a:r>
            <a:r>
              <a:rPr sz="295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FFFFFF"/>
                </a:solidFill>
                <a:latin typeface="Arial"/>
                <a:cs typeface="Arial"/>
              </a:rPr>
              <a:t>large-scale</a:t>
            </a:r>
            <a:r>
              <a:rPr sz="29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FFFFFF"/>
                </a:solidFill>
                <a:latin typeface="Arial"/>
                <a:cs typeface="Arial"/>
              </a:rPr>
              <a:t>DDoS</a:t>
            </a:r>
            <a:r>
              <a:rPr sz="295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FFFFFF"/>
                </a:solidFill>
                <a:latin typeface="Arial"/>
                <a:cs typeface="Arial"/>
              </a:rPr>
              <a:t>via</a:t>
            </a:r>
            <a:r>
              <a:rPr sz="295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FFFFFF"/>
                </a:solidFill>
                <a:latin typeface="Arial"/>
                <a:cs typeface="Arial"/>
              </a:rPr>
              <a:t>open-source</a:t>
            </a:r>
            <a:r>
              <a:rPr sz="295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50" b="1" spc="-10" dirty="0">
                <a:solidFill>
                  <a:srgbClr val="FFFFFF"/>
                </a:solidFill>
                <a:latin typeface="Arial"/>
                <a:cs typeface="Arial"/>
              </a:rPr>
              <a:t>adaptations.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"/>
            <a:ext cx="6191250" cy="4254500"/>
          </a:xfrm>
          <a:custGeom>
            <a:avLst/>
            <a:gdLst/>
            <a:ahLst/>
            <a:cxnLst/>
            <a:rect l="l" t="t" r="r" b="b"/>
            <a:pathLst>
              <a:path w="6191250" h="4254500">
                <a:moveTo>
                  <a:pt x="3556050" y="0"/>
                </a:moveTo>
                <a:lnTo>
                  <a:pt x="0" y="0"/>
                </a:lnTo>
                <a:lnTo>
                  <a:pt x="0" y="1729917"/>
                </a:lnTo>
                <a:lnTo>
                  <a:pt x="50723" y="1739404"/>
                </a:lnTo>
                <a:lnTo>
                  <a:pt x="98005" y="1747481"/>
                </a:lnTo>
                <a:lnTo>
                  <a:pt x="145529" y="1754873"/>
                </a:lnTo>
                <a:lnTo>
                  <a:pt x="193255" y="1761604"/>
                </a:lnTo>
                <a:lnTo>
                  <a:pt x="241223" y="1767636"/>
                </a:lnTo>
                <a:lnTo>
                  <a:pt x="289382" y="1772983"/>
                </a:lnTo>
                <a:lnTo>
                  <a:pt x="337756" y="1777631"/>
                </a:lnTo>
                <a:lnTo>
                  <a:pt x="386334" y="1781581"/>
                </a:lnTo>
                <a:lnTo>
                  <a:pt x="435114" y="1784819"/>
                </a:lnTo>
                <a:lnTo>
                  <a:pt x="481647" y="1787220"/>
                </a:lnTo>
                <a:lnTo>
                  <a:pt x="480669" y="1787220"/>
                </a:lnTo>
                <a:lnTo>
                  <a:pt x="531710" y="1789099"/>
                </a:lnTo>
                <a:lnTo>
                  <a:pt x="530694" y="1789099"/>
                </a:lnTo>
                <a:lnTo>
                  <a:pt x="581926" y="1790242"/>
                </a:lnTo>
                <a:lnTo>
                  <a:pt x="580656" y="1790242"/>
                </a:lnTo>
                <a:lnTo>
                  <a:pt x="632066" y="1790611"/>
                </a:lnTo>
                <a:lnTo>
                  <a:pt x="706755" y="1790242"/>
                </a:lnTo>
                <a:lnTo>
                  <a:pt x="779716" y="1789099"/>
                </a:lnTo>
                <a:lnTo>
                  <a:pt x="850976" y="1787220"/>
                </a:lnTo>
                <a:lnTo>
                  <a:pt x="920559" y="1784591"/>
                </a:lnTo>
                <a:lnTo>
                  <a:pt x="988517" y="1781225"/>
                </a:lnTo>
                <a:lnTo>
                  <a:pt x="1054862" y="1777136"/>
                </a:lnTo>
                <a:lnTo>
                  <a:pt x="1119632" y="1772310"/>
                </a:lnTo>
                <a:lnTo>
                  <a:pt x="1182852" y="1766760"/>
                </a:lnTo>
                <a:lnTo>
                  <a:pt x="1244574" y="1760486"/>
                </a:lnTo>
                <a:lnTo>
                  <a:pt x="1304823" y="1753514"/>
                </a:lnTo>
                <a:lnTo>
                  <a:pt x="1363624" y="1745830"/>
                </a:lnTo>
                <a:lnTo>
                  <a:pt x="1421015" y="1737448"/>
                </a:lnTo>
                <a:lnTo>
                  <a:pt x="1477035" y="1728368"/>
                </a:lnTo>
                <a:lnTo>
                  <a:pt x="1531696" y="1718602"/>
                </a:lnTo>
                <a:lnTo>
                  <a:pt x="1585048" y="1708137"/>
                </a:lnTo>
                <a:lnTo>
                  <a:pt x="1637118" y="1697012"/>
                </a:lnTo>
                <a:lnTo>
                  <a:pt x="1687944" y="1685201"/>
                </a:lnTo>
                <a:lnTo>
                  <a:pt x="1737550" y="1672717"/>
                </a:lnTo>
                <a:lnTo>
                  <a:pt x="1785975" y="1659585"/>
                </a:lnTo>
                <a:lnTo>
                  <a:pt x="1833245" y="1645780"/>
                </a:lnTo>
                <a:lnTo>
                  <a:pt x="1879384" y="1631327"/>
                </a:lnTo>
                <a:lnTo>
                  <a:pt x="1924456" y="1616227"/>
                </a:lnTo>
                <a:lnTo>
                  <a:pt x="1968461" y="1600492"/>
                </a:lnTo>
                <a:lnTo>
                  <a:pt x="2011451" y="1584109"/>
                </a:lnTo>
                <a:lnTo>
                  <a:pt x="2053437" y="1567103"/>
                </a:lnTo>
                <a:lnTo>
                  <a:pt x="2094484" y="1549463"/>
                </a:lnTo>
                <a:lnTo>
                  <a:pt x="2134590" y="1531200"/>
                </a:lnTo>
                <a:lnTo>
                  <a:pt x="2173808" y="1512328"/>
                </a:lnTo>
                <a:lnTo>
                  <a:pt x="2212175" y="1492846"/>
                </a:lnTo>
                <a:lnTo>
                  <a:pt x="2249703" y="1472768"/>
                </a:lnTo>
                <a:lnTo>
                  <a:pt x="2286431" y="1452079"/>
                </a:lnTo>
                <a:lnTo>
                  <a:pt x="2322411" y="1430794"/>
                </a:lnTo>
                <a:lnTo>
                  <a:pt x="2357653" y="1408925"/>
                </a:lnTo>
                <a:lnTo>
                  <a:pt x="2392197" y="1386484"/>
                </a:lnTo>
                <a:lnTo>
                  <a:pt x="2426068" y="1363446"/>
                </a:lnTo>
                <a:lnTo>
                  <a:pt x="2459317" y="1339850"/>
                </a:lnTo>
                <a:lnTo>
                  <a:pt x="2491956" y="1315681"/>
                </a:lnTo>
                <a:lnTo>
                  <a:pt x="2524023" y="1290942"/>
                </a:lnTo>
                <a:lnTo>
                  <a:pt x="2555570" y="1265656"/>
                </a:lnTo>
                <a:lnTo>
                  <a:pt x="2586596" y="1239824"/>
                </a:lnTo>
                <a:lnTo>
                  <a:pt x="2617152" y="1213434"/>
                </a:lnTo>
                <a:lnTo>
                  <a:pt x="2647277" y="1186510"/>
                </a:lnTo>
                <a:lnTo>
                  <a:pt x="2676995" y="1159052"/>
                </a:lnTo>
                <a:lnTo>
                  <a:pt x="2706332" y="1131062"/>
                </a:lnTo>
                <a:lnTo>
                  <a:pt x="2735326" y="1102550"/>
                </a:lnTo>
                <a:lnTo>
                  <a:pt x="2764015" y="1073518"/>
                </a:lnTo>
                <a:lnTo>
                  <a:pt x="2792425" y="1043965"/>
                </a:lnTo>
                <a:lnTo>
                  <a:pt x="2820593" y="1013917"/>
                </a:lnTo>
                <a:lnTo>
                  <a:pt x="2848546" y="983361"/>
                </a:lnTo>
                <a:lnTo>
                  <a:pt x="2876321" y="952309"/>
                </a:lnTo>
                <a:lnTo>
                  <a:pt x="2903944" y="920750"/>
                </a:lnTo>
                <a:lnTo>
                  <a:pt x="2931452" y="888720"/>
                </a:lnTo>
                <a:lnTo>
                  <a:pt x="2958884" y="856208"/>
                </a:lnTo>
                <a:lnTo>
                  <a:pt x="2986252" y="823214"/>
                </a:lnTo>
                <a:lnTo>
                  <a:pt x="3013608" y="789749"/>
                </a:lnTo>
                <a:lnTo>
                  <a:pt x="3040977" y="755827"/>
                </a:lnTo>
                <a:lnTo>
                  <a:pt x="3068396" y="721436"/>
                </a:lnTo>
                <a:lnTo>
                  <a:pt x="3095891" y="686587"/>
                </a:lnTo>
                <a:lnTo>
                  <a:pt x="3151251" y="615569"/>
                </a:lnTo>
                <a:lnTo>
                  <a:pt x="3235693" y="505739"/>
                </a:lnTo>
                <a:lnTo>
                  <a:pt x="3265157" y="466902"/>
                </a:lnTo>
                <a:lnTo>
                  <a:pt x="3294049" y="427621"/>
                </a:lnTo>
                <a:lnTo>
                  <a:pt x="3322358" y="387908"/>
                </a:lnTo>
                <a:lnTo>
                  <a:pt x="3350082" y="347751"/>
                </a:lnTo>
                <a:lnTo>
                  <a:pt x="3377222" y="307174"/>
                </a:lnTo>
                <a:lnTo>
                  <a:pt x="3403752" y="266179"/>
                </a:lnTo>
                <a:lnTo>
                  <a:pt x="3429698" y="224764"/>
                </a:lnTo>
                <a:lnTo>
                  <a:pt x="3455022" y="182943"/>
                </a:lnTo>
                <a:lnTo>
                  <a:pt x="3479736" y="140728"/>
                </a:lnTo>
                <a:lnTo>
                  <a:pt x="3503828" y="98107"/>
                </a:lnTo>
                <a:lnTo>
                  <a:pt x="3527285" y="55092"/>
                </a:lnTo>
                <a:lnTo>
                  <a:pt x="3550120" y="11696"/>
                </a:lnTo>
                <a:lnTo>
                  <a:pt x="3556050" y="0"/>
                </a:lnTo>
                <a:close/>
              </a:path>
              <a:path w="6191250" h="4254500">
                <a:moveTo>
                  <a:pt x="6191097" y="0"/>
                </a:moveTo>
                <a:lnTo>
                  <a:pt x="4063555" y="0"/>
                </a:lnTo>
                <a:lnTo>
                  <a:pt x="4042714" y="38100"/>
                </a:lnTo>
                <a:lnTo>
                  <a:pt x="4020731" y="88900"/>
                </a:lnTo>
                <a:lnTo>
                  <a:pt x="4016502" y="101600"/>
                </a:lnTo>
                <a:lnTo>
                  <a:pt x="4008031" y="114300"/>
                </a:lnTo>
                <a:lnTo>
                  <a:pt x="4003789" y="127000"/>
                </a:lnTo>
                <a:lnTo>
                  <a:pt x="3981132" y="177800"/>
                </a:lnTo>
                <a:lnTo>
                  <a:pt x="3957396" y="228600"/>
                </a:lnTo>
                <a:lnTo>
                  <a:pt x="3932834" y="266700"/>
                </a:lnTo>
                <a:lnTo>
                  <a:pt x="3907739" y="317500"/>
                </a:lnTo>
                <a:lnTo>
                  <a:pt x="3882364" y="355600"/>
                </a:lnTo>
                <a:lnTo>
                  <a:pt x="3876459" y="368300"/>
                </a:lnTo>
                <a:lnTo>
                  <a:pt x="3865689" y="393700"/>
                </a:lnTo>
                <a:lnTo>
                  <a:pt x="3859771" y="393700"/>
                </a:lnTo>
                <a:lnTo>
                  <a:pt x="3832644" y="444500"/>
                </a:lnTo>
                <a:lnTo>
                  <a:pt x="3805377" y="482600"/>
                </a:lnTo>
                <a:lnTo>
                  <a:pt x="3777843" y="533400"/>
                </a:lnTo>
                <a:lnTo>
                  <a:pt x="3749891" y="571500"/>
                </a:lnTo>
                <a:lnTo>
                  <a:pt x="3721404" y="622300"/>
                </a:lnTo>
                <a:lnTo>
                  <a:pt x="3715486" y="622300"/>
                </a:lnTo>
                <a:lnTo>
                  <a:pt x="3704729" y="647700"/>
                </a:lnTo>
                <a:lnTo>
                  <a:pt x="3698811" y="647700"/>
                </a:lnTo>
                <a:lnTo>
                  <a:pt x="3667976" y="698500"/>
                </a:lnTo>
                <a:lnTo>
                  <a:pt x="3636467" y="736600"/>
                </a:lnTo>
                <a:lnTo>
                  <a:pt x="3604272" y="774700"/>
                </a:lnTo>
                <a:lnTo>
                  <a:pt x="3571405" y="825500"/>
                </a:lnTo>
                <a:lnTo>
                  <a:pt x="3537851" y="863600"/>
                </a:lnTo>
                <a:lnTo>
                  <a:pt x="3532200" y="863600"/>
                </a:lnTo>
                <a:lnTo>
                  <a:pt x="3529380" y="876300"/>
                </a:lnTo>
                <a:lnTo>
                  <a:pt x="3523729" y="876300"/>
                </a:lnTo>
                <a:lnTo>
                  <a:pt x="3489502" y="914400"/>
                </a:lnTo>
                <a:lnTo>
                  <a:pt x="3454603" y="965200"/>
                </a:lnTo>
                <a:lnTo>
                  <a:pt x="3419017" y="1003300"/>
                </a:lnTo>
                <a:lnTo>
                  <a:pt x="3382759" y="1041400"/>
                </a:lnTo>
                <a:lnTo>
                  <a:pt x="3345827" y="1079500"/>
                </a:lnTo>
                <a:lnTo>
                  <a:pt x="3340176" y="1092200"/>
                </a:lnTo>
                <a:lnTo>
                  <a:pt x="3337356" y="1092200"/>
                </a:lnTo>
                <a:lnTo>
                  <a:pt x="3299764" y="1130300"/>
                </a:lnTo>
                <a:lnTo>
                  <a:pt x="3261626" y="1168400"/>
                </a:lnTo>
                <a:lnTo>
                  <a:pt x="3145332" y="1282700"/>
                </a:lnTo>
                <a:lnTo>
                  <a:pt x="3119920" y="1308100"/>
                </a:lnTo>
                <a:lnTo>
                  <a:pt x="3080626" y="1333500"/>
                </a:lnTo>
                <a:lnTo>
                  <a:pt x="3000565" y="1409700"/>
                </a:lnTo>
                <a:lnTo>
                  <a:pt x="2960065" y="1435100"/>
                </a:lnTo>
                <a:lnTo>
                  <a:pt x="2919425" y="1473200"/>
                </a:lnTo>
                <a:lnTo>
                  <a:pt x="2910954" y="1473200"/>
                </a:lnTo>
                <a:lnTo>
                  <a:pt x="2902483" y="1485900"/>
                </a:lnTo>
                <a:lnTo>
                  <a:pt x="2893999" y="1485900"/>
                </a:lnTo>
                <a:lnTo>
                  <a:pt x="2885529" y="1498600"/>
                </a:lnTo>
                <a:lnTo>
                  <a:pt x="2844533" y="1524000"/>
                </a:lnTo>
                <a:lnTo>
                  <a:pt x="2802852" y="1562100"/>
                </a:lnTo>
                <a:lnTo>
                  <a:pt x="2717457" y="1612900"/>
                </a:lnTo>
                <a:lnTo>
                  <a:pt x="2673743" y="1651000"/>
                </a:lnTo>
                <a:lnTo>
                  <a:pt x="2664828" y="1651000"/>
                </a:lnTo>
                <a:lnTo>
                  <a:pt x="2655392" y="1663700"/>
                </a:lnTo>
                <a:lnTo>
                  <a:pt x="2637028" y="1663700"/>
                </a:lnTo>
                <a:lnTo>
                  <a:pt x="2592667" y="1701800"/>
                </a:lnTo>
                <a:lnTo>
                  <a:pt x="2411120" y="1803400"/>
                </a:lnTo>
                <a:lnTo>
                  <a:pt x="2403094" y="1803400"/>
                </a:lnTo>
                <a:lnTo>
                  <a:pt x="2388082" y="1816100"/>
                </a:lnTo>
                <a:lnTo>
                  <a:pt x="2380056" y="1816100"/>
                </a:lnTo>
                <a:lnTo>
                  <a:pt x="2283815" y="1866900"/>
                </a:lnTo>
                <a:lnTo>
                  <a:pt x="2184870" y="1917700"/>
                </a:lnTo>
                <a:lnTo>
                  <a:pt x="2134374" y="1943100"/>
                </a:lnTo>
                <a:lnTo>
                  <a:pt x="2123084" y="1943100"/>
                </a:lnTo>
                <a:lnTo>
                  <a:pt x="2072233" y="1968500"/>
                </a:lnTo>
                <a:lnTo>
                  <a:pt x="2021243" y="1981200"/>
                </a:lnTo>
                <a:lnTo>
                  <a:pt x="1969985" y="2006600"/>
                </a:lnTo>
                <a:lnTo>
                  <a:pt x="1918322" y="2019300"/>
                </a:lnTo>
                <a:lnTo>
                  <a:pt x="1866112" y="2044700"/>
                </a:lnTo>
                <a:lnTo>
                  <a:pt x="1843519" y="2044700"/>
                </a:lnTo>
                <a:lnTo>
                  <a:pt x="1792376" y="2070100"/>
                </a:lnTo>
                <a:lnTo>
                  <a:pt x="1636217" y="2108200"/>
                </a:lnTo>
                <a:lnTo>
                  <a:pt x="1583715" y="2133600"/>
                </a:lnTo>
                <a:lnTo>
                  <a:pt x="1554327" y="2133600"/>
                </a:lnTo>
                <a:lnTo>
                  <a:pt x="1493012" y="2159000"/>
                </a:lnTo>
                <a:lnTo>
                  <a:pt x="1441170" y="2159000"/>
                </a:lnTo>
                <a:lnTo>
                  <a:pt x="1281557" y="2197100"/>
                </a:lnTo>
                <a:lnTo>
                  <a:pt x="1247406" y="2197100"/>
                </a:lnTo>
                <a:lnTo>
                  <a:pt x="1236383" y="2209800"/>
                </a:lnTo>
                <a:lnTo>
                  <a:pt x="1183538" y="2209800"/>
                </a:lnTo>
                <a:lnTo>
                  <a:pt x="1130160" y="2222500"/>
                </a:lnTo>
                <a:lnTo>
                  <a:pt x="1076363" y="2222500"/>
                </a:lnTo>
                <a:lnTo>
                  <a:pt x="1022311" y="2235200"/>
                </a:lnTo>
                <a:lnTo>
                  <a:pt x="935151" y="2235200"/>
                </a:lnTo>
                <a:lnTo>
                  <a:pt x="922921" y="2247900"/>
                </a:lnTo>
                <a:lnTo>
                  <a:pt x="356743" y="2247900"/>
                </a:lnTo>
                <a:lnTo>
                  <a:pt x="327088" y="2235200"/>
                </a:lnTo>
                <a:lnTo>
                  <a:pt x="216954" y="2235200"/>
                </a:lnTo>
                <a:lnTo>
                  <a:pt x="89877" y="2209800"/>
                </a:lnTo>
                <a:lnTo>
                  <a:pt x="44157" y="2209800"/>
                </a:lnTo>
                <a:lnTo>
                  <a:pt x="0" y="2197100"/>
                </a:lnTo>
                <a:lnTo>
                  <a:pt x="0" y="4216400"/>
                </a:lnTo>
                <a:lnTo>
                  <a:pt x="17767" y="4216400"/>
                </a:lnTo>
                <a:lnTo>
                  <a:pt x="64820" y="4229100"/>
                </a:lnTo>
                <a:lnTo>
                  <a:pt x="159258" y="4229100"/>
                </a:lnTo>
                <a:lnTo>
                  <a:pt x="206641" y="4241800"/>
                </a:lnTo>
                <a:lnTo>
                  <a:pt x="397230" y="4241800"/>
                </a:lnTo>
                <a:lnTo>
                  <a:pt x="445135" y="4254500"/>
                </a:lnTo>
                <a:lnTo>
                  <a:pt x="857224" y="4254500"/>
                </a:lnTo>
                <a:lnTo>
                  <a:pt x="911504" y="4241800"/>
                </a:lnTo>
                <a:lnTo>
                  <a:pt x="1126159" y="4241800"/>
                </a:lnTo>
                <a:lnTo>
                  <a:pt x="1179207" y="4229100"/>
                </a:lnTo>
                <a:lnTo>
                  <a:pt x="1284592" y="4229100"/>
                </a:lnTo>
                <a:lnTo>
                  <a:pt x="1336903" y="4216400"/>
                </a:lnTo>
                <a:lnTo>
                  <a:pt x="1388986" y="4216400"/>
                </a:lnTo>
                <a:lnTo>
                  <a:pt x="1440802" y="4203700"/>
                </a:lnTo>
                <a:lnTo>
                  <a:pt x="1492389" y="4203700"/>
                </a:lnTo>
                <a:lnTo>
                  <a:pt x="1543723" y="4191000"/>
                </a:lnTo>
                <a:lnTo>
                  <a:pt x="1594815" y="4191000"/>
                </a:lnTo>
                <a:lnTo>
                  <a:pt x="1645653" y="4178300"/>
                </a:lnTo>
                <a:lnTo>
                  <a:pt x="1696237" y="4178300"/>
                </a:lnTo>
                <a:lnTo>
                  <a:pt x="1796681" y="4152900"/>
                </a:lnTo>
                <a:lnTo>
                  <a:pt x="1846516" y="4152900"/>
                </a:lnTo>
                <a:lnTo>
                  <a:pt x="2043404" y="4102100"/>
                </a:lnTo>
                <a:lnTo>
                  <a:pt x="2091994" y="4102100"/>
                </a:lnTo>
                <a:lnTo>
                  <a:pt x="2564079" y="3975100"/>
                </a:lnTo>
                <a:lnTo>
                  <a:pt x="2609888" y="3949700"/>
                </a:lnTo>
                <a:lnTo>
                  <a:pt x="2790583" y="3898900"/>
                </a:lnTo>
                <a:lnTo>
                  <a:pt x="2835110" y="3873500"/>
                </a:lnTo>
                <a:lnTo>
                  <a:pt x="2923400" y="3848100"/>
                </a:lnTo>
                <a:lnTo>
                  <a:pt x="2967164" y="3822700"/>
                </a:lnTo>
                <a:lnTo>
                  <a:pt x="3010674" y="3810000"/>
                </a:lnTo>
                <a:lnTo>
                  <a:pt x="3053918" y="3784600"/>
                </a:lnTo>
                <a:lnTo>
                  <a:pt x="3139630" y="3759200"/>
                </a:lnTo>
                <a:lnTo>
                  <a:pt x="3182099" y="3733800"/>
                </a:lnTo>
                <a:lnTo>
                  <a:pt x="3224301" y="3721100"/>
                </a:lnTo>
                <a:lnTo>
                  <a:pt x="3307931" y="3670300"/>
                </a:lnTo>
                <a:lnTo>
                  <a:pt x="3349358" y="3657600"/>
                </a:lnTo>
                <a:lnTo>
                  <a:pt x="3390519" y="3632200"/>
                </a:lnTo>
                <a:lnTo>
                  <a:pt x="3431425" y="3619500"/>
                </a:lnTo>
                <a:lnTo>
                  <a:pt x="3552558" y="3543300"/>
                </a:lnTo>
                <a:lnTo>
                  <a:pt x="3592411" y="3530600"/>
                </a:lnTo>
                <a:lnTo>
                  <a:pt x="3749192" y="3429000"/>
                </a:lnTo>
                <a:lnTo>
                  <a:pt x="3787724" y="3416300"/>
                </a:lnTo>
                <a:lnTo>
                  <a:pt x="3901719" y="3340100"/>
                </a:lnTo>
                <a:lnTo>
                  <a:pt x="4050004" y="3238500"/>
                </a:lnTo>
                <a:lnTo>
                  <a:pt x="4158399" y="3162300"/>
                </a:lnTo>
                <a:lnTo>
                  <a:pt x="4193984" y="3124200"/>
                </a:lnTo>
                <a:lnTo>
                  <a:pt x="4229316" y="3098800"/>
                </a:lnTo>
                <a:lnTo>
                  <a:pt x="4333672" y="3022600"/>
                </a:lnTo>
                <a:lnTo>
                  <a:pt x="4367923" y="2984500"/>
                </a:lnTo>
                <a:lnTo>
                  <a:pt x="4469028" y="2908300"/>
                </a:lnTo>
                <a:lnTo>
                  <a:pt x="4502188" y="2870200"/>
                </a:lnTo>
                <a:lnTo>
                  <a:pt x="4567694" y="2819400"/>
                </a:lnTo>
                <a:lnTo>
                  <a:pt x="4600029" y="2781300"/>
                </a:lnTo>
                <a:lnTo>
                  <a:pt x="4632096" y="2755900"/>
                </a:lnTo>
                <a:lnTo>
                  <a:pt x="4663897" y="2717800"/>
                </a:lnTo>
                <a:lnTo>
                  <a:pt x="4695418" y="2692400"/>
                </a:lnTo>
                <a:lnTo>
                  <a:pt x="4726660" y="2654300"/>
                </a:lnTo>
                <a:lnTo>
                  <a:pt x="4757636" y="2628900"/>
                </a:lnTo>
                <a:lnTo>
                  <a:pt x="4788319" y="2590800"/>
                </a:lnTo>
                <a:lnTo>
                  <a:pt x="4818748" y="2565400"/>
                </a:lnTo>
                <a:lnTo>
                  <a:pt x="4848885" y="2527300"/>
                </a:lnTo>
                <a:lnTo>
                  <a:pt x="4878756" y="2501900"/>
                </a:lnTo>
                <a:lnTo>
                  <a:pt x="4908347" y="2463800"/>
                </a:lnTo>
                <a:lnTo>
                  <a:pt x="4937658" y="2438400"/>
                </a:lnTo>
                <a:lnTo>
                  <a:pt x="4966690" y="2400300"/>
                </a:lnTo>
                <a:lnTo>
                  <a:pt x="4995456" y="2362200"/>
                </a:lnTo>
                <a:lnTo>
                  <a:pt x="5023929" y="2336800"/>
                </a:lnTo>
                <a:lnTo>
                  <a:pt x="5052136" y="2298700"/>
                </a:lnTo>
                <a:lnTo>
                  <a:pt x="5080051" y="2260600"/>
                </a:lnTo>
                <a:lnTo>
                  <a:pt x="5093881" y="2247900"/>
                </a:lnTo>
                <a:lnTo>
                  <a:pt x="5107698" y="2235200"/>
                </a:lnTo>
                <a:lnTo>
                  <a:pt x="5135067" y="2197100"/>
                </a:lnTo>
                <a:lnTo>
                  <a:pt x="5162143" y="2159000"/>
                </a:lnTo>
                <a:lnTo>
                  <a:pt x="5188953" y="2120900"/>
                </a:lnTo>
                <a:lnTo>
                  <a:pt x="5215471" y="2095500"/>
                </a:lnTo>
                <a:lnTo>
                  <a:pt x="5241709" y="2057400"/>
                </a:lnTo>
                <a:lnTo>
                  <a:pt x="5267680" y="2019300"/>
                </a:lnTo>
                <a:lnTo>
                  <a:pt x="5293347" y="1981200"/>
                </a:lnTo>
                <a:lnTo>
                  <a:pt x="5318747" y="1943100"/>
                </a:lnTo>
                <a:lnTo>
                  <a:pt x="5343868" y="1905000"/>
                </a:lnTo>
                <a:lnTo>
                  <a:pt x="5368696" y="1866900"/>
                </a:lnTo>
                <a:lnTo>
                  <a:pt x="5393245" y="1828800"/>
                </a:lnTo>
                <a:lnTo>
                  <a:pt x="5417502" y="1803400"/>
                </a:lnTo>
                <a:lnTo>
                  <a:pt x="5441493" y="1765300"/>
                </a:lnTo>
                <a:lnTo>
                  <a:pt x="5465178" y="1727200"/>
                </a:lnTo>
                <a:lnTo>
                  <a:pt x="5488597" y="1689100"/>
                </a:lnTo>
                <a:lnTo>
                  <a:pt x="5511724" y="1651000"/>
                </a:lnTo>
                <a:lnTo>
                  <a:pt x="5534558" y="1612900"/>
                </a:lnTo>
                <a:lnTo>
                  <a:pt x="5557113" y="1574800"/>
                </a:lnTo>
                <a:lnTo>
                  <a:pt x="5579389" y="1524000"/>
                </a:lnTo>
                <a:lnTo>
                  <a:pt x="5601373" y="1485900"/>
                </a:lnTo>
                <a:lnTo>
                  <a:pt x="5623064" y="1447800"/>
                </a:lnTo>
                <a:lnTo>
                  <a:pt x="5644477" y="1409700"/>
                </a:lnTo>
                <a:lnTo>
                  <a:pt x="5665597" y="1371600"/>
                </a:lnTo>
                <a:lnTo>
                  <a:pt x="5686425" y="1333500"/>
                </a:lnTo>
                <a:lnTo>
                  <a:pt x="5706973" y="1295400"/>
                </a:lnTo>
                <a:lnTo>
                  <a:pt x="5727230" y="1257300"/>
                </a:lnTo>
                <a:lnTo>
                  <a:pt x="5747207" y="1206500"/>
                </a:lnTo>
                <a:lnTo>
                  <a:pt x="5766879" y="1168400"/>
                </a:lnTo>
                <a:lnTo>
                  <a:pt x="5786272" y="1130300"/>
                </a:lnTo>
                <a:lnTo>
                  <a:pt x="5805373" y="1092200"/>
                </a:lnTo>
                <a:lnTo>
                  <a:pt x="5824182" y="1054100"/>
                </a:lnTo>
                <a:lnTo>
                  <a:pt x="5842698" y="1003300"/>
                </a:lnTo>
                <a:lnTo>
                  <a:pt x="5860923" y="965200"/>
                </a:lnTo>
                <a:lnTo>
                  <a:pt x="5878855" y="927100"/>
                </a:lnTo>
                <a:lnTo>
                  <a:pt x="5896495" y="876300"/>
                </a:lnTo>
                <a:lnTo>
                  <a:pt x="5913856" y="838200"/>
                </a:lnTo>
                <a:lnTo>
                  <a:pt x="5930912" y="800100"/>
                </a:lnTo>
                <a:lnTo>
                  <a:pt x="5947676" y="749300"/>
                </a:lnTo>
                <a:lnTo>
                  <a:pt x="5964148" y="711200"/>
                </a:lnTo>
                <a:lnTo>
                  <a:pt x="5980328" y="673100"/>
                </a:lnTo>
                <a:lnTo>
                  <a:pt x="5996216" y="622300"/>
                </a:lnTo>
                <a:lnTo>
                  <a:pt x="6011799" y="584200"/>
                </a:lnTo>
                <a:lnTo>
                  <a:pt x="6027102" y="546100"/>
                </a:lnTo>
                <a:lnTo>
                  <a:pt x="6042101" y="495300"/>
                </a:lnTo>
                <a:lnTo>
                  <a:pt x="6056808" y="457200"/>
                </a:lnTo>
                <a:lnTo>
                  <a:pt x="6071209" y="406400"/>
                </a:lnTo>
                <a:lnTo>
                  <a:pt x="6085332" y="368300"/>
                </a:lnTo>
                <a:lnTo>
                  <a:pt x="6099149" y="317500"/>
                </a:lnTo>
                <a:lnTo>
                  <a:pt x="6112662" y="279400"/>
                </a:lnTo>
                <a:lnTo>
                  <a:pt x="6125883" y="228600"/>
                </a:lnTo>
                <a:lnTo>
                  <a:pt x="6138811" y="190500"/>
                </a:lnTo>
                <a:lnTo>
                  <a:pt x="6151448" y="139700"/>
                </a:lnTo>
                <a:lnTo>
                  <a:pt x="6163767" y="101600"/>
                </a:lnTo>
                <a:lnTo>
                  <a:pt x="6175807" y="50800"/>
                </a:lnTo>
                <a:lnTo>
                  <a:pt x="6187529" y="12700"/>
                </a:lnTo>
                <a:lnTo>
                  <a:pt x="6191097" y="0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1602" y="901064"/>
            <a:ext cx="7129780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spc="-220" dirty="0"/>
              <a:t>Implementation</a:t>
            </a:r>
            <a:r>
              <a:rPr sz="4900" spc="-355" dirty="0"/>
              <a:t> </a:t>
            </a:r>
            <a:r>
              <a:rPr sz="4900" spc="-155" dirty="0"/>
              <a:t>and</a:t>
            </a:r>
            <a:r>
              <a:rPr sz="4900" spc="-350" dirty="0"/>
              <a:t> </a:t>
            </a:r>
            <a:r>
              <a:rPr sz="4900" spc="-95" dirty="0"/>
              <a:t>Tools</a:t>
            </a:r>
            <a:endParaRPr sz="49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5470" y="0"/>
            <a:ext cx="5932528" cy="10286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8762" y="4895410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8762" y="6352735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08762" y="7810060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08762" y="9267385"/>
            <a:ext cx="95250" cy="952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15174" y="4109471"/>
            <a:ext cx="14514830" cy="536892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37820" indent="-32512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337820" algn="l"/>
              </a:tabLst>
            </a:pPr>
            <a:r>
              <a:rPr sz="2750" spc="-10" dirty="0">
                <a:solidFill>
                  <a:srgbClr val="FFFFFF"/>
                </a:solidFill>
                <a:latin typeface="Arial MT"/>
                <a:cs typeface="Arial MT"/>
              </a:rPr>
              <a:t>Open-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Source</a:t>
            </a:r>
            <a:r>
              <a:rPr sz="27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spc="-20" dirty="0">
                <a:solidFill>
                  <a:srgbClr val="FFFFFF"/>
                </a:solidFill>
                <a:latin typeface="Arial MT"/>
                <a:cs typeface="Arial MT"/>
              </a:rPr>
              <a:t>Repo:</a:t>
            </a:r>
            <a:endParaRPr sz="2750">
              <a:latin typeface="Arial MT"/>
              <a:cs typeface="Arial MT"/>
            </a:endParaRPr>
          </a:p>
          <a:p>
            <a:pPr marL="930910">
              <a:lnSpc>
                <a:spcPct val="100000"/>
              </a:lnSpc>
              <a:spcBef>
                <a:spcPts val="525"/>
              </a:spcBef>
            </a:pPr>
            <a:r>
              <a:rPr sz="2750" spc="-30" dirty="0">
                <a:solidFill>
                  <a:srgbClr val="FFFFFF"/>
                </a:solidFill>
                <a:latin typeface="Arial MT"/>
                <a:cs typeface="Arial MT"/>
              </a:rPr>
              <a:t>GitHub.com/WaverleyLabs</a:t>
            </a:r>
            <a:r>
              <a:rPr sz="27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27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SDP</a:t>
            </a:r>
            <a:r>
              <a:rPr sz="27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toolkit,</a:t>
            </a:r>
            <a:r>
              <a:rPr sz="27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Black</a:t>
            </a:r>
            <a:r>
              <a:rPr sz="27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Cloud</a:t>
            </a:r>
            <a:r>
              <a:rPr sz="27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Arial MT"/>
                <a:cs typeface="Arial MT"/>
              </a:rPr>
              <a:t>prototypes.</a:t>
            </a:r>
            <a:endParaRPr sz="2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2750">
              <a:latin typeface="Arial MT"/>
              <a:cs typeface="Arial MT"/>
            </a:endParaRPr>
          </a:p>
          <a:p>
            <a:pPr marL="337820" indent="-325120">
              <a:lnSpc>
                <a:spcPct val="100000"/>
              </a:lnSpc>
              <a:buAutoNum type="arabicPeriod" startAt="2"/>
              <a:tabLst>
                <a:tab pos="337820" algn="l"/>
              </a:tabLst>
            </a:pPr>
            <a:r>
              <a:rPr sz="2750" spc="-10" dirty="0">
                <a:solidFill>
                  <a:srgbClr val="FFFFFF"/>
                </a:solidFill>
                <a:latin typeface="Arial MT"/>
                <a:cs typeface="Arial MT"/>
              </a:rPr>
              <a:t>Services:</a:t>
            </a:r>
            <a:endParaRPr sz="2750">
              <a:latin typeface="Arial MT"/>
              <a:cs typeface="Arial MT"/>
            </a:endParaRPr>
          </a:p>
          <a:p>
            <a:pPr marL="930910">
              <a:lnSpc>
                <a:spcPct val="100000"/>
              </a:lnSpc>
              <a:spcBef>
                <a:spcPts val="525"/>
              </a:spcBef>
            </a:pPr>
            <a:r>
              <a:rPr sz="2750" spc="-10" dirty="0">
                <a:solidFill>
                  <a:srgbClr val="FFFFFF"/>
                </a:solidFill>
                <a:latin typeface="Arial MT"/>
                <a:cs typeface="Arial MT"/>
              </a:rPr>
              <a:t>Penetration</a:t>
            </a:r>
            <a:r>
              <a:rPr sz="27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testing,</a:t>
            </a:r>
            <a:r>
              <a:rPr sz="27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Arial MT"/>
                <a:cs typeface="Arial MT"/>
              </a:rPr>
              <a:t>DevSecOps</a:t>
            </a:r>
            <a:r>
              <a:rPr sz="27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consulting,</a:t>
            </a:r>
            <a:r>
              <a:rPr sz="27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R&amp;D</a:t>
            </a:r>
            <a:r>
              <a:rPr sz="27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lab</a:t>
            </a:r>
            <a:r>
              <a:rPr sz="27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7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custom</a:t>
            </a:r>
            <a:r>
              <a:rPr sz="27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Arial MT"/>
                <a:cs typeface="Arial MT"/>
              </a:rPr>
              <a:t>tools.</a:t>
            </a:r>
            <a:endParaRPr sz="2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2750">
              <a:latin typeface="Arial MT"/>
              <a:cs typeface="Arial MT"/>
            </a:endParaRPr>
          </a:p>
          <a:p>
            <a:pPr marL="337820" indent="-325120">
              <a:lnSpc>
                <a:spcPct val="100000"/>
              </a:lnSpc>
              <a:buAutoNum type="arabicPeriod" startAt="3"/>
              <a:tabLst>
                <a:tab pos="337820" algn="l"/>
              </a:tabLst>
            </a:pPr>
            <a:r>
              <a:rPr sz="2750" spc="-10" dirty="0">
                <a:solidFill>
                  <a:srgbClr val="FFFFFF"/>
                </a:solidFill>
                <a:latin typeface="Arial MT"/>
                <a:cs typeface="Arial MT"/>
              </a:rPr>
              <a:t>Integration:</a:t>
            </a:r>
            <a:endParaRPr sz="2750">
              <a:latin typeface="Arial MT"/>
              <a:cs typeface="Arial MT"/>
            </a:endParaRPr>
          </a:p>
          <a:p>
            <a:pPr marL="930910">
              <a:lnSpc>
                <a:spcPct val="100000"/>
              </a:lnSpc>
              <a:spcBef>
                <a:spcPts val="525"/>
              </a:spcBef>
            </a:pP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27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SIEM,</a:t>
            </a:r>
            <a:r>
              <a:rPr sz="27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Azure</a:t>
            </a:r>
            <a:r>
              <a:rPr sz="27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(encrypted</a:t>
            </a:r>
            <a:r>
              <a:rPr sz="27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storage),</a:t>
            </a:r>
            <a:r>
              <a:rPr sz="27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7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probabilistic</a:t>
            </a:r>
            <a:r>
              <a:rPr sz="27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programming</a:t>
            </a:r>
            <a:r>
              <a:rPr sz="27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7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r>
              <a:rPr sz="27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Arial MT"/>
                <a:cs typeface="Arial MT"/>
              </a:rPr>
              <a:t>modelling.</a:t>
            </a:r>
            <a:endParaRPr sz="2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2750">
              <a:latin typeface="Arial MT"/>
              <a:cs typeface="Arial MT"/>
            </a:endParaRPr>
          </a:p>
          <a:p>
            <a:pPr marL="337820" indent="-325120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337820" algn="l"/>
              </a:tabLst>
            </a:pP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Getting</a:t>
            </a:r>
            <a:r>
              <a:rPr sz="27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Arial MT"/>
                <a:cs typeface="Arial MT"/>
              </a:rPr>
              <a:t>Started:</a:t>
            </a:r>
            <a:endParaRPr sz="2750">
              <a:latin typeface="Arial MT"/>
              <a:cs typeface="Arial MT"/>
            </a:endParaRPr>
          </a:p>
          <a:p>
            <a:pPr marL="930910">
              <a:lnSpc>
                <a:spcPct val="100000"/>
              </a:lnSpc>
              <a:spcBef>
                <a:spcPts val="525"/>
              </a:spcBef>
            </a:pP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Assess</a:t>
            </a:r>
            <a:r>
              <a:rPr sz="27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assets</a:t>
            </a:r>
            <a:r>
              <a:rPr sz="27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 spc="1560" dirty="0">
                <a:solidFill>
                  <a:srgbClr val="FFFFFF"/>
                </a:solidFill>
                <a:latin typeface="Lucida Sans Unicode"/>
                <a:cs typeface="Lucida Sans Unicode"/>
              </a:rPr>
              <a:t>→</a:t>
            </a:r>
            <a:r>
              <a:rPr sz="1250" spc="3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Deploy</a:t>
            </a:r>
            <a:r>
              <a:rPr sz="27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gateway</a:t>
            </a:r>
            <a:r>
              <a:rPr sz="27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 spc="1560" dirty="0">
                <a:solidFill>
                  <a:srgbClr val="FFFFFF"/>
                </a:solidFill>
                <a:latin typeface="Lucida Sans Unicode"/>
                <a:cs typeface="Lucida Sans Unicode"/>
              </a:rPr>
              <a:t>→</a:t>
            </a:r>
            <a:r>
              <a:rPr sz="1250" spc="3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750" dirty="0">
                <a:solidFill>
                  <a:srgbClr val="FFFFFF"/>
                </a:solidFill>
                <a:latin typeface="Arial MT"/>
                <a:cs typeface="Arial MT"/>
              </a:rPr>
              <a:t>Automate</a:t>
            </a:r>
            <a:r>
              <a:rPr sz="27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Arial MT"/>
                <a:cs typeface="Arial MT"/>
              </a:rPr>
              <a:t>policies.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54481" y="5598729"/>
            <a:ext cx="7085330" cy="3310254"/>
          </a:xfrm>
          <a:custGeom>
            <a:avLst/>
            <a:gdLst/>
            <a:ahLst/>
            <a:cxnLst/>
            <a:rect l="l" t="t" r="r" b="b"/>
            <a:pathLst>
              <a:path w="7085330" h="3310254">
                <a:moveTo>
                  <a:pt x="6727567" y="3309699"/>
                </a:moveTo>
                <a:lnTo>
                  <a:pt x="361950" y="3309699"/>
                </a:lnTo>
                <a:lnTo>
                  <a:pt x="312835" y="3306395"/>
                </a:lnTo>
                <a:lnTo>
                  <a:pt x="265729" y="3296770"/>
                </a:lnTo>
                <a:lnTo>
                  <a:pt x="221062" y="3281255"/>
                </a:lnTo>
                <a:lnTo>
                  <a:pt x="179266" y="3260282"/>
                </a:lnTo>
                <a:lnTo>
                  <a:pt x="140773" y="3234282"/>
                </a:lnTo>
                <a:lnTo>
                  <a:pt x="106012" y="3203686"/>
                </a:lnTo>
                <a:lnTo>
                  <a:pt x="75416" y="3168926"/>
                </a:lnTo>
                <a:lnTo>
                  <a:pt x="49416" y="3130432"/>
                </a:lnTo>
                <a:lnTo>
                  <a:pt x="28443" y="3088636"/>
                </a:lnTo>
                <a:lnTo>
                  <a:pt x="12929" y="3043970"/>
                </a:lnTo>
                <a:lnTo>
                  <a:pt x="3304" y="2996864"/>
                </a:lnTo>
                <a:lnTo>
                  <a:pt x="0" y="2947749"/>
                </a:lnTo>
                <a:lnTo>
                  <a:pt x="0" y="361949"/>
                </a:lnTo>
                <a:lnTo>
                  <a:pt x="3304" y="312835"/>
                </a:lnTo>
                <a:lnTo>
                  <a:pt x="12929" y="265729"/>
                </a:lnTo>
                <a:lnTo>
                  <a:pt x="28443" y="221062"/>
                </a:lnTo>
                <a:lnTo>
                  <a:pt x="49416" y="179266"/>
                </a:lnTo>
                <a:lnTo>
                  <a:pt x="75416" y="140773"/>
                </a:lnTo>
                <a:lnTo>
                  <a:pt x="106012" y="106012"/>
                </a:lnTo>
                <a:lnTo>
                  <a:pt x="140773" y="75416"/>
                </a:lnTo>
                <a:lnTo>
                  <a:pt x="179266" y="49416"/>
                </a:lnTo>
                <a:lnTo>
                  <a:pt x="221062" y="28443"/>
                </a:lnTo>
                <a:lnTo>
                  <a:pt x="265729" y="12929"/>
                </a:lnTo>
                <a:lnTo>
                  <a:pt x="312835" y="3304"/>
                </a:lnTo>
                <a:lnTo>
                  <a:pt x="361950" y="0"/>
                </a:lnTo>
                <a:lnTo>
                  <a:pt x="6727567" y="0"/>
                </a:lnTo>
                <a:lnTo>
                  <a:pt x="6776682" y="3304"/>
                </a:lnTo>
                <a:lnTo>
                  <a:pt x="6823788" y="12929"/>
                </a:lnTo>
                <a:lnTo>
                  <a:pt x="6868455" y="28443"/>
                </a:lnTo>
                <a:lnTo>
                  <a:pt x="6910251" y="49416"/>
                </a:lnTo>
                <a:lnTo>
                  <a:pt x="6948744" y="75416"/>
                </a:lnTo>
                <a:lnTo>
                  <a:pt x="6983505" y="106012"/>
                </a:lnTo>
                <a:lnTo>
                  <a:pt x="7014101" y="140773"/>
                </a:lnTo>
                <a:lnTo>
                  <a:pt x="7040101" y="179266"/>
                </a:lnTo>
                <a:lnTo>
                  <a:pt x="7061074" y="221062"/>
                </a:lnTo>
                <a:lnTo>
                  <a:pt x="7076588" y="265729"/>
                </a:lnTo>
                <a:lnTo>
                  <a:pt x="7084825" y="306040"/>
                </a:lnTo>
                <a:lnTo>
                  <a:pt x="7084825" y="3003658"/>
                </a:lnTo>
                <a:lnTo>
                  <a:pt x="7076588" y="3043970"/>
                </a:lnTo>
                <a:lnTo>
                  <a:pt x="7061074" y="3088636"/>
                </a:lnTo>
                <a:lnTo>
                  <a:pt x="7040101" y="3130432"/>
                </a:lnTo>
                <a:lnTo>
                  <a:pt x="7014101" y="3168926"/>
                </a:lnTo>
                <a:lnTo>
                  <a:pt x="6983505" y="3203686"/>
                </a:lnTo>
                <a:lnTo>
                  <a:pt x="6948744" y="3234282"/>
                </a:lnTo>
                <a:lnTo>
                  <a:pt x="6910251" y="3260282"/>
                </a:lnTo>
                <a:lnTo>
                  <a:pt x="6868455" y="3281255"/>
                </a:lnTo>
                <a:lnTo>
                  <a:pt x="6823788" y="3296770"/>
                </a:lnTo>
                <a:lnTo>
                  <a:pt x="6776682" y="3306395"/>
                </a:lnTo>
                <a:lnTo>
                  <a:pt x="6727567" y="3309699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464" y="6092285"/>
            <a:ext cx="6578336" cy="281614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439464" y="2343150"/>
            <a:ext cx="6583045" cy="3587750"/>
          </a:xfrm>
          <a:custGeom>
            <a:avLst/>
            <a:gdLst/>
            <a:ahLst/>
            <a:cxnLst/>
            <a:rect l="l" t="t" r="r" b="b"/>
            <a:pathLst>
              <a:path w="6583044" h="3587750">
                <a:moveTo>
                  <a:pt x="6221072" y="3587210"/>
                </a:moveTo>
                <a:lnTo>
                  <a:pt x="361949" y="3587210"/>
                </a:lnTo>
                <a:lnTo>
                  <a:pt x="312835" y="3583906"/>
                </a:lnTo>
                <a:lnTo>
                  <a:pt x="265729" y="3574281"/>
                </a:lnTo>
                <a:lnTo>
                  <a:pt x="221062" y="3558766"/>
                </a:lnTo>
                <a:lnTo>
                  <a:pt x="179266" y="3537793"/>
                </a:lnTo>
                <a:lnTo>
                  <a:pt x="140773" y="3511793"/>
                </a:lnTo>
                <a:lnTo>
                  <a:pt x="106012" y="3481197"/>
                </a:lnTo>
                <a:lnTo>
                  <a:pt x="75416" y="3446437"/>
                </a:lnTo>
                <a:lnTo>
                  <a:pt x="49416" y="3407943"/>
                </a:lnTo>
                <a:lnTo>
                  <a:pt x="28443" y="3366147"/>
                </a:lnTo>
                <a:lnTo>
                  <a:pt x="12929" y="3321480"/>
                </a:lnTo>
                <a:lnTo>
                  <a:pt x="3304" y="3274374"/>
                </a:lnTo>
                <a:lnTo>
                  <a:pt x="0" y="3225260"/>
                </a:lnTo>
                <a:lnTo>
                  <a:pt x="0" y="361949"/>
                </a:lnTo>
                <a:lnTo>
                  <a:pt x="3304" y="312835"/>
                </a:lnTo>
                <a:lnTo>
                  <a:pt x="12929" y="265729"/>
                </a:lnTo>
                <a:lnTo>
                  <a:pt x="28443" y="221062"/>
                </a:lnTo>
                <a:lnTo>
                  <a:pt x="49416" y="179266"/>
                </a:lnTo>
                <a:lnTo>
                  <a:pt x="75416" y="140773"/>
                </a:lnTo>
                <a:lnTo>
                  <a:pt x="106012" y="106012"/>
                </a:lnTo>
                <a:lnTo>
                  <a:pt x="140773" y="75416"/>
                </a:lnTo>
                <a:lnTo>
                  <a:pt x="179266" y="49416"/>
                </a:lnTo>
                <a:lnTo>
                  <a:pt x="221062" y="28443"/>
                </a:lnTo>
                <a:lnTo>
                  <a:pt x="265729" y="12929"/>
                </a:lnTo>
                <a:lnTo>
                  <a:pt x="312835" y="3304"/>
                </a:lnTo>
                <a:lnTo>
                  <a:pt x="361949" y="0"/>
                </a:lnTo>
                <a:lnTo>
                  <a:pt x="6221072" y="0"/>
                </a:lnTo>
                <a:lnTo>
                  <a:pt x="6270187" y="3304"/>
                </a:lnTo>
                <a:lnTo>
                  <a:pt x="6317293" y="12929"/>
                </a:lnTo>
                <a:lnTo>
                  <a:pt x="6361960" y="28443"/>
                </a:lnTo>
                <a:lnTo>
                  <a:pt x="6403755" y="49416"/>
                </a:lnTo>
                <a:lnTo>
                  <a:pt x="6442249" y="75416"/>
                </a:lnTo>
                <a:lnTo>
                  <a:pt x="6477010" y="106012"/>
                </a:lnTo>
                <a:lnTo>
                  <a:pt x="6507605" y="140773"/>
                </a:lnTo>
                <a:lnTo>
                  <a:pt x="6533605" y="179266"/>
                </a:lnTo>
                <a:lnTo>
                  <a:pt x="6554578" y="221062"/>
                </a:lnTo>
                <a:lnTo>
                  <a:pt x="6570093" y="265729"/>
                </a:lnTo>
                <a:lnTo>
                  <a:pt x="6579718" y="312835"/>
                </a:lnTo>
                <a:lnTo>
                  <a:pt x="6583022" y="361949"/>
                </a:lnTo>
                <a:lnTo>
                  <a:pt x="6583022" y="3225260"/>
                </a:lnTo>
                <a:lnTo>
                  <a:pt x="6579718" y="3274374"/>
                </a:lnTo>
                <a:lnTo>
                  <a:pt x="6570093" y="3321480"/>
                </a:lnTo>
                <a:lnTo>
                  <a:pt x="6554578" y="3366147"/>
                </a:lnTo>
                <a:lnTo>
                  <a:pt x="6533605" y="3407943"/>
                </a:lnTo>
                <a:lnTo>
                  <a:pt x="6507605" y="3446437"/>
                </a:lnTo>
                <a:lnTo>
                  <a:pt x="6477010" y="3481197"/>
                </a:lnTo>
                <a:lnTo>
                  <a:pt x="6442249" y="3511793"/>
                </a:lnTo>
                <a:lnTo>
                  <a:pt x="6403755" y="3537793"/>
                </a:lnTo>
                <a:lnTo>
                  <a:pt x="6361960" y="3558766"/>
                </a:lnTo>
                <a:lnTo>
                  <a:pt x="6317293" y="3574281"/>
                </a:lnTo>
                <a:lnTo>
                  <a:pt x="6270187" y="3583906"/>
                </a:lnTo>
                <a:lnTo>
                  <a:pt x="6221072" y="3587210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1"/>
            <a:ext cx="6191250" cy="4254500"/>
          </a:xfrm>
          <a:custGeom>
            <a:avLst/>
            <a:gdLst/>
            <a:ahLst/>
            <a:cxnLst/>
            <a:rect l="l" t="t" r="r" b="b"/>
            <a:pathLst>
              <a:path w="6191250" h="4254500">
                <a:moveTo>
                  <a:pt x="3556050" y="0"/>
                </a:moveTo>
                <a:lnTo>
                  <a:pt x="0" y="0"/>
                </a:lnTo>
                <a:lnTo>
                  <a:pt x="0" y="1729917"/>
                </a:lnTo>
                <a:lnTo>
                  <a:pt x="50723" y="1739404"/>
                </a:lnTo>
                <a:lnTo>
                  <a:pt x="98005" y="1747481"/>
                </a:lnTo>
                <a:lnTo>
                  <a:pt x="145529" y="1754873"/>
                </a:lnTo>
                <a:lnTo>
                  <a:pt x="193255" y="1761604"/>
                </a:lnTo>
                <a:lnTo>
                  <a:pt x="241223" y="1767636"/>
                </a:lnTo>
                <a:lnTo>
                  <a:pt x="289382" y="1772983"/>
                </a:lnTo>
                <a:lnTo>
                  <a:pt x="337756" y="1777631"/>
                </a:lnTo>
                <a:lnTo>
                  <a:pt x="386334" y="1781581"/>
                </a:lnTo>
                <a:lnTo>
                  <a:pt x="435114" y="1784819"/>
                </a:lnTo>
                <a:lnTo>
                  <a:pt x="481647" y="1787220"/>
                </a:lnTo>
                <a:lnTo>
                  <a:pt x="480669" y="1787220"/>
                </a:lnTo>
                <a:lnTo>
                  <a:pt x="531710" y="1789099"/>
                </a:lnTo>
                <a:lnTo>
                  <a:pt x="530694" y="1789099"/>
                </a:lnTo>
                <a:lnTo>
                  <a:pt x="581926" y="1790242"/>
                </a:lnTo>
                <a:lnTo>
                  <a:pt x="580656" y="1790242"/>
                </a:lnTo>
                <a:lnTo>
                  <a:pt x="632066" y="1790611"/>
                </a:lnTo>
                <a:lnTo>
                  <a:pt x="706755" y="1790242"/>
                </a:lnTo>
                <a:lnTo>
                  <a:pt x="779716" y="1789099"/>
                </a:lnTo>
                <a:lnTo>
                  <a:pt x="850976" y="1787220"/>
                </a:lnTo>
                <a:lnTo>
                  <a:pt x="920559" y="1784591"/>
                </a:lnTo>
                <a:lnTo>
                  <a:pt x="988517" y="1781225"/>
                </a:lnTo>
                <a:lnTo>
                  <a:pt x="1054862" y="1777136"/>
                </a:lnTo>
                <a:lnTo>
                  <a:pt x="1119632" y="1772310"/>
                </a:lnTo>
                <a:lnTo>
                  <a:pt x="1182852" y="1766760"/>
                </a:lnTo>
                <a:lnTo>
                  <a:pt x="1244574" y="1760486"/>
                </a:lnTo>
                <a:lnTo>
                  <a:pt x="1304823" y="1753514"/>
                </a:lnTo>
                <a:lnTo>
                  <a:pt x="1363624" y="1745830"/>
                </a:lnTo>
                <a:lnTo>
                  <a:pt x="1421015" y="1737448"/>
                </a:lnTo>
                <a:lnTo>
                  <a:pt x="1477035" y="1728368"/>
                </a:lnTo>
                <a:lnTo>
                  <a:pt x="1531696" y="1718602"/>
                </a:lnTo>
                <a:lnTo>
                  <a:pt x="1585048" y="1708137"/>
                </a:lnTo>
                <a:lnTo>
                  <a:pt x="1637118" y="1697012"/>
                </a:lnTo>
                <a:lnTo>
                  <a:pt x="1687944" y="1685201"/>
                </a:lnTo>
                <a:lnTo>
                  <a:pt x="1737550" y="1672717"/>
                </a:lnTo>
                <a:lnTo>
                  <a:pt x="1785975" y="1659585"/>
                </a:lnTo>
                <a:lnTo>
                  <a:pt x="1833245" y="1645780"/>
                </a:lnTo>
                <a:lnTo>
                  <a:pt x="1879384" y="1631327"/>
                </a:lnTo>
                <a:lnTo>
                  <a:pt x="1924456" y="1616227"/>
                </a:lnTo>
                <a:lnTo>
                  <a:pt x="1968461" y="1600492"/>
                </a:lnTo>
                <a:lnTo>
                  <a:pt x="2011451" y="1584109"/>
                </a:lnTo>
                <a:lnTo>
                  <a:pt x="2053437" y="1567103"/>
                </a:lnTo>
                <a:lnTo>
                  <a:pt x="2094484" y="1549463"/>
                </a:lnTo>
                <a:lnTo>
                  <a:pt x="2134590" y="1531200"/>
                </a:lnTo>
                <a:lnTo>
                  <a:pt x="2173808" y="1512328"/>
                </a:lnTo>
                <a:lnTo>
                  <a:pt x="2212175" y="1492846"/>
                </a:lnTo>
                <a:lnTo>
                  <a:pt x="2249703" y="1472768"/>
                </a:lnTo>
                <a:lnTo>
                  <a:pt x="2286431" y="1452079"/>
                </a:lnTo>
                <a:lnTo>
                  <a:pt x="2322411" y="1430794"/>
                </a:lnTo>
                <a:lnTo>
                  <a:pt x="2357653" y="1408925"/>
                </a:lnTo>
                <a:lnTo>
                  <a:pt x="2392197" y="1386484"/>
                </a:lnTo>
                <a:lnTo>
                  <a:pt x="2426068" y="1363446"/>
                </a:lnTo>
                <a:lnTo>
                  <a:pt x="2459317" y="1339850"/>
                </a:lnTo>
                <a:lnTo>
                  <a:pt x="2491956" y="1315681"/>
                </a:lnTo>
                <a:lnTo>
                  <a:pt x="2524023" y="1290942"/>
                </a:lnTo>
                <a:lnTo>
                  <a:pt x="2555570" y="1265656"/>
                </a:lnTo>
                <a:lnTo>
                  <a:pt x="2586596" y="1239824"/>
                </a:lnTo>
                <a:lnTo>
                  <a:pt x="2617152" y="1213434"/>
                </a:lnTo>
                <a:lnTo>
                  <a:pt x="2647277" y="1186510"/>
                </a:lnTo>
                <a:lnTo>
                  <a:pt x="2676995" y="1159052"/>
                </a:lnTo>
                <a:lnTo>
                  <a:pt x="2706332" y="1131062"/>
                </a:lnTo>
                <a:lnTo>
                  <a:pt x="2735326" y="1102550"/>
                </a:lnTo>
                <a:lnTo>
                  <a:pt x="2764015" y="1073518"/>
                </a:lnTo>
                <a:lnTo>
                  <a:pt x="2792425" y="1043965"/>
                </a:lnTo>
                <a:lnTo>
                  <a:pt x="2820593" y="1013917"/>
                </a:lnTo>
                <a:lnTo>
                  <a:pt x="2848546" y="983361"/>
                </a:lnTo>
                <a:lnTo>
                  <a:pt x="2876321" y="952309"/>
                </a:lnTo>
                <a:lnTo>
                  <a:pt x="2903944" y="920750"/>
                </a:lnTo>
                <a:lnTo>
                  <a:pt x="2931452" y="888720"/>
                </a:lnTo>
                <a:lnTo>
                  <a:pt x="2958884" y="856208"/>
                </a:lnTo>
                <a:lnTo>
                  <a:pt x="2986252" y="823214"/>
                </a:lnTo>
                <a:lnTo>
                  <a:pt x="3013608" y="789749"/>
                </a:lnTo>
                <a:lnTo>
                  <a:pt x="3040977" y="755827"/>
                </a:lnTo>
                <a:lnTo>
                  <a:pt x="3068396" y="721436"/>
                </a:lnTo>
                <a:lnTo>
                  <a:pt x="3095891" y="686587"/>
                </a:lnTo>
                <a:lnTo>
                  <a:pt x="3151251" y="615569"/>
                </a:lnTo>
                <a:lnTo>
                  <a:pt x="3235693" y="505739"/>
                </a:lnTo>
                <a:lnTo>
                  <a:pt x="3265157" y="466902"/>
                </a:lnTo>
                <a:lnTo>
                  <a:pt x="3294049" y="427621"/>
                </a:lnTo>
                <a:lnTo>
                  <a:pt x="3322358" y="387908"/>
                </a:lnTo>
                <a:lnTo>
                  <a:pt x="3350082" y="347751"/>
                </a:lnTo>
                <a:lnTo>
                  <a:pt x="3377222" y="307174"/>
                </a:lnTo>
                <a:lnTo>
                  <a:pt x="3403752" y="266179"/>
                </a:lnTo>
                <a:lnTo>
                  <a:pt x="3429698" y="224764"/>
                </a:lnTo>
                <a:lnTo>
                  <a:pt x="3455022" y="182943"/>
                </a:lnTo>
                <a:lnTo>
                  <a:pt x="3479736" y="140728"/>
                </a:lnTo>
                <a:lnTo>
                  <a:pt x="3503828" y="98107"/>
                </a:lnTo>
                <a:lnTo>
                  <a:pt x="3527285" y="55092"/>
                </a:lnTo>
                <a:lnTo>
                  <a:pt x="3550120" y="11696"/>
                </a:lnTo>
                <a:lnTo>
                  <a:pt x="3556050" y="0"/>
                </a:lnTo>
                <a:close/>
              </a:path>
              <a:path w="6191250" h="4254500">
                <a:moveTo>
                  <a:pt x="6191097" y="0"/>
                </a:moveTo>
                <a:lnTo>
                  <a:pt x="4063555" y="0"/>
                </a:lnTo>
                <a:lnTo>
                  <a:pt x="4042714" y="38100"/>
                </a:lnTo>
                <a:lnTo>
                  <a:pt x="4020731" y="88900"/>
                </a:lnTo>
                <a:lnTo>
                  <a:pt x="4016502" y="101600"/>
                </a:lnTo>
                <a:lnTo>
                  <a:pt x="4008031" y="114300"/>
                </a:lnTo>
                <a:lnTo>
                  <a:pt x="4003789" y="127000"/>
                </a:lnTo>
                <a:lnTo>
                  <a:pt x="3981132" y="177800"/>
                </a:lnTo>
                <a:lnTo>
                  <a:pt x="3957396" y="228600"/>
                </a:lnTo>
                <a:lnTo>
                  <a:pt x="3932834" y="266700"/>
                </a:lnTo>
                <a:lnTo>
                  <a:pt x="3907739" y="317500"/>
                </a:lnTo>
                <a:lnTo>
                  <a:pt x="3882364" y="355600"/>
                </a:lnTo>
                <a:lnTo>
                  <a:pt x="3876459" y="368300"/>
                </a:lnTo>
                <a:lnTo>
                  <a:pt x="3865689" y="393700"/>
                </a:lnTo>
                <a:lnTo>
                  <a:pt x="3859771" y="393700"/>
                </a:lnTo>
                <a:lnTo>
                  <a:pt x="3832644" y="444500"/>
                </a:lnTo>
                <a:lnTo>
                  <a:pt x="3805377" y="482600"/>
                </a:lnTo>
                <a:lnTo>
                  <a:pt x="3777843" y="533400"/>
                </a:lnTo>
                <a:lnTo>
                  <a:pt x="3749891" y="571500"/>
                </a:lnTo>
                <a:lnTo>
                  <a:pt x="3721404" y="622300"/>
                </a:lnTo>
                <a:lnTo>
                  <a:pt x="3715486" y="622300"/>
                </a:lnTo>
                <a:lnTo>
                  <a:pt x="3704729" y="647700"/>
                </a:lnTo>
                <a:lnTo>
                  <a:pt x="3698811" y="647700"/>
                </a:lnTo>
                <a:lnTo>
                  <a:pt x="3667976" y="698500"/>
                </a:lnTo>
                <a:lnTo>
                  <a:pt x="3636467" y="736600"/>
                </a:lnTo>
                <a:lnTo>
                  <a:pt x="3604272" y="774700"/>
                </a:lnTo>
                <a:lnTo>
                  <a:pt x="3571405" y="825500"/>
                </a:lnTo>
                <a:lnTo>
                  <a:pt x="3537851" y="863600"/>
                </a:lnTo>
                <a:lnTo>
                  <a:pt x="3532200" y="863600"/>
                </a:lnTo>
                <a:lnTo>
                  <a:pt x="3529380" y="876300"/>
                </a:lnTo>
                <a:lnTo>
                  <a:pt x="3523729" y="876300"/>
                </a:lnTo>
                <a:lnTo>
                  <a:pt x="3489502" y="914400"/>
                </a:lnTo>
                <a:lnTo>
                  <a:pt x="3454603" y="965200"/>
                </a:lnTo>
                <a:lnTo>
                  <a:pt x="3419017" y="1003300"/>
                </a:lnTo>
                <a:lnTo>
                  <a:pt x="3382759" y="1041400"/>
                </a:lnTo>
                <a:lnTo>
                  <a:pt x="3345827" y="1079500"/>
                </a:lnTo>
                <a:lnTo>
                  <a:pt x="3340176" y="1092200"/>
                </a:lnTo>
                <a:lnTo>
                  <a:pt x="3337356" y="1092200"/>
                </a:lnTo>
                <a:lnTo>
                  <a:pt x="3299764" y="1130300"/>
                </a:lnTo>
                <a:lnTo>
                  <a:pt x="3261626" y="1168400"/>
                </a:lnTo>
                <a:lnTo>
                  <a:pt x="3145332" y="1282700"/>
                </a:lnTo>
                <a:lnTo>
                  <a:pt x="3119920" y="1308100"/>
                </a:lnTo>
                <a:lnTo>
                  <a:pt x="3080626" y="1333500"/>
                </a:lnTo>
                <a:lnTo>
                  <a:pt x="3000565" y="1409700"/>
                </a:lnTo>
                <a:lnTo>
                  <a:pt x="2960065" y="1435100"/>
                </a:lnTo>
                <a:lnTo>
                  <a:pt x="2919425" y="1473200"/>
                </a:lnTo>
                <a:lnTo>
                  <a:pt x="2910954" y="1473200"/>
                </a:lnTo>
                <a:lnTo>
                  <a:pt x="2902483" y="1485900"/>
                </a:lnTo>
                <a:lnTo>
                  <a:pt x="2893999" y="1485900"/>
                </a:lnTo>
                <a:lnTo>
                  <a:pt x="2885529" y="1498600"/>
                </a:lnTo>
                <a:lnTo>
                  <a:pt x="2844533" y="1524000"/>
                </a:lnTo>
                <a:lnTo>
                  <a:pt x="2802852" y="1562100"/>
                </a:lnTo>
                <a:lnTo>
                  <a:pt x="2717457" y="1612900"/>
                </a:lnTo>
                <a:lnTo>
                  <a:pt x="2673743" y="1651000"/>
                </a:lnTo>
                <a:lnTo>
                  <a:pt x="2664828" y="1651000"/>
                </a:lnTo>
                <a:lnTo>
                  <a:pt x="2655392" y="1663700"/>
                </a:lnTo>
                <a:lnTo>
                  <a:pt x="2637028" y="1663700"/>
                </a:lnTo>
                <a:lnTo>
                  <a:pt x="2592667" y="1701800"/>
                </a:lnTo>
                <a:lnTo>
                  <a:pt x="2411120" y="1803400"/>
                </a:lnTo>
                <a:lnTo>
                  <a:pt x="2403094" y="1803400"/>
                </a:lnTo>
                <a:lnTo>
                  <a:pt x="2388082" y="1816100"/>
                </a:lnTo>
                <a:lnTo>
                  <a:pt x="2380056" y="1816100"/>
                </a:lnTo>
                <a:lnTo>
                  <a:pt x="2283815" y="1866900"/>
                </a:lnTo>
                <a:lnTo>
                  <a:pt x="2184870" y="1917700"/>
                </a:lnTo>
                <a:lnTo>
                  <a:pt x="2134374" y="1943100"/>
                </a:lnTo>
                <a:lnTo>
                  <a:pt x="2123084" y="1943100"/>
                </a:lnTo>
                <a:lnTo>
                  <a:pt x="2072233" y="1968500"/>
                </a:lnTo>
                <a:lnTo>
                  <a:pt x="2021243" y="1981200"/>
                </a:lnTo>
                <a:lnTo>
                  <a:pt x="1969985" y="2006600"/>
                </a:lnTo>
                <a:lnTo>
                  <a:pt x="1918322" y="2019300"/>
                </a:lnTo>
                <a:lnTo>
                  <a:pt x="1866112" y="2044700"/>
                </a:lnTo>
                <a:lnTo>
                  <a:pt x="1843519" y="2044700"/>
                </a:lnTo>
                <a:lnTo>
                  <a:pt x="1792376" y="2070100"/>
                </a:lnTo>
                <a:lnTo>
                  <a:pt x="1636217" y="2108200"/>
                </a:lnTo>
                <a:lnTo>
                  <a:pt x="1583715" y="2133600"/>
                </a:lnTo>
                <a:lnTo>
                  <a:pt x="1554327" y="2133600"/>
                </a:lnTo>
                <a:lnTo>
                  <a:pt x="1493012" y="2159000"/>
                </a:lnTo>
                <a:lnTo>
                  <a:pt x="1441170" y="2159000"/>
                </a:lnTo>
                <a:lnTo>
                  <a:pt x="1281557" y="2197100"/>
                </a:lnTo>
                <a:lnTo>
                  <a:pt x="1247406" y="2197100"/>
                </a:lnTo>
                <a:lnTo>
                  <a:pt x="1236383" y="2209800"/>
                </a:lnTo>
                <a:lnTo>
                  <a:pt x="1183538" y="2209800"/>
                </a:lnTo>
                <a:lnTo>
                  <a:pt x="1130160" y="2222500"/>
                </a:lnTo>
                <a:lnTo>
                  <a:pt x="1076363" y="2222500"/>
                </a:lnTo>
                <a:lnTo>
                  <a:pt x="1022311" y="2235200"/>
                </a:lnTo>
                <a:lnTo>
                  <a:pt x="935151" y="2235200"/>
                </a:lnTo>
                <a:lnTo>
                  <a:pt x="922921" y="2247900"/>
                </a:lnTo>
                <a:lnTo>
                  <a:pt x="356743" y="2247900"/>
                </a:lnTo>
                <a:lnTo>
                  <a:pt x="327088" y="2235200"/>
                </a:lnTo>
                <a:lnTo>
                  <a:pt x="216954" y="2235200"/>
                </a:lnTo>
                <a:lnTo>
                  <a:pt x="89877" y="2209800"/>
                </a:lnTo>
                <a:lnTo>
                  <a:pt x="44157" y="2209800"/>
                </a:lnTo>
                <a:lnTo>
                  <a:pt x="0" y="2197100"/>
                </a:lnTo>
                <a:lnTo>
                  <a:pt x="0" y="4216400"/>
                </a:lnTo>
                <a:lnTo>
                  <a:pt x="17767" y="4216400"/>
                </a:lnTo>
                <a:lnTo>
                  <a:pt x="64820" y="4229100"/>
                </a:lnTo>
                <a:lnTo>
                  <a:pt x="159258" y="4229100"/>
                </a:lnTo>
                <a:lnTo>
                  <a:pt x="206641" y="4241800"/>
                </a:lnTo>
                <a:lnTo>
                  <a:pt x="397230" y="4241800"/>
                </a:lnTo>
                <a:lnTo>
                  <a:pt x="445135" y="4254500"/>
                </a:lnTo>
                <a:lnTo>
                  <a:pt x="857224" y="4254500"/>
                </a:lnTo>
                <a:lnTo>
                  <a:pt x="911504" y="4241800"/>
                </a:lnTo>
                <a:lnTo>
                  <a:pt x="1126159" y="4241800"/>
                </a:lnTo>
                <a:lnTo>
                  <a:pt x="1179207" y="4229100"/>
                </a:lnTo>
                <a:lnTo>
                  <a:pt x="1284592" y="4229100"/>
                </a:lnTo>
                <a:lnTo>
                  <a:pt x="1336903" y="4216400"/>
                </a:lnTo>
                <a:lnTo>
                  <a:pt x="1388986" y="4216400"/>
                </a:lnTo>
                <a:lnTo>
                  <a:pt x="1440802" y="4203700"/>
                </a:lnTo>
                <a:lnTo>
                  <a:pt x="1492389" y="4203700"/>
                </a:lnTo>
                <a:lnTo>
                  <a:pt x="1543723" y="4191000"/>
                </a:lnTo>
                <a:lnTo>
                  <a:pt x="1594815" y="4191000"/>
                </a:lnTo>
                <a:lnTo>
                  <a:pt x="1645653" y="4178300"/>
                </a:lnTo>
                <a:lnTo>
                  <a:pt x="1696237" y="4178300"/>
                </a:lnTo>
                <a:lnTo>
                  <a:pt x="1796681" y="4152900"/>
                </a:lnTo>
                <a:lnTo>
                  <a:pt x="1846516" y="4152900"/>
                </a:lnTo>
                <a:lnTo>
                  <a:pt x="2043404" y="4102100"/>
                </a:lnTo>
                <a:lnTo>
                  <a:pt x="2091994" y="4102100"/>
                </a:lnTo>
                <a:lnTo>
                  <a:pt x="2564079" y="3975100"/>
                </a:lnTo>
                <a:lnTo>
                  <a:pt x="2609888" y="3949700"/>
                </a:lnTo>
                <a:lnTo>
                  <a:pt x="2790583" y="3898900"/>
                </a:lnTo>
                <a:lnTo>
                  <a:pt x="2835110" y="3873500"/>
                </a:lnTo>
                <a:lnTo>
                  <a:pt x="2923400" y="3848100"/>
                </a:lnTo>
                <a:lnTo>
                  <a:pt x="2967164" y="3822700"/>
                </a:lnTo>
                <a:lnTo>
                  <a:pt x="3010674" y="3810000"/>
                </a:lnTo>
                <a:lnTo>
                  <a:pt x="3053918" y="3784600"/>
                </a:lnTo>
                <a:lnTo>
                  <a:pt x="3139630" y="3759200"/>
                </a:lnTo>
                <a:lnTo>
                  <a:pt x="3182099" y="3733800"/>
                </a:lnTo>
                <a:lnTo>
                  <a:pt x="3224301" y="3721100"/>
                </a:lnTo>
                <a:lnTo>
                  <a:pt x="3307931" y="3670300"/>
                </a:lnTo>
                <a:lnTo>
                  <a:pt x="3349358" y="3657600"/>
                </a:lnTo>
                <a:lnTo>
                  <a:pt x="3390519" y="3632200"/>
                </a:lnTo>
                <a:lnTo>
                  <a:pt x="3431425" y="3619500"/>
                </a:lnTo>
                <a:lnTo>
                  <a:pt x="3552558" y="3543300"/>
                </a:lnTo>
                <a:lnTo>
                  <a:pt x="3592411" y="3530600"/>
                </a:lnTo>
                <a:lnTo>
                  <a:pt x="3749192" y="3429000"/>
                </a:lnTo>
                <a:lnTo>
                  <a:pt x="3787724" y="3416300"/>
                </a:lnTo>
                <a:lnTo>
                  <a:pt x="3901719" y="3340100"/>
                </a:lnTo>
                <a:lnTo>
                  <a:pt x="4050004" y="3238500"/>
                </a:lnTo>
                <a:lnTo>
                  <a:pt x="4158399" y="3162300"/>
                </a:lnTo>
                <a:lnTo>
                  <a:pt x="4193984" y="3124200"/>
                </a:lnTo>
                <a:lnTo>
                  <a:pt x="4229316" y="3098800"/>
                </a:lnTo>
                <a:lnTo>
                  <a:pt x="4333672" y="3022600"/>
                </a:lnTo>
                <a:lnTo>
                  <a:pt x="4367923" y="2984500"/>
                </a:lnTo>
                <a:lnTo>
                  <a:pt x="4469028" y="2908300"/>
                </a:lnTo>
                <a:lnTo>
                  <a:pt x="4502188" y="2870200"/>
                </a:lnTo>
                <a:lnTo>
                  <a:pt x="4567694" y="2819400"/>
                </a:lnTo>
                <a:lnTo>
                  <a:pt x="4600029" y="2781300"/>
                </a:lnTo>
                <a:lnTo>
                  <a:pt x="4632096" y="2755900"/>
                </a:lnTo>
                <a:lnTo>
                  <a:pt x="4663897" y="2717800"/>
                </a:lnTo>
                <a:lnTo>
                  <a:pt x="4695418" y="2692400"/>
                </a:lnTo>
                <a:lnTo>
                  <a:pt x="4726660" y="2654300"/>
                </a:lnTo>
                <a:lnTo>
                  <a:pt x="4757636" y="2628900"/>
                </a:lnTo>
                <a:lnTo>
                  <a:pt x="4788319" y="2590800"/>
                </a:lnTo>
                <a:lnTo>
                  <a:pt x="4818748" y="2565400"/>
                </a:lnTo>
                <a:lnTo>
                  <a:pt x="4848885" y="2527300"/>
                </a:lnTo>
                <a:lnTo>
                  <a:pt x="4878756" y="2501900"/>
                </a:lnTo>
                <a:lnTo>
                  <a:pt x="4908347" y="2463800"/>
                </a:lnTo>
                <a:lnTo>
                  <a:pt x="4937658" y="2438400"/>
                </a:lnTo>
                <a:lnTo>
                  <a:pt x="4966690" y="2400300"/>
                </a:lnTo>
                <a:lnTo>
                  <a:pt x="4995456" y="2362200"/>
                </a:lnTo>
                <a:lnTo>
                  <a:pt x="5023929" y="2336800"/>
                </a:lnTo>
                <a:lnTo>
                  <a:pt x="5052136" y="2298700"/>
                </a:lnTo>
                <a:lnTo>
                  <a:pt x="5080051" y="2260600"/>
                </a:lnTo>
                <a:lnTo>
                  <a:pt x="5093881" y="2247900"/>
                </a:lnTo>
                <a:lnTo>
                  <a:pt x="5107698" y="2235200"/>
                </a:lnTo>
                <a:lnTo>
                  <a:pt x="5135067" y="2197100"/>
                </a:lnTo>
                <a:lnTo>
                  <a:pt x="5162143" y="2159000"/>
                </a:lnTo>
                <a:lnTo>
                  <a:pt x="5188953" y="2120900"/>
                </a:lnTo>
                <a:lnTo>
                  <a:pt x="5215471" y="2095500"/>
                </a:lnTo>
                <a:lnTo>
                  <a:pt x="5241709" y="2057400"/>
                </a:lnTo>
                <a:lnTo>
                  <a:pt x="5267680" y="2019300"/>
                </a:lnTo>
                <a:lnTo>
                  <a:pt x="5293347" y="1981200"/>
                </a:lnTo>
                <a:lnTo>
                  <a:pt x="5318747" y="1943100"/>
                </a:lnTo>
                <a:lnTo>
                  <a:pt x="5343868" y="1905000"/>
                </a:lnTo>
                <a:lnTo>
                  <a:pt x="5368696" y="1866900"/>
                </a:lnTo>
                <a:lnTo>
                  <a:pt x="5393245" y="1828800"/>
                </a:lnTo>
                <a:lnTo>
                  <a:pt x="5417502" y="1803400"/>
                </a:lnTo>
                <a:lnTo>
                  <a:pt x="5441493" y="1765300"/>
                </a:lnTo>
                <a:lnTo>
                  <a:pt x="5465178" y="1727200"/>
                </a:lnTo>
                <a:lnTo>
                  <a:pt x="5488597" y="1689100"/>
                </a:lnTo>
                <a:lnTo>
                  <a:pt x="5511724" y="1651000"/>
                </a:lnTo>
                <a:lnTo>
                  <a:pt x="5534558" y="1612900"/>
                </a:lnTo>
                <a:lnTo>
                  <a:pt x="5557113" y="1574800"/>
                </a:lnTo>
                <a:lnTo>
                  <a:pt x="5579389" y="1524000"/>
                </a:lnTo>
                <a:lnTo>
                  <a:pt x="5601373" y="1485900"/>
                </a:lnTo>
                <a:lnTo>
                  <a:pt x="5623064" y="1447800"/>
                </a:lnTo>
                <a:lnTo>
                  <a:pt x="5644477" y="1409700"/>
                </a:lnTo>
                <a:lnTo>
                  <a:pt x="5665597" y="1371600"/>
                </a:lnTo>
                <a:lnTo>
                  <a:pt x="5686425" y="1333500"/>
                </a:lnTo>
                <a:lnTo>
                  <a:pt x="5706973" y="1295400"/>
                </a:lnTo>
                <a:lnTo>
                  <a:pt x="5727230" y="1257300"/>
                </a:lnTo>
                <a:lnTo>
                  <a:pt x="5747207" y="1206500"/>
                </a:lnTo>
                <a:lnTo>
                  <a:pt x="5766879" y="1168400"/>
                </a:lnTo>
                <a:lnTo>
                  <a:pt x="5786272" y="1130300"/>
                </a:lnTo>
                <a:lnTo>
                  <a:pt x="5805373" y="1092200"/>
                </a:lnTo>
                <a:lnTo>
                  <a:pt x="5824182" y="1054100"/>
                </a:lnTo>
                <a:lnTo>
                  <a:pt x="5842698" y="1003300"/>
                </a:lnTo>
                <a:lnTo>
                  <a:pt x="5860923" y="965200"/>
                </a:lnTo>
                <a:lnTo>
                  <a:pt x="5878855" y="927100"/>
                </a:lnTo>
                <a:lnTo>
                  <a:pt x="5896495" y="876300"/>
                </a:lnTo>
                <a:lnTo>
                  <a:pt x="5913856" y="838200"/>
                </a:lnTo>
                <a:lnTo>
                  <a:pt x="5930912" y="800100"/>
                </a:lnTo>
                <a:lnTo>
                  <a:pt x="5947676" y="749300"/>
                </a:lnTo>
                <a:lnTo>
                  <a:pt x="5964148" y="711200"/>
                </a:lnTo>
                <a:lnTo>
                  <a:pt x="5980328" y="673100"/>
                </a:lnTo>
                <a:lnTo>
                  <a:pt x="5996216" y="622300"/>
                </a:lnTo>
                <a:lnTo>
                  <a:pt x="6011799" y="584200"/>
                </a:lnTo>
                <a:lnTo>
                  <a:pt x="6027102" y="546100"/>
                </a:lnTo>
                <a:lnTo>
                  <a:pt x="6042101" y="495300"/>
                </a:lnTo>
                <a:lnTo>
                  <a:pt x="6056808" y="457200"/>
                </a:lnTo>
                <a:lnTo>
                  <a:pt x="6071209" y="406400"/>
                </a:lnTo>
                <a:lnTo>
                  <a:pt x="6085332" y="368300"/>
                </a:lnTo>
                <a:lnTo>
                  <a:pt x="6099149" y="317500"/>
                </a:lnTo>
                <a:lnTo>
                  <a:pt x="6112662" y="279400"/>
                </a:lnTo>
                <a:lnTo>
                  <a:pt x="6125883" y="228600"/>
                </a:lnTo>
                <a:lnTo>
                  <a:pt x="6138811" y="190500"/>
                </a:lnTo>
                <a:lnTo>
                  <a:pt x="6151448" y="139700"/>
                </a:lnTo>
                <a:lnTo>
                  <a:pt x="6163767" y="101600"/>
                </a:lnTo>
                <a:lnTo>
                  <a:pt x="6175807" y="50800"/>
                </a:lnTo>
                <a:lnTo>
                  <a:pt x="6187529" y="12700"/>
                </a:lnTo>
                <a:lnTo>
                  <a:pt x="6191097" y="0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41781" y="2108555"/>
            <a:ext cx="6168390" cy="1799589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 marR="5080">
              <a:lnSpc>
                <a:spcPts val="6450"/>
              </a:lnSpc>
              <a:spcBef>
                <a:spcPts val="1205"/>
              </a:spcBef>
            </a:pPr>
            <a:r>
              <a:rPr sz="6250" spc="-245" dirty="0"/>
              <a:t>Benefits</a:t>
            </a:r>
            <a:r>
              <a:rPr sz="6250" spc="-484" dirty="0"/>
              <a:t> </a:t>
            </a:r>
            <a:r>
              <a:rPr sz="6250" spc="-185" dirty="0"/>
              <a:t>and</a:t>
            </a:r>
            <a:r>
              <a:rPr sz="6250" spc="-480" dirty="0"/>
              <a:t> </a:t>
            </a:r>
            <a:r>
              <a:rPr sz="6250" spc="-165" dirty="0"/>
              <a:t>Risk </a:t>
            </a:r>
            <a:r>
              <a:rPr sz="6250" spc="-125" dirty="0"/>
              <a:t>Reduction</a:t>
            </a:r>
            <a:endParaRPr sz="6250"/>
          </a:p>
        </p:txBody>
      </p:sp>
      <p:sp>
        <p:nvSpPr>
          <p:cNvPr id="7" name="object 7"/>
          <p:cNvSpPr txBox="1"/>
          <p:nvPr/>
        </p:nvSpPr>
        <p:spPr>
          <a:xfrm>
            <a:off x="2732175" y="6440810"/>
            <a:ext cx="1566545" cy="399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50" b="1" spc="-90" dirty="0">
                <a:solidFill>
                  <a:srgbClr val="FFFFFF"/>
                </a:solidFill>
                <a:latin typeface="Arial"/>
                <a:cs typeface="Arial"/>
              </a:rPr>
              <a:t>Drawbacks</a:t>
            </a:r>
            <a:endParaRPr sz="24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66997" y="6562727"/>
            <a:ext cx="2583815" cy="445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b="1" spc="-114" dirty="0">
                <a:solidFill>
                  <a:srgbClr val="FFFFFF"/>
                </a:solidFill>
                <a:latin typeface="Arial"/>
                <a:cs typeface="Arial"/>
              </a:rPr>
              <a:t>Quantified</a:t>
            </a:r>
            <a:r>
              <a:rPr sz="2750" b="1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50" b="1" spc="-65" dirty="0">
                <a:solidFill>
                  <a:srgbClr val="FFFFFF"/>
                </a:solidFill>
                <a:latin typeface="Arial"/>
                <a:cs typeface="Arial"/>
              </a:rPr>
              <a:t>Wins:</a:t>
            </a:r>
            <a:endParaRPr sz="27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40072" y="7054174"/>
            <a:ext cx="40386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Initial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setup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complexity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requires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policy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tuning.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360671" y="37398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60671" y="42922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360671" y="48447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166996" y="3049928"/>
            <a:ext cx="5029835" cy="2200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50" b="1" spc="-10" dirty="0">
                <a:solidFill>
                  <a:srgbClr val="FFFFFF"/>
                </a:solidFill>
                <a:latin typeface="Arial"/>
                <a:cs typeface="Arial"/>
              </a:rPr>
              <a:t>Benefits:</a:t>
            </a:r>
            <a:endParaRPr sz="2450">
              <a:latin typeface="Arial"/>
              <a:cs typeface="Arial"/>
            </a:endParaRPr>
          </a:p>
          <a:p>
            <a:pPr marL="352425" marR="5080">
              <a:lnSpc>
                <a:spcPct val="116900"/>
              </a:lnSpc>
              <a:spcBef>
                <a:spcPts val="1120"/>
              </a:spcBef>
            </a:pP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75%+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cost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savings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vs.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traditional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clouds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(via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efficient perimeters).</a:t>
            </a:r>
            <a:endParaRPr sz="1550">
              <a:latin typeface="Arial MT"/>
              <a:cs typeface="Arial MT"/>
            </a:endParaRPr>
          </a:p>
          <a:p>
            <a:pPr marL="352425" marR="99060">
              <a:lnSpc>
                <a:spcPct val="116900"/>
              </a:lnSpc>
            </a:pP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Enhanced</a:t>
            </a:r>
            <a:r>
              <a:rPr sz="15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resilience:</a:t>
            </a:r>
            <a:r>
              <a:rPr sz="15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NIST-aligned;</a:t>
            </a:r>
            <a:r>
              <a:rPr sz="15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proactive</a:t>
            </a:r>
            <a:r>
              <a:rPr sz="15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threat detection.</a:t>
            </a:r>
            <a:endParaRPr sz="1550">
              <a:latin typeface="Arial MT"/>
              <a:cs typeface="Arial MT"/>
            </a:endParaRPr>
          </a:p>
          <a:p>
            <a:pPr marL="352425" marR="77470">
              <a:lnSpc>
                <a:spcPct val="116900"/>
              </a:lnSpc>
              <a:spcBef>
                <a:spcPts val="5"/>
              </a:spcBef>
            </a:pP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Business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Impact:</a:t>
            </a:r>
            <a:r>
              <a:rPr sz="15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Prioritized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risks</a:t>
            </a:r>
            <a:r>
              <a:rPr sz="15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visualizations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CISOs.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18453" y="7302215"/>
            <a:ext cx="5039360" cy="577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900"/>
              </a:lnSpc>
              <a:spcBef>
                <a:spcPts val="95"/>
              </a:spcBef>
            </a:pP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Min.</a:t>
            </a:r>
            <a:r>
              <a:rPr sz="15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retweets/faves</a:t>
            </a:r>
            <a:r>
              <a:rPr sz="15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5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engagements;</a:t>
            </a:r>
            <a:r>
              <a:rPr sz="15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real-time</a:t>
            </a:r>
            <a:r>
              <a:rPr sz="15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5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mobile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CPUs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5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sparse</a:t>
            </a:r>
            <a:r>
              <a:rPr sz="15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models.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80955" y="4268470"/>
            <a:ext cx="4019550" cy="781050"/>
            <a:chOff x="4280955" y="4268470"/>
            <a:chExt cx="4019550" cy="781050"/>
          </a:xfrm>
        </p:grpSpPr>
        <p:sp>
          <p:nvSpPr>
            <p:cNvPr id="3" name="object 3"/>
            <p:cNvSpPr/>
            <p:nvPr/>
          </p:nvSpPr>
          <p:spPr>
            <a:xfrm>
              <a:off x="4290480" y="4277995"/>
              <a:ext cx="4000500" cy="762000"/>
            </a:xfrm>
            <a:custGeom>
              <a:avLst/>
              <a:gdLst/>
              <a:ahLst/>
              <a:cxnLst/>
              <a:rect l="l" t="t" r="r" b="b"/>
              <a:pathLst>
                <a:path w="4000500" h="762000">
                  <a:moveTo>
                    <a:pt x="4000127" y="426578"/>
                  </a:moveTo>
                  <a:lnTo>
                    <a:pt x="3990675" y="491325"/>
                  </a:lnTo>
                  <a:lnTo>
                    <a:pt x="3976444" y="541937"/>
                  </a:lnTo>
                  <a:lnTo>
                    <a:pt x="3957274" y="588803"/>
                  </a:lnTo>
                  <a:lnTo>
                    <a:pt x="3933601" y="631333"/>
                  </a:lnTo>
                  <a:lnTo>
                    <a:pt x="3905860" y="668938"/>
                  </a:lnTo>
                  <a:lnTo>
                    <a:pt x="3874485" y="701029"/>
                  </a:lnTo>
                  <a:lnTo>
                    <a:pt x="3839912" y="727014"/>
                  </a:lnTo>
                  <a:lnTo>
                    <a:pt x="3802575" y="746305"/>
                  </a:lnTo>
                  <a:lnTo>
                    <a:pt x="3762910" y="758313"/>
                  </a:lnTo>
                  <a:lnTo>
                    <a:pt x="3725841" y="761999"/>
                  </a:lnTo>
                </a:path>
                <a:path w="4000500" h="762000">
                  <a:moveTo>
                    <a:pt x="276740" y="761999"/>
                  </a:moveTo>
                  <a:lnTo>
                    <a:pt x="200006" y="746305"/>
                  </a:lnTo>
                  <a:lnTo>
                    <a:pt x="162670" y="727014"/>
                  </a:lnTo>
                  <a:lnTo>
                    <a:pt x="128096" y="701028"/>
                  </a:lnTo>
                  <a:lnTo>
                    <a:pt x="96722" y="668938"/>
                  </a:lnTo>
                  <a:lnTo>
                    <a:pt x="68980" y="631333"/>
                  </a:lnTo>
                  <a:lnTo>
                    <a:pt x="45307" y="588803"/>
                  </a:lnTo>
                  <a:lnTo>
                    <a:pt x="26138" y="541937"/>
                  </a:lnTo>
                  <a:lnTo>
                    <a:pt x="11906" y="491325"/>
                  </a:lnTo>
                  <a:lnTo>
                    <a:pt x="3049" y="437557"/>
                  </a:lnTo>
                  <a:lnTo>
                    <a:pt x="0" y="381223"/>
                  </a:lnTo>
                  <a:lnTo>
                    <a:pt x="3049" y="324888"/>
                  </a:lnTo>
                  <a:lnTo>
                    <a:pt x="11907" y="271120"/>
                  </a:lnTo>
                  <a:lnTo>
                    <a:pt x="26138" y="220509"/>
                  </a:lnTo>
                  <a:lnTo>
                    <a:pt x="45307" y="173643"/>
                  </a:lnTo>
                  <a:lnTo>
                    <a:pt x="68980" y="131112"/>
                  </a:lnTo>
                  <a:lnTo>
                    <a:pt x="96722" y="93507"/>
                  </a:lnTo>
                  <a:lnTo>
                    <a:pt x="128097" y="61417"/>
                  </a:lnTo>
                  <a:lnTo>
                    <a:pt x="162670" y="35431"/>
                  </a:lnTo>
                  <a:lnTo>
                    <a:pt x="200006" y="16140"/>
                  </a:lnTo>
                  <a:lnTo>
                    <a:pt x="239671" y="4133"/>
                  </a:lnTo>
                  <a:lnTo>
                    <a:pt x="281229" y="0"/>
                  </a:lnTo>
                  <a:lnTo>
                    <a:pt x="3721352" y="0"/>
                  </a:lnTo>
                  <a:lnTo>
                    <a:pt x="3762910" y="4133"/>
                  </a:lnTo>
                  <a:lnTo>
                    <a:pt x="3802575" y="16140"/>
                  </a:lnTo>
                  <a:lnTo>
                    <a:pt x="3839911" y="35431"/>
                  </a:lnTo>
                  <a:lnTo>
                    <a:pt x="3874485" y="61417"/>
                  </a:lnTo>
                  <a:lnTo>
                    <a:pt x="3905860" y="93507"/>
                  </a:lnTo>
                  <a:lnTo>
                    <a:pt x="3933601" y="131112"/>
                  </a:lnTo>
                  <a:lnTo>
                    <a:pt x="3957274" y="173643"/>
                  </a:lnTo>
                  <a:lnTo>
                    <a:pt x="3976444" y="220509"/>
                  </a:lnTo>
                  <a:lnTo>
                    <a:pt x="3990675" y="271120"/>
                  </a:lnTo>
                  <a:lnTo>
                    <a:pt x="3999532" y="324888"/>
                  </a:lnTo>
                  <a:lnTo>
                    <a:pt x="4000127" y="335868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875795" y="4417427"/>
              <a:ext cx="152400" cy="283845"/>
            </a:xfrm>
            <a:custGeom>
              <a:avLst/>
              <a:gdLst/>
              <a:ahLst/>
              <a:cxnLst/>
              <a:rect l="l" t="t" r="r" b="b"/>
              <a:pathLst>
                <a:path w="152400" h="283845">
                  <a:moveTo>
                    <a:pt x="152110" y="141915"/>
                  </a:moveTo>
                  <a:lnTo>
                    <a:pt x="8696" y="283630"/>
                  </a:lnTo>
                  <a:lnTo>
                    <a:pt x="0" y="274829"/>
                  </a:lnTo>
                  <a:lnTo>
                    <a:pt x="134517" y="141906"/>
                  </a:lnTo>
                  <a:lnTo>
                    <a:pt x="98" y="8791"/>
                  </a:lnTo>
                  <a:lnTo>
                    <a:pt x="8804" y="0"/>
                  </a:lnTo>
                  <a:lnTo>
                    <a:pt x="152110" y="1419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820025" y="4407484"/>
            <a:ext cx="1663064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Policy</a:t>
            </a:r>
            <a:r>
              <a:rPr sz="18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Overload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483019" y="4258767"/>
            <a:ext cx="4000500" cy="800100"/>
          </a:xfrm>
          <a:custGeom>
            <a:avLst/>
            <a:gdLst/>
            <a:ahLst/>
            <a:cxnLst/>
            <a:rect l="l" t="t" r="r" b="b"/>
            <a:pathLst>
              <a:path w="4000500" h="800100">
                <a:moveTo>
                  <a:pt x="4000369" y="455740"/>
                </a:moveTo>
                <a:lnTo>
                  <a:pt x="3993019" y="506964"/>
                </a:lnTo>
                <a:lnTo>
                  <a:pt x="3980963" y="556387"/>
                </a:lnTo>
                <a:lnTo>
                  <a:pt x="3964665" y="602634"/>
                </a:lnTo>
                <a:lnTo>
                  <a:pt x="3944461" y="645227"/>
                </a:lnTo>
                <a:lnTo>
                  <a:pt x="3920686" y="683690"/>
                </a:lnTo>
                <a:lnTo>
                  <a:pt x="3893674" y="717544"/>
                </a:lnTo>
                <a:lnTo>
                  <a:pt x="3863762" y="746313"/>
                </a:lnTo>
                <a:lnTo>
                  <a:pt x="3831283" y="769520"/>
                </a:lnTo>
                <a:lnTo>
                  <a:pt x="3796574" y="786686"/>
                </a:lnTo>
                <a:lnTo>
                  <a:pt x="3759968" y="797336"/>
                </a:lnTo>
                <a:lnTo>
                  <a:pt x="3731125" y="800099"/>
                </a:lnTo>
              </a:path>
              <a:path w="4000500" h="800100">
                <a:moveTo>
                  <a:pt x="271941" y="800099"/>
                </a:moveTo>
                <a:lnTo>
                  <a:pt x="206492" y="786686"/>
                </a:lnTo>
                <a:lnTo>
                  <a:pt x="171782" y="769519"/>
                </a:lnTo>
                <a:lnTo>
                  <a:pt x="139304" y="746313"/>
                </a:lnTo>
                <a:lnTo>
                  <a:pt x="109391" y="717544"/>
                </a:lnTo>
                <a:lnTo>
                  <a:pt x="82380" y="683690"/>
                </a:lnTo>
                <a:lnTo>
                  <a:pt x="58604" y="645227"/>
                </a:lnTo>
                <a:lnTo>
                  <a:pt x="38400" y="602634"/>
                </a:lnTo>
                <a:lnTo>
                  <a:pt x="22103" y="556387"/>
                </a:lnTo>
                <a:lnTo>
                  <a:pt x="10046" y="506964"/>
                </a:lnTo>
                <a:lnTo>
                  <a:pt x="2567" y="454841"/>
                </a:lnTo>
                <a:lnTo>
                  <a:pt x="0" y="400496"/>
                </a:lnTo>
                <a:lnTo>
                  <a:pt x="2567" y="346151"/>
                </a:lnTo>
                <a:lnTo>
                  <a:pt x="10046" y="294028"/>
                </a:lnTo>
                <a:lnTo>
                  <a:pt x="22103" y="244605"/>
                </a:lnTo>
                <a:lnTo>
                  <a:pt x="38400" y="198358"/>
                </a:lnTo>
                <a:lnTo>
                  <a:pt x="58604" y="155765"/>
                </a:lnTo>
                <a:lnTo>
                  <a:pt x="82380" y="117302"/>
                </a:lnTo>
                <a:lnTo>
                  <a:pt x="109391" y="83448"/>
                </a:lnTo>
                <a:lnTo>
                  <a:pt x="139304" y="54679"/>
                </a:lnTo>
                <a:lnTo>
                  <a:pt x="171782" y="31473"/>
                </a:lnTo>
                <a:lnTo>
                  <a:pt x="206492" y="14306"/>
                </a:lnTo>
                <a:lnTo>
                  <a:pt x="243097" y="3656"/>
                </a:lnTo>
                <a:lnTo>
                  <a:pt x="281263" y="0"/>
                </a:lnTo>
                <a:lnTo>
                  <a:pt x="3721802" y="0"/>
                </a:lnTo>
                <a:lnTo>
                  <a:pt x="3759968" y="3655"/>
                </a:lnTo>
                <a:lnTo>
                  <a:pt x="3796574" y="14305"/>
                </a:lnTo>
                <a:lnTo>
                  <a:pt x="3831283" y="31472"/>
                </a:lnTo>
                <a:lnTo>
                  <a:pt x="3863762" y="54679"/>
                </a:lnTo>
                <a:lnTo>
                  <a:pt x="3893674" y="83448"/>
                </a:lnTo>
                <a:lnTo>
                  <a:pt x="3920686" y="117302"/>
                </a:lnTo>
                <a:lnTo>
                  <a:pt x="3944461" y="155764"/>
                </a:lnTo>
                <a:lnTo>
                  <a:pt x="3964665" y="198358"/>
                </a:lnTo>
                <a:lnTo>
                  <a:pt x="3980963" y="244605"/>
                </a:lnTo>
                <a:lnTo>
                  <a:pt x="3993019" y="294028"/>
                </a:lnTo>
                <a:lnTo>
                  <a:pt x="4000369" y="345252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6051" rIns="0" bIns="0" rtlCol="0">
            <a:spAutoFit/>
          </a:bodyPr>
          <a:lstStyle/>
          <a:p>
            <a:pPr marL="478155">
              <a:lnSpc>
                <a:spcPct val="100000"/>
              </a:lnSpc>
              <a:spcBef>
                <a:spcPts val="125"/>
              </a:spcBef>
            </a:pPr>
            <a:r>
              <a:rPr sz="4050" dirty="0"/>
              <a:t>Challenges</a:t>
            </a:r>
            <a:r>
              <a:rPr sz="4050" spc="-15" dirty="0"/>
              <a:t> </a:t>
            </a:r>
            <a:r>
              <a:rPr sz="4050" dirty="0"/>
              <a:t>and</a:t>
            </a:r>
            <a:r>
              <a:rPr sz="4050" spc="-5" dirty="0"/>
              <a:t> </a:t>
            </a:r>
            <a:r>
              <a:rPr sz="4050" dirty="0"/>
              <a:t>Best </a:t>
            </a:r>
            <a:r>
              <a:rPr sz="4050" spc="-10" dirty="0"/>
              <a:t>Practices</a:t>
            </a:r>
            <a:endParaRPr sz="4050"/>
          </a:p>
        </p:txBody>
      </p:sp>
      <p:grpSp>
        <p:nvGrpSpPr>
          <p:cNvPr id="8" name="object 8"/>
          <p:cNvGrpSpPr/>
          <p:nvPr/>
        </p:nvGrpSpPr>
        <p:grpSpPr>
          <a:xfrm>
            <a:off x="4280955" y="5474583"/>
            <a:ext cx="4019550" cy="781050"/>
            <a:chOff x="4280955" y="5474583"/>
            <a:chExt cx="4019550" cy="781050"/>
          </a:xfrm>
        </p:grpSpPr>
        <p:sp>
          <p:nvSpPr>
            <p:cNvPr id="9" name="object 9"/>
            <p:cNvSpPr/>
            <p:nvPr/>
          </p:nvSpPr>
          <p:spPr>
            <a:xfrm>
              <a:off x="4290480" y="5484108"/>
              <a:ext cx="4000500" cy="762000"/>
            </a:xfrm>
            <a:custGeom>
              <a:avLst/>
              <a:gdLst/>
              <a:ahLst/>
              <a:cxnLst/>
              <a:rect l="l" t="t" r="r" b="b"/>
              <a:pathLst>
                <a:path w="4000500" h="762000">
                  <a:moveTo>
                    <a:pt x="4000127" y="426578"/>
                  </a:moveTo>
                  <a:lnTo>
                    <a:pt x="3990675" y="491325"/>
                  </a:lnTo>
                  <a:lnTo>
                    <a:pt x="3976444" y="541937"/>
                  </a:lnTo>
                  <a:lnTo>
                    <a:pt x="3957274" y="588803"/>
                  </a:lnTo>
                  <a:lnTo>
                    <a:pt x="3933601" y="631333"/>
                  </a:lnTo>
                  <a:lnTo>
                    <a:pt x="3905860" y="668938"/>
                  </a:lnTo>
                  <a:lnTo>
                    <a:pt x="3874485" y="701029"/>
                  </a:lnTo>
                  <a:lnTo>
                    <a:pt x="3839912" y="727014"/>
                  </a:lnTo>
                  <a:lnTo>
                    <a:pt x="3802575" y="746305"/>
                  </a:lnTo>
                  <a:lnTo>
                    <a:pt x="3762910" y="758313"/>
                  </a:lnTo>
                  <a:lnTo>
                    <a:pt x="3725842" y="761999"/>
                  </a:lnTo>
                </a:path>
                <a:path w="4000500" h="762000">
                  <a:moveTo>
                    <a:pt x="276739" y="761999"/>
                  </a:moveTo>
                  <a:lnTo>
                    <a:pt x="200006" y="746305"/>
                  </a:lnTo>
                  <a:lnTo>
                    <a:pt x="162670" y="727014"/>
                  </a:lnTo>
                  <a:lnTo>
                    <a:pt x="128096" y="701028"/>
                  </a:lnTo>
                  <a:lnTo>
                    <a:pt x="96722" y="668938"/>
                  </a:lnTo>
                  <a:lnTo>
                    <a:pt x="68980" y="631333"/>
                  </a:lnTo>
                  <a:lnTo>
                    <a:pt x="45307" y="588803"/>
                  </a:lnTo>
                  <a:lnTo>
                    <a:pt x="26138" y="541937"/>
                  </a:lnTo>
                  <a:lnTo>
                    <a:pt x="11906" y="491325"/>
                  </a:lnTo>
                  <a:lnTo>
                    <a:pt x="3049" y="437557"/>
                  </a:lnTo>
                  <a:lnTo>
                    <a:pt x="0" y="381223"/>
                  </a:lnTo>
                  <a:lnTo>
                    <a:pt x="3049" y="324888"/>
                  </a:lnTo>
                  <a:lnTo>
                    <a:pt x="11906" y="271120"/>
                  </a:lnTo>
                  <a:lnTo>
                    <a:pt x="26138" y="220509"/>
                  </a:lnTo>
                  <a:lnTo>
                    <a:pt x="45307" y="173643"/>
                  </a:lnTo>
                  <a:lnTo>
                    <a:pt x="68980" y="131112"/>
                  </a:lnTo>
                  <a:lnTo>
                    <a:pt x="96722" y="93507"/>
                  </a:lnTo>
                  <a:lnTo>
                    <a:pt x="128097" y="61417"/>
                  </a:lnTo>
                  <a:lnTo>
                    <a:pt x="162670" y="35431"/>
                  </a:lnTo>
                  <a:lnTo>
                    <a:pt x="200006" y="16140"/>
                  </a:lnTo>
                  <a:lnTo>
                    <a:pt x="239671" y="4133"/>
                  </a:lnTo>
                  <a:lnTo>
                    <a:pt x="281229" y="0"/>
                  </a:lnTo>
                  <a:lnTo>
                    <a:pt x="3721352" y="0"/>
                  </a:lnTo>
                  <a:lnTo>
                    <a:pt x="3762910" y="4133"/>
                  </a:lnTo>
                  <a:lnTo>
                    <a:pt x="3802575" y="16140"/>
                  </a:lnTo>
                  <a:lnTo>
                    <a:pt x="3839911" y="35431"/>
                  </a:lnTo>
                  <a:lnTo>
                    <a:pt x="3874485" y="61417"/>
                  </a:lnTo>
                  <a:lnTo>
                    <a:pt x="3905860" y="93507"/>
                  </a:lnTo>
                  <a:lnTo>
                    <a:pt x="3933601" y="131112"/>
                  </a:lnTo>
                  <a:lnTo>
                    <a:pt x="3957274" y="173643"/>
                  </a:lnTo>
                  <a:lnTo>
                    <a:pt x="3976444" y="220508"/>
                  </a:lnTo>
                  <a:lnTo>
                    <a:pt x="3990675" y="271120"/>
                  </a:lnTo>
                  <a:lnTo>
                    <a:pt x="3999532" y="324888"/>
                  </a:lnTo>
                  <a:lnTo>
                    <a:pt x="4000127" y="335868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75795" y="5623539"/>
              <a:ext cx="152400" cy="283845"/>
            </a:xfrm>
            <a:custGeom>
              <a:avLst/>
              <a:gdLst/>
              <a:ahLst/>
              <a:cxnLst/>
              <a:rect l="l" t="t" r="r" b="b"/>
              <a:pathLst>
                <a:path w="152400" h="283845">
                  <a:moveTo>
                    <a:pt x="152110" y="141915"/>
                  </a:moveTo>
                  <a:lnTo>
                    <a:pt x="8696" y="283630"/>
                  </a:lnTo>
                  <a:lnTo>
                    <a:pt x="0" y="274829"/>
                  </a:lnTo>
                  <a:lnTo>
                    <a:pt x="134517" y="141906"/>
                  </a:lnTo>
                  <a:lnTo>
                    <a:pt x="98" y="8791"/>
                  </a:lnTo>
                  <a:lnTo>
                    <a:pt x="8804" y="0"/>
                  </a:lnTo>
                  <a:lnTo>
                    <a:pt x="152110" y="1419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20025" y="5613598"/>
            <a:ext cx="1949450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Integration</a:t>
            </a:r>
            <a:r>
              <a:rPr sz="18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Legacy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483019" y="5464879"/>
            <a:ext cx="4000500" cy="800100"/>
          </a:xfrm>
          <a:custGeom>
            <a:avLst/>
            <a:gdLst/>
            <a:ahLst/>
            <a:cxnLst/>
            <a:rect l="l" t="t" r="r" b="b"/>
            <a:pathLst>
              <a:path w="4000500" h="800100">
                <a:moveTo>
                  <a:pt x="4000369" y="455740"/>
                </a:moveTo>
                <a:lnTo>
                  <a:pt x="3993019" y="506964"/>
                </a:lnTo>
                <a:lnTo>
                  <a:pt x="3980963" y="556387"/>
                </a:lnTo>
                <a:lnTo>
                  <a:pt x="3964665" y="602634"/>
                </a:lnTo>
                <a:lnTo>
                  <a:pt x="3944461" y="645227"/>
                </a:lnTo>
                <a:lnTo>
                  <a:pt x="3920686" y="683690"/>
                </a:lnTo>
                <a:lnTo>
                  <a:pt x="3893674" y="717544"/>
                </a:lnTo>
                <a:lnTo>
                  <a:pt x="3863762" y="746313"/>
                </a:lnTo>
                <a:lnTo>
                  <a:pt x="3831283" y="769520"/>
                </a:lnTo>
                <a:lnTo>
                  <a:pt x="3796574" y="786687"/>
                </a:lnTo>
                <a:lnTo>
                  <a:pt x="3759968" y="797337"/>
                </a:lnTo>
                <a:lnTo>
                  <a:pt x="3731126" y="800099"/>
                </a:lnTo>
              </a:path>
              <a:path w="4000500" h="800100">
                <a:moveTo>
                  <a:pt x="271940" y="800099"/>
                </a:moveTo>
                <a:lnTo>
                  <a:pt x="206492" y="786686"/>
                </a:lnTo>
                <a:lnTo>
                  <a:pt x="171782" y="769519"/>
                </a:lnTo>
                <a:lnTo>
                  <a:pt x="139304" y="746313"/>
                </a:lnTo>
                <a:lnTo>
                  <a:pt x="109391" y="717544"/>
                </a:lnTo>
                <a:lnTo>
                  <a:pt x="82379" y="683690"/>
                </a:lnTo>
                <a:lnTo>
                  <a:pt x="58604" y="645227"/>
                </a:lnTo>
                <a:lnTo>
                  <a:pt x="38400" y="602634"/>
                </a:lnTo>
                <a:lnTo>
                  <a:pt x="22103" y="556387"/>
                </a:lnTo>
                <a:lnTo>
                  <a:pt x="10046" y="506964"/>
                </a:lnTo>
                <a:lnTo>
                  <a:pt x="2567" y="454841"/>
                </a:lnTo>
                <a:lnTo>
                  <a:pt x="0" y="400496"/>
                </a:lnTo>
                <a:lnTo>
                  <a:pt x="2567" y="346151"/>
                </a:lnTo>
                <a:lnTo>
                  <a:pt x="10046" y="294028"/>
                </a:lnTo>
                <a:lnTo>
                  <a:pt x="22103" y="244605"/>
                </a:lnTo>
                <a:lnTo>
                  <a:pt x="38400" y="198358"/>
                </a:lnTo>
                <a:lnTo>
                  <a:pt x="58604" y="155765"/>
                </a:lnTo>
                <a:lnTo>
                  <a:pt x="82380" y="117302"/>
                </a:lnTo>
                <a:lnTo>
                  <a:pt x="109391" y="83448"/>
                </a:lnTo>
                <a:lnTo>
                  <a:pt x="139304" y="54679"/>
                </a:lnTo>
                <a:lnTo>
                  <a:pt x="171782" y="31473"/>
                </a:lnTo>
                <a:lnTo>
                  <a:pt x="206492" y="14306"/>
                </a:lnTo>
                <a:lnTo>
                  <a:pt x="243097" y="3656"/>
                </a:lnTo>
                <a:lnTo>
                  <a:pt x="281263" y="0"/>
                </a:lnTo>
                <a:lnTo>
                  <a:pt x="3721802" y="0"/>
                </a:lnTo>
                <a:lnTo>
                  <a:pt x="3759968" y="3655"/>
                </a:lnTo>
                <a:lnTo>
                  <a:pt x="3796574" y="14305"/>
                </a:lnTo>
                <a:lnTo>
                  <a:pt x="3831283" y="31472"/>
                </a:lnTo>
                <a:lnTo>
                  <a:pt x="3863762" y="54679"/>
                </a:lnTo>
                <a:lnTo>
                  <a:pt x="3893674" y="83448"/>
                </a:lnTo>
                <a:lnTo>
                  <a:pt x="3920686" y="117302"/>
                </a:lnTo>
                <a:lnTo>
                  <a:pt x="3944461" y="155764"/>
                </a:lnTo>
                <a:lnTo>
                  <a:pt x="3964665" y="198358"/>
                </a:lnTo>
                <a:lnTo>
                  <a:pt x="3980963" y="244605"/>
                </a:lnTo>
                <a:lnTo>
                  <a:pt x="3993019" y="294028"/>
                </a:lnTo>
                <a:lnTo>
                  <a:pt x="4000369" y="345252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4280955" y="6685204"/>
            <a:ext cx="4019550" cy="781050"/>
            <a:chOff x="4280955" y="6685204"/>
            <a:chExt cx="4019550" cy="781050"/>
          </a:xfrm>
        </p:grpSpPr>
        <p:sp>
          <p:nvSpPr>
            <p:cNvPr id="14" name="object 14"/>
            <p:cNvSpPr/>
            <p:nvPr/>
          </p:nvSpPr>
          <p:spPr>
            <a:xfrm>
              <a:off x="4290480" y="6694729"/>
              <a:ext cx="4000500" cy="762000"/>
            </a:xfrm>
            <a:custGeom>
              <a:avLst/>
              <a:gdLst/>
              <a:ahLst/>
              <a:cxnLst/>
              <a:rect l="l" t="t" r="r" b="b"/>
              <a:pathLst>
                <a:path w="4000500" h="762000">
                  <a:moveTo>
                    <a:pt x="4000127" y="426578"/>
                  </a:moveTo>
                  <a:lnTo>
                    <a:pt x="3990675" y="491325"/>
                  </a:lnTo>
                  <a:lnTo>
                    <a:pt x="3976444" y="541937"/>
                  </a:lnTo>
                  <a:lnTo>
                    <a:pt x="3957274" y="588803"/>
                  </a:lnTo>
                  <a:lnTo>
                    <a:pt x="3933601" y="631333"/>
                  </a:lnTo>
                  <a:lnTo>
                    <a:pt x="3905860" y="668938"/>
                  </a:lnTo>
                  <a:lnTo>
                    <a:pt x="3874485" y="701029"/>
                  </a:lnTo>
                  <a:lnTo>
                    <a:pt x="3839912" y="727014"/>
                  </a:lnTo>
                  <a:lnTo>
                    <a:pt x="3802575" y="746305"/>
                  </a:lnTo>
                  <a:lnTo>
                    <a:pt x="3762910" y="758313"/>
                  </a:lnTo>
                  <a:lnTo>
                    <a:pt x="3725842" y="761999"/>
                  </a:lnTo>
                </a:path>
                <a:path w="4000500" h="762000">
                  <a:moveTo>
                    <a:pt x="276739" y="761999"/>
                  </a:moveTo>
                  <a:lnTo>
                    <a:pt x="200006" y="746305"/>
                  </a:lnTo>
                  <a:lnTo>
                    <a:pt x="162670" y="727014"/>
                  </a:lnTo>
                  <a:lnTo>
                    <a:pt x="128096" y="701028"/>
                  </a:lnTo>
                  <a:lnTo>
                    <a:pt x="96722" y="668938"/>
                  </a:lnTo>
                  <a:lnTo>
                    <a:pt x="68980" y="631333"/>
                  </a:lnTo>
                  <a:lnTo>
                    <a:pt x="45307" y="588803"/>
                  </a:lnTo>
                  <a:lnTo>
                    <a:pt x="26138" y="541937"/>
                  </a:lnTo>
                  <a:lnTo>
                    <a:pt x="11906" y="491325"/>
                  </a:lnTo>
                  <a:lnTo>
                    <a:pt x="3049" y="437557"/>
                  </a:lnTo>
                  <a:lnTo>
                    <a:pt x="0" y="381223"/>
                  </a:lnTo>
                  <a:lnTo>
                    <a:pt x="3049" y="324888"/>
                  </a:lnTo>
                  <a:lnTo>
                    <a:pt x="11906" y="271120"/>
                  </a:lnTo>
                  <a:lnTo>
                    <a:pt x="26138" y="220509"/>
                  </a:lnTo>
                  <a:lnTo>
                    <a:pt x="45307" y="173643"/>
                  </a:lnTo>
                  <a:lnTo>
                    <a:pt x="68980" y="131112"/>
                  </a:lnTo>
                  <a:lnTo>
                    <a:pt x="96722" y="93507"/>
                  </a:lnTo>
                  <a:lnTo>
                    <a:pt x="128097" y="61417"/>
                  </a:lnTo>
                  <a:lnTo>
                    <a:pt x="162670" y="35431"/>
                  </a:lnTo>
                  <a:lnTo>
                    <a:pt x="200006" y="16140"/>
                  </a:lnTo>
                  <a:lnTo>
                    <a:pt x="239671" y="4133"/>
                  </a:lnTo>
                  <a:lnTo>
                    <a:pt x="281229" y="0"/>
                  </a:lnTo>
                  <a:lnTo>
                    <a:pt x="3721352" y="0"/>
                  </a:lnTo>
                  <a:lnTo>
                    <a:pt x="3762910" y="4133"/>
                  </a:lnTo>
                  <a:lnTo>
                    <a:pt x="3802575" y="16140"/>
                  </a:lnTo>
                  <a:lnTo>
                    <a:pt x="3839911" y="35431"/>
                  </a:lnTo>
                  <a:lnTo>
                    <a:pt x="3874485" y="61417"/>
                  </a:lnTo>
                  <a:lnTo>
                    <a:pt x="3905860" y="93507"/>
                  </a:lnTo>
                  <a:lnTo>
                    <a:pt x="3933601" y="131112"/>
                  </a:lnTo>
                  <a:lnTo>
                    <a:pt x="3957274" y="173642"/>
                  </a:lnTo>
                  <a:lnTo>
                    <a:pt x="3976444" y="220508"/>
                  </a:lnTo>
                  <a:lnTo>
                    <a:pt x="3990675" y="271120"/>
                  </a:lnTo>
                  <a:lnTo>
                    <a:pt x="3999532" y="324888"/>
                  </a:lnTo>
                  <a:lnTo>
                    <a:pt x="4000127" y="335868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75795" y="6834160"/>
              <a:ext cx="152400" cy="283845"/>
            </a:xfrm>
            <a:custGeom>
              <a:avLst/>
              <a:gdLst/>
              <a:ahLst/>
              <a:cxnLst/>
              <a:rect l="l" t="t" r="r" b="b"/>
              <a:pathLst>
                <a:path w="152400" h="283845">
                  <a:moveTo>
                    <a:pt x="152110" y="141915"/>
                  </a:moveTo>
                  <a:lnTo>
                    <a:pt x="8696" y="283630"/>
                  </a:lnTo>
                  <a:lnTo>
                    <a:pt x="0" y="274829"/>
                  </a:lnTo>
                  <a:lnTo>
                    <a:pt x="134517" y="141906"/>
                  </a:lnTo>
                  <a:lnTo>
                    <a:pt x="98" y="8791"/>
                  </a:lnTo>
                  <a:lnTo>
                    <a:pt x="8804" y="0"/>
                  </a:lnTo>
                  <a:lnTo>
                    <a:pt x="152110" y="1419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820025" y="6824219"/>
            <a:ext cx="2753995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Compliance</a:t>
            </a:r>
            <a:r>
              <a:rPr sz="18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(GDPR/NIST)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483019" y="6675501"/>
            <a:ext cx="4000500" cy="800100"/>
          </a:xfrm>
          <a:custGeom>
            <a:avLst/>
            <a:gdLst/>
            <a:ahLst/>
            <a:cxnLst/>
            <a:rect l="l" t="t" r="r" b="b"/>
            <a:pathLst>
              <a:path w="4000500" h="800100">
                <a:moveTo>
                  <a:pt x="4000369" y="455740"/>
                </a:moveTo>
                <a:lnTo>
                  <a:pt x="3993019" y="506964"/>
                </a:lnTo>
                <a:lnTo>
                  <a:pt x="3980963" y="556387"/>
                </a:lnTo>
                <a:lnTo>
                  <a:pt x="3964665" y="602634"/>
                </a:lnTo>
                <a:lnTo>
                  <a:pt x="3944461" y="645227"/>
                </a:lnTo>
                <a:lnTo>
                  <a:pt x="3920686" y="683690"/>
                </a:lnTo>
                <a:lnTo>
                  <a:pt x="3893675" y="717544"/>
                </a:lnTo>
                <a:lnTo>
                  <a:pt x="3863762" y="746313"/>
                </a:lnTo>
                <a:lnTo>
                  <a:pt x="3831283" y="769520"/>
                </a:lnTo>
                <a:lnTo>
                  <a:pt x="3796574" y="786687"/>
                </a:lnTo>
                <a:lnTo>
                  <a:pt x="3759968" y="797337"/>
                </a:lnTo>
                <a:lnTo>
                  <a:pt x="3731126" y="800099"/>
                </a:lnTo>
              </a:path>
              <a:path w="4000500" h="800100">
                <a:moveTo>
                  <a:pt x="271940" y="800099"/>
                </a:moveTo>
                <a:lnTo>
                  <a:pt x="206492" y="786686"/>
                </a:lnTo>
                <a:lnTo>
                  <a:pt x="171782" y="769519"/>
                </a:lnTo>
                <a:lnTo>
                  <a:pt x="139304" y="746313"/>
                </a:lnTo>
                <a:lnTo>
                  <a:pt x="109391" y="717544"/>
                </a:lnTo>
                <a:lnTo>
                  <a:pt x="82379" y="683690"/>
                </a:lnTo>
                <a:lnTo>
                  <a:pt x="58604" y="645227"/>
                </a:lnTo>
                <a:lnTo>
                  <a:pt x="38400" y="602634"/>
                </a:lnTo>
                <a:lnTo>
                  <a:pt x="22102" y="556387"/>
                </a:lnTo>
                <a:lnTo>
                  <a:pt x="10046" y="506964"/>
                </a:lnTo>
                <a:lnTo>
                  <a:pt x="2567" y="454841"/>
                </a:lnTo>
                <a:lnTo>
                  <a:pt x="0" y="400496"/>
                </a:lnTo>
                <a:lnTo>
                  <a:pt x="2567" y="346151"/>
                </a:lnTo>
                <a:lnTo>
                  <a:pt x="10046" y="294028"/>
                </a:lnTo>
                <a:lnTo>
                  <a:pt x="22103" y="244605"/>
                </a:lnTo>
                <a:lnTo>
                  <a:pt x="38400" y="198358"/>
                </a:lnTo>
                <a:lnTo>
                  <a:pt x="58604" y="155764"/>
                </a:lnTo>
                <a:lnTo>
                  <a:pt x="82380" y="117302"/>
                </a:lnTo>
                <a:lnTo>
                  <a:pt x="109391" y="83448"/>
                </a:lnTo>
                <a:lnTo>
                  <a:pt x="139304" y="54679"/>
                </a:lnTo>
                <a:lnTo>
                  <a:pt x="171782" y="31473"/>
                </a:lnTo>
                <a:lnTo>
                  <a:pt x="206492" y="14306"/>
                </a:lnTo>
                <a:lnTo>
                  <a:pt x="243097" y="3656"/>
                </a:lnTo>
                <a:lnTo>
                  <a:pt x="281263" y="0"/>
                </a:lnTo>
                <a:lnTo>
                  <a:pt x="3721802" y="0"/>
                </a:lnTo>
                <a:lnTo>
                  <a:pt x="3759968" y="3655"/>
                </a:lnTo>
                <a:lnTo>
                  <a:pt x="3796574" y="14305"/>
                </a:lnTo>
                <a:lnTo>
                  <a:pt x="3831283" y="31472"/>
                </a:lnTo>
                <a:lnTo>
                  <a:pt x="3863762" y="54679"/>
                </a:lnTo>
                <a:lnTo>
                  <a:pt x="3893674" y="83448"/>
                </a:lnTo>
                <a:lnTo>
                  <a:pt x="3920686" y="117302"/>
                </a:lnTo>
                <a:lnTo>
                  <a:pt x="3944461" y="155764"/>
                </a:lnTo>
                <a:lnTo>
                  <a:pt x="3964665" y="198358"/>
                </a:lnTo>
                <a:lnTo>
                  <a:pt x="3980963" y="244605"/>
                </a:lnTo>
                <a:lnTo>
                  <a:pt x="3993019" y="294028"/>
                </a:lnTo>
                <a:lnTo>
                  <a:pt x="4000369" y="345252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607261" y="4275270"/>
            <a:ext cx="3754754" cy="310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Automate</a:t>
            </a:r>
            <a:r>
              <a:rPr sz="19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sz="19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controllers;</a:t>
            </a:r>
            <a:r>
              <a:rPr sz="19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start </a:t>
            </a:r>
            <a:r>
              <a:rPr sz="19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small</a:t>
            </a:r>
            <a:r>
              <a:rPr sz="19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(micro-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segments)</a:t>
            </a:r>
            <a:endParaRPr sz="19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900">
              <a:latin typeface="Lucida Sans Unicode"/>
              <a:cs typeface="Lucida Sans Unicode"/>
            </a:endParaRPr>
          </a:p>
          <a:p>
            <a:pPr marL="255270" marR="247650" algn="ctr">
              <a:lnSpc>
                <a:spcPct val="115100"/>
              </a:lnSpc>
            </a:pP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Hybrid</a:t>
            </a:r>
            <a:r>
              <a:rPr sz="19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deployment;</a:t>
            </a:r>
            <a:r>
              <a:rPr sz="19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phased rollout</a:t>
            </a:r>
            <a:endParaRPr sz="19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1900">
              <a:latin typeface="Lucida Sans Unicode"/>
              <a:cs typeface="Lucida Sans Unicode"/>
            </a:endParaRPr>
          </a:p>
          <a:p>
            <a:pPr marL="200660" marR="193040" algn="ctr">
              <a:lnSpc>
                <a:spcPct val="115100"/>
              </a:lnSpc>
            </a:pPr>
            <a:r>
              <a:rPr sz="19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Anonymized</a:t>
            </a:r>
            <a:r>
              <a:rPr sz="19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data;</a:t>
            </a:r>
            <a:r>
              <a:rPr sz="19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encrypted </a:t>
            </a:r>
            <a:r>
              <a:rPr sz="19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Azure</a:t>
            </a:r>
            <a:r>
              <a:rPr sz="19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storage</a:t>
            </a:r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3593444" cy="4350385"/>
            <a:chOff x="0" y="0"/>
            <a:chExt cx="13593444" cy="4350385"/>
          </a:xfrm>
        </p:grpSpPr>
        <p:sp>
          <p:nvSpPr>
            <p:cNvPr id="3" name="object 3"/>
            <p:cNvSpPr/>
            <p:nvPr/>
          </p:nvSpPr>
          <p:spPr>
            <a:xfrm>
              <a:off x="0" y="11"/>
              <a:ext cx="6191250" cy="4254500"/>
            </a:xfrm>
            <a:custGeom>
              <a:avLst/>
              <a:gdLst/>
              <a:ahLst/>
              <a:cxnLst/>
              <a:rect l="l" t="t" r="r" b="b"/>
              <a:pathLst>
                <a:path w="6191250" h="4254500">
                  <a:moveTo>
                    <a:pt x="3556050" y="0"/>
                  </a:moveTo>
                  <a:lnTo>
                    <a:pt x="0" y="0"/>
                  </a:lnTo>
                  <a:lnTo>
                    <a:pt x="0" y="1729917"/>
                  </a:lnTo>
                  <a:lnTo>
                    <a:pt x="50723" y="1739404"/>
                  </a:lnTo>
                  <a:lnTo>
                    <a:pt x="98005" y="1747481"/>
                  </a:lnTo>
                  <a:lnTo>
                    <a:pt x="145529" y="1754873"/>
                  </a:lnTo>
                  <a:lnTo>
                    <a:pt x="193255" y="1761604"/>
                  </a:lnTo>
                  <a:lnTo>
                    <a:pt x="241223" y="1767636"/>
                  </a:lnTo>
                  <a:lnTo>
                    <a:pt x="289382" y="1772983"/>
                  </a:lnTo>
                  <a:lnTo>
                    <a:pt x="337756" y="1777631"/>
                  </a:lnTo>
                  <a:lnTo>
                    <a:pt x="386334" y="1781581"/>
                  </a:lnTo>
                  <a:lnTo>
                    <a:pt x="435114" y="1784819"/>
                  </a:lnTo>
                  <a:lnTo>
                    <a:pt x="481647" y="1787220"/>
                  </a:lnTo>
                  <a:lnTo>
                    <a:pt x="480669" y="1787220"/>
                  </a:lnTo>
                  <a:lnTo>
                    <a:pt x="531710" y="1789099"/>
                  </a:lnTo>
                  <a:lnTo>
                    <a:pt x="530694" y="1789099"/>
                  </a:lnTo>
                  <a:lnTo>
                    <a:pt x="581926" y="1790242"/>
                  </a:lnTo>
                  <a:lnTo>
                    <a:pt x="580656" y="1790242"/>
                  </a:lnTo>
                  <a:lnTo>
                    <a:pt x="632066" y="1790611"/>
                  </a:lnTo>
                  <a:lnTo>
                    <a:pt x="706755" y="1790242"/>
                  </a:lnTo>
                  <a:lnTo>
                    <a:pt x="779716" y="1789099"/>
                  </a:lnTo>
                  <a:lnTo>
                    <a:pt x="850976" y="1787220"/>
                  </a:lnTo>
                  <a:lnTo>
                    <a:pt x="920559" y="1784591"/>
                  </a:lnTo>
                  <a:lnTo>
                    <a:pt x="988517" y="1781225"/>
                  </a:lnTo>
                  <a:lnTo>
                    <a:pt x="1054862" y="1777136"/>
                  </a:lnTo>
                  <a:lnTo>
                    <a:pt x="1119632" y="1772310"/>
                  </a:lnTo>
                  <a:lnTo>
                    <a:pt x="1182852" y="1766760"/>
                  </a:lnTo>
                  <a:lnTo>
                    <a:pt x="1244574" y="1760486"/>
                  </a:lnTo>
                  <a:lnTo>
                    <a:pt x="1304823" y="1753514"/>
                  </a:lnTo>
                  <a:lnTo>
                    <a:pt x="1363624" y="1745830"/>
                  </a:lnTo>
                  <a:lnTo>
                    <a:pt x="1421015" y="1737448"/>
                  </a:lnTo>
                  <a:lnTo>
                    <a:pt x="1477035" y="1728368"/>
                  </a:lnTo>
                  <a:lnTo>
                    <a:pt x="1531696" y="1718602"/>
                  </a:lnTo>
                  <a:lnTo>
                    <a:pt x="1585048" y="1708137"/>
                  </a:lnTo>
                  <a:lnTo>
                    <a:pt x="1637118" y="1697012"/>
                  </a:lnTo>
                  <a:lnTo>
                    <a:pt x="1687944" y="1685201"/>
                  </a:lnTo>
                  <a:lnTo>
                    <a:pt x="1737550" y="1672717"/>
                  </a:lnTo>
                  <a:lnTo>
                    <a:pt x="1785975" y="1659585"/>
                  </a:lnTo>
                  <a:lnTo>
                    <a:pt x="1833245" y="1645780"/>
                  </a:lnTo>
                  <a:lnTo>
                    <a:pt x="1879384" y="1631327"/>
                  </a:lnTo>
                  <a:lnTo>
                    <a:pt x="1924456" y="1616227"/>
                  </a:lnTo>
                  <a:lnTo>
                    <a:pt x="1968461" y="1600492"/>
                  </a:lnTo>
                  <a:lnTo>
                    <a:pt x="2011451" y="1584109"/>
                  </a:lnTo>
                  <a:lnTo>
                    <a:pt x="2053437" y="1567103"/>
                  </a:lnTo>
                  <a:lnTo>
                    <a:pt x="2094484" y="1549463"/>
                  </a:lnTo>
                  <a:lnTo>
                    <a:pt x="2134590" y="1531200"/>
                  </a:lnTo>
                  <a:lnTo>
                    <a:pt x="2173808" y="1512328"/>
                  </a:lnTo>
                  <a:lnTo>
                    <a:pt x="2212175" y="1492846"/>
                  </a:lnTo>
                  <a:lnTo>
                    <a:pt x="2249703" y="1472768"/>
                  </a:lnTo>
                  <a:lnTo>
                    <a:pt x="2286431" y="1452079"/>
                  </a:lnTo>
                  <a:lnTo>
                    <a:pt x="2322411" y="1430794"/>
                  </a:lnTo>
                  <a:lnTo>
                    <a:pt x="2357653" y="1408925"/>
                  </a:lnTo>
                  <a:lnTo>
                    <a:pt x="2392197" y="1386484"/>
                  </a:lnTo>
                  <a:lnTo>
                    <a:pt x="2426068" y="1363446"/>
                  </a:lnTo>
                  <a:lnTo>
                    <a:pt x="2459317" y="1339850"/>
                  </a:lnTo>
                  <a:lnTo>
                    <a:pt x="2491956" y="1315681"/>
                  </a:lnTo>
                  <a:lnTo>
                    <a:pt x="2524023" y="1290942"/>
                  </a:lnTo>
                  <a:lnTo>
                    <a:pt x="2555570" y="1265656"/>
                  </a:lnTo>
                  <a:lnTo>
                    <a:pt x="2586596" y="1239824"/>
                  </a:lnTo>
                  <a:lnTo>
                    <a:pt x="2617152" y="1213434"/>
                  </a:lnTo>
                  <a:lnTo>
                    <a:pt x="2647277" y="1186510"/>
                  </a:lnTo>
                  <a:lnTo>
                    <a:pt x="2676995" y="1159052"/>
                  </a:lnTo>
                  <a:lnTo>
                    <a:pt x="2706332" y="1131062"/>
                  </a:lnTo>
                  <a:lnTo>
                    <a:pt x="2735326" y="1102550"/>
                  </a:lnTo>
                  <a:lnTo>
                    <a:pt x="2764015" y="1073518"/>
                  </a:lnTo>
                  <a:lnTo>
                    <a:pt x="2792425" y="1043965"/>
                  </a:lnTo>
                  <a:lnTo>
                    <a:pt x="2820593" y="1013917"/>
                  </a:lnTo>
                  <a:lnTo>
                    <a:pt x="2848546" y="983361"/>
                  </a:lnTo>
                  <a:lnTo>
                    <a:pt x="2876321" y="952309"/>
                  </a:lnTo>
                  <a:lnTo>
                    <a:pt x="2903944" y="920750"/>
                  </a:lnTo>
                  <a:lnTo>
                    <a:pt x="2931452" y="888720"/>
                  </a:lnTo>
                  <a:lnTo>
                    <a:pt x="2958884" y="856208"/>
                  </a:lnTo>
                  <a:lnTo>
                    <a:pt x="2986252" y="823214"/>
                  </a:lnTo>
                  <a:lnTo>
                    <a:pt x="3013608" y="789749"/>
                  </a:lnTo>
                  <a:lnTo>
                    <a:pt x="3040977" y="755827"/>
                  </a:lnTo>
                  <a:lnTo>
                    <a:pt x="3068396" y="721436"/>
                  </a:lnTo>
                  <a:lnTo>
                    <a:pt x="3095891" y="686587"/>
                  </a:lnTo>
                  <a:lnTo>
                    <a:pt x="3151251" y="615569"/>
                  </a:lnTo>
                  <a:lnTo>
                    <a:pt x="3235693" y="505739"/>
                  </a:lnTo>
                  <a:lnTo>
                    <a:pt x="3265157" y="466902"/>
                  </a:lnTo>
                  <a:lnTo>
                    <a:pt x="3294049" y="427621"/>
                  </a:lnTo>
                  <a:lnTo>
                    <a:pt x="3322358" y="387908"/>
                  </a:lnTo>
                  <a:lnTo>
                    <a:pt x="3350082" y="347751"/>
                  </a:lnTo>
                  <a:lnTo>
                    <a:pt x="3377222" y="307174"/>
                  </a:lnTo>
                  <a:lnTo>
                    <a:pt x="3403752" y="266179"/>
                  </a:lnTo>
                  <a:lnTo>
                    <a:pt x="3429698" y="224764"/>
                  </a:lnTo>
                  <a:lnTo>
                    <a:pt x="3455022" y="182943"/>
                  </a:lnTo>
                  <a:lnTo>
                    <a:pt x="3479736" y="140728"/>
                  </a:lnTo>
                  <a:lnTo>
                    <a:pt x="3503828" y="98107"/>
                  </a:lnTo>
                  <a:lnTo>
                    <a:pt x="3527285" y="55092"/>
                  </a:lnTo>
                  <a:lnTo>
                    <a:pt x="3550120" y="11696"/>
                  </a:lnTo>
                  <a:lnTo>
                    <a:pt x="3556050" y="0"/>
                  </a:lnTo>
                  <a:close/>
                </a:path>
                <a:path w="6191250" h="4254500">
                  <a:moveTo>
                    <a:pt x="6191097" y="0"/>
                  </a:moveTo>
                  <a:lnTo>
                    <a:pt x="4063555" y="0"/>
                  </a:lnTo>
                  <a:lnTo>
                    <a:pt x="4042714" y="38100"/>
                  </a:lnTo>
                  <a:lnTo>
                    <a:pt x="4020731" y="88900"/>
                  </a:lnTo>
                  <a:lnTo>
                    <a:pt x="4016502" y="101600"/>
                  </a:lnTo>
                  <a:lnTo>
                    <a:pt x="4008031" y="114300"/>
                  </a:lnTo>
                  <a:lnTo>
                    <a:pt x="4003789" y="127000"/>
                  </a:lnTo>
                  <a:lnTo>
                    <a:pt x="3981132" y="177800"/>
                  </a:lnTo>
                  <a:lnTo>
                    <a:pt x="3957396" y="228600"/>
                  </a:lnTo>
                  <a:lnTo>
                    <a:pt x="3932834" y="266700"/>
                  </a:lnTo>
                  <a:lnTo>
                    <a:pt x="3907739" y="317500"/>
                  </a:lnTo>
                  <a:lnTo>
                    <a:pt x="3882364" y="355600"/>
                  </a:lnTo>
                  <a:lnTo>
                    <a:pt x="3876459" y="368300"/>
                  </a:lnTo>
                  <a:lnTo>
                    <a:pt x="3865689" y="393700"/>
                  </a:lnTo>
                  <a:lnTo>
                    <a:pt x="3859771" y="393700"/>
                  </a:lnTo>
                  <a:lnTo>
                    <a:pt x="3832644" y="444500"/>
                  </a:lnTo>
                  <a:lnTo>
                    <a:pt x="3805377" y="482600"/>
                  </a:lnTo>
                  <a:lnTo>
                    <a:pt x="3777843" y="533400"/>
                  </a:lnTo>
                  <a:lnTo>
                    <a:pt x="3749891" y="571500"/>
                  </a:lnTo>
                  <a:lnTo>
                    <a:pt x="3721404" y="622300"/>
                  </a:lnTo>
                  <a:lnTo>
                    <a:pt x="3715486" y="622300"/>
                  </a:lnTo>
                  <a:lnTo>
                    <a:pt x="3704729" y="647700"/>
                  </a:lnTo>
                  <a:lnTo>
                    <a:pt x="3698811" y="647700"/>
                  </a:lnTo>
                  <a:lnTo>
                    <a:pt x="3667976" y="698500"/>
                  </a:lnTo>
                  <a:lnTo>
                    <a:pt x="3636467" y="736600"/>
                  </a:lnTo>
                  <a:lnTo>
                    <a:pt x="3604272" y="774700"/>
                  </a:lnTo>
                  <a:lnTo>
                    <a:pt x="3571405" y="825500"/>
                  </a:lnTo>
                  <a:lnTo>
                    <a:pt x="3537851" y="863600"/>
                  </a:lnTo>
                  <a:lnTo>
                    <a:pt x="3532200" y="863600"/>
                  </a:lnTo>
                  <a:lnTo>
                    <a:pt x="3529380" y="876300"/>
                  </a:lnTo>
                  <a:lnTo>
                    <a:pt x="3523729" y="876300"/>
                  </a:lnTo>
                  <a:lnTo>
                    <a:pt x="3489502" y="914400"/>
                  </a:lnTo>
                  <a:lnTo>
                    <a:pt x="3454603" y="965200"/>
                  </a:lnTo>
                  <a:lnTo>
                    <a:pt x="3419017" y="1003300"/>
                  </a:lnTo>
                  <a:lnTo>
                    <a:pt x="3382759" y="1041400"/>
                  </a:lnTo>
                  <a:lnTo>
                    <a:pt x="3345827" y="1079500"/>
                  </a:lnTo>
                  <a:lnTo>
                    <a:pt x="3340176" y="1092200"/>
                  </a:lnTo>
                  <a:lnTo>
                    <a:pt x="3337356" y="1092200"/>
                  </a:lnTo>
                  <a:lnTo>
                    <a:pt x="3299764" y="1130300"/>
                  </a:lnTo>
                  <a:lnTo>
                    <a:pt x="3261626" y="1168400"/>
                  </a:lnTo>
                  <a:lnTo>
                    <a:pt x="3145332" y="1282700"/>
                  </a:lnTo>
                  <a:lnTo>
                    <a:pt x="3119920" y="1308100"/>
                  </a:lnTo>
                  <a:lnTo>
                    <a:pt x="3080626" y="1333500"/>
                  </a:lnTo>
                  <a:lnTo>
                    <a:pt x="3000565" y="1409700"/>
                  </a:lnTo>
                  <a:lnTo>
                    <a:pt x="2960065" y="1435100"/>
                  </a:lnTo>
                  <a:lnTo>
                    <a:pt x="2919425" y="1473200"/>
                  </a:lnTo>
                  <a:lnTo>
                    <a:pt x="2910954" y="1473200"/>
                  </a:lnTo>
                  <a:lnTo>
                    <a:pt x="2902483" y="1485900"/>
                  </a:lnTo>
                  <a:lnTo>
                    <a:pt x="2893999" y="1485900"/>
                  </a:lnTo>
                  <a:lnTo>
                    <a:pt x="2885529" y="1498600"/>
                  </a:lnTo>
                  <a:lnTo>
                    <a:pt x="2844533" y="1524000"/>
                  </a:lnTo>
                  <a:lnTo>
                    <a:pt x="2802852" y="1562100"/>
                  </a:lnTo>
                  <a:lnTo>
                    <a:pt x="2717457" y="1612900"/>
                  </a:lnTo>
                  <a:lnTo>
                    <a:pt x="2673743" y="1651000"/>
                  </a:lnTo>
                  <a:lnTo>
                    <a:pt x="2664828" y="1651000"/>
                  </a:lnTo>
                  <a:lnTo>
                    <a:pt x="2655392" y="1663700"/>
                  </a:lnTo>
                  <a:lnTo>
                    <a:pt x="2637028" y="1663700"/>
                  </a:lnTo>
                  <a:lnTo>
                    <a:pt x="2592667" y="1701800"/>
                  </a:lnTo>
                  <a:lnTo>
                    <a:pt x="2411120" y="1803400"/>
                  </a:lnTo>
                  <a:lnTo>
                    <a:pt x="2403094" y="1803400"/>
                  </a:lnTo>
                  <a:lnTo>
                    <a:pt x="2388082" y="1816100"/>
                  </a:lnTo>
                  <a:lnTo>
                    <a:pt x="2380056" y="1816100"/>
                  </a:lnTo>
                  <a:lnTo>
                    <a:pt x="2283815" y="1866900"/>
                  </a:lnTo>
                  <a:lnTo>
                    <a:pt x="2184870" y="1917700"/>
                  </a:lnTo>
                  <a:lnTo>
                    <a:pt x="2134374" y="1943100"/>
                  </a:lnTo>
                  <a:lnTo>
                    <a:pt x="2123084" y="1943100"/>
                  </a:lnTo>
                  <a:lnTo>
                    <a:pt x="2072233" y="1968500"/>
                  </a:lnTo>
                  <a:lnTo>
                    <a:pt x="2021243" y="1981200"/>
                  </a:lnTo>
                  <a:lnTo>
                    <a:pt x="1969985" y="2006600"/>
                  </a:lnTo>
                  <a:lnTo>
                    <a:pt x="1918322" y="2019300"/>
                  </a:lnTo>
                  <a:lnTo>
                    <a:pt x="1866112" y="2044700"/>
                  </a:lnTo>
                  <a:lnTo>
                    <a:pt x="1843519" y="2044700"/>
                  </a:lnTo>
                  <a:lnTo>
                    <a:pt x="1792376" y="2070100"/>
                  </a:lnTo>
                  <a:lnTo>
                    <a:pt x="1636217" y="2108200"/>
                  </a:lnTo>
                  <a:lnTo>
                    <a:pt x="1583715" y="2133600"/>
                  </a:lnTo>
                  <a:lnTo>
                    <a:pt x="1554327" y="2133600"/>
                  </a:lnTo>
                  <a:lnTo>
                    <a:pt x="1493012" y="2159000"/>
                  </a:lnTo>
                  <a:lnTo>
                    <a:pt x="1441170" y="2159000"/>
                  </a:lnTo>
                  <a:lnTo>
                    <a:pt x="1281557" y="2197100"/>
                  </a:lnTo>
                  <a:lnTo>
                    <a:pt x="1247406" y="2197100"/>
                  </a:lnTo>
                  <a:lnTo>
                    <a:pt x="1236383" y="2209800"/>
                  </a:lnTo>
                  <a:lnTo>
                    <a:pt x="1183538" y="2209800"/>
                  </a:lnTo>
                  <a:lnTo>
                    <a:pt x="1130160" y="2222500"/>
                  </a:lnTo>
                  <a:lnTo>
                    <a:pt x="1076363" y="2222500"/>
                  </a:lnTo>
                  <a:lnTo>
                    <a:pt x="1022311" y="2235200"/>
                  </a:lnTo>
                  <a:lnTo>
                    <a:pt x="935151" y="2235200"/>
                  </a:lnTo>
                  <a:lnTo>
                    <a:pt x="922921" y="2247900"/>
                  </a:lnTo>
                  <a:lnTo>
                    <a:pt x="356743" y="2247900"/>
                  </a:lnTo>
                  <a:lnTo>
                    <a:pt x="327088" y="2235200"/>
                  </a:lnTo>
                  <a:lnTo>
                    <a:pt x="216954" y="2235200"/>
                  </a:lnTo>
                  <a:lnTo>
                    <a:pt x="89877" y="2209800"/>
                  </a:lnTo>
                  <a:lnTo>
                    <a:pt x="44157" y="2209800"/>
                  </a:lnTo>
                  <a:lnTo>
                    <a:pt x="0" y="2197100"/>
                  </a:lnTo>
                  <a:lnTo>
                    <a:pt x="0" y="4216400"/>
                  </a:lnTo>
                  <a:lnTo>
                    <a:pt x="17767" y="4216400"/>
                  </a:lnTo>
                  <a:lnTo>
                    <a:pt x="64820" y="4229100"/>
                  </a:lnTo>
                  <a:lnTo>
                    <a:pt x="159258" y="4229100"/>
                  </a:lnTo>
                  <a:lnTo>
                    <a:pt x="206641" y="4241800"/>
                  </a:lnTo>
                  <a:lnTo>
                    <a:pt x="397230" y="4241800"/>
                  </a:lnTo>
                  <a:lnTo>
                    <a:pt x="445135" y="4254500"/>
                  </a:lnTo>
                  <a:lnTo>
                    <a:pt x="857224" y="4254500"/>
                  </a:lnTo>
                  <a:lnTo>
                    <a:pt x="911504" y="4241800"/>
                  </a:lnTo>
                  <a:lnTo>
                    <a:pt x="1126159" y="4241800"/>
                  </a:lnTo>
                  <a:lnTo>
                    <a:pt x="1179207" y="4229100"/>
                  </a:lnTo>
                  <a:lnTo>
                    <a:pt x="1284592" y="4229100"/>
                  </a:lnTo>
                  <a:lnTo>
                    <a:pt x="1336903" y="4216400"/>
                  </a:lnTo>
                  <a:lnTo>
                    <a:pt x="1388986" y="4216400"/>
                  </a:lnTo>
                  <a:lnTo>
                    <a:pt x="1440802" y="4203700"/>
                  </a:lnTo>
                  <a:lnTo>
                    <a:pt x="1492389" y="4203700"/>
                  </a:lnTo>
                  <a:lnTo>
                    <a:pt x="1543723" y="4191000"/>
                  </a:lnTo>
                  <a:lnTo>
                    <a:pt x="1594815" y="4191000"/>
                  </a:lnTo>
                  <a:lnTo>
                    <a:pt x="1645653" y="4178300"/>
                  </a:lnTo>
                  <a:lnTo>
                    <a:pt x="1696237" y="4178300"/>
                  </a:lnTo>
                  <a:lnTo>
                    <a:pt x="1796681" y="4152900"/>
                  </a:lnTo>
                  <a:lnTo>
                    <a:pt x="1846516" y="4152900"/>
                  </a:lnTo>
                  <a:lnTo>
                    <a:pt x="2043404" y="4102100"/>
                  </a:lnTo>
                  <a:lnTo>
                    <a:pt x="2091994" y="4102100"/>
                  </a:lnTo>
                  <a:lnTo>
                    <a:pt x="2564079" y="3975100"/>
                  </a:lnTo>
                  <a:lnTo>
                    <a:pt x="2609888" y="3949700"/>
                  </a:lnTo>
                  <a:lnTo>
                    <a:pt x="2790583" y="3898900"/>
                  </a:lnTo>
                  <a:lnTo>
                    <a:pt x="2835110" y="3873500"/>
                  </a:lnTo>
                  <a:lnTo>
                    <a:pt x="2923400" y="3848100"/>
                  </a:lnTo>
                  <a:lnTo>
                    <a:pt x="2967164" y="3822700"/>
                  </a:lnTo>
                  <a:lnTo>
                    <a:pt x="3010674" y="3810000"/>
                  </a:lnTo>
                  <a:lnTo>
                    <a:pt x="3053918" y="3784600"/>
                  </a:lnTo>
                  <a:lnTo>
                    <a:pt x="3139630" y="3759200"/>
                  </a:lnTo>
                  <a:lnTo>
                    <a:pt x="3182099" y="3733800"/>
                  </a:lnTo>
                  <a:lnTo>
                    <a:pt x="3224301" y="3721100"/>
                  </a:lnTo>
                  <a:lnTo>
                    <a:pt x="3307931" y="3670300"/>
                  </a:lnTo>
                  <a:lnTo>
                    <a:pt x="3349358" y="3657600"/>
                  </a:lnTo>
                  <a:lnTo>
                    <a:pt x="3390519" y="3632200"/>
                  </a:lnTo>
                  <a:lnTo>
                    <a:pt x="3431425" y="3619500"/>
                  </a:lnTo>
                  <a:lnTo>
                    <a:pt x="3552558" y="3543300"/>
                  </a:lnTo>
                  <a:lnTo>
                    <a:pt x="3592411" y="3530600"/>
                  </a:lnTo>
                  <a:lnTo>
                    <a:pt x="3749192" y="3429000"/>
                  </a:lnTo>
                  <a:lnTo>
                    <a:pt x="3787724" y="3416300"/>
                  </a:lnTo>
                  <a:lnTo>
                    <a:pt x="3901719" y="3340100"/>
                  </a:lnTo>
                  <a:lnTo>
                    <a:pt x="4050004" y="3238500"/>
                  </a:lnTo>
                  <a:lnTo>
                    <a:pt x="4158399" y="3162300"/>
                  </a:lnTo>
                  <a:lnTo>
                    <a:pt x="4193984" y="3124200"/>
                  </a:lnTo>
                  <a:lnTo>
                    <a:pt x="4229316" y="3098800"/>
                  </a:lnTo>
                  <a:lnTo>
                    <a:pt x="4333672" y="3022600"/>
                  </a:lnTo>
                  <a:lnTo>
                    <a:pt x="4367923" y="2984500"/>
                  </a:lnTo>
                  <a:lnTo>
                    <a:pt x="4469028" y="2908300"/>
                  </a:lnTo>
                  <a:lnTo>
                    <a:pt x="4502188" y="2870200"/>
                  </a:lnTo>
                  <a:lnTo>
                    <a:pt x="4567694" y="2819400"/>
                  </a:lnTo>
                  <a:lnTo>
                    <a:pt x="4600029" y="2781300"/>
                  </a:lnTo>
                  <a:lnTo>
                    <a:pt x="4632096" y="2755900"/>
                  </a:lnTo>
                  <a:lnTo>
                    <a:pt x="4663897" y="2717800"/>
                  </a:lnTo>
                  <a:lnTo>
                    <a:pt x="4695418" y="2692400"/>
                  </a:lnTo>
                  <a:lnTo>
                    <a:pt x="4726660" y="2654300"/>
                  </a:lnTo>
                  <a:lnTo>
                    <a:pt x="4757636" y="2628900"/>
                  </a:lnTo>
                  <a:lnTo>
                    <a:pt x="4788319" y="2590800"/>
                  </a:lnTo>
                  <a:lnTo>
                    <a:pt x="4818748" y="2565400"/>
                  </a:lnTo>
                  <a:lnTo>
                    <a:pt x="4848885" y="2527300"/>
                  </a:lnTo>
                  <a:lnTo>
                    <a:pt x="4878756" y="2501900"/>
                  </a:lnTo>
                  <a:lnTo>
                    <a:pt x="4908347" y="2463800"/>
                  </a:lnTo>
                  <a:lnTo>
                    <a:pt x="4937658" y="2438400"/>
                  </a:lnTo>
                  <a:lnTo>
                    <a:pt x="4966690" y="2400300"/>
                  </a:lnTo>
                  <a:lnTo>
                    <a:pt x="4995456" y="2362200"/>
                  </a:lnTo>
                  <a:lnTo>
                    <a:pt x="5023929" y="2336800"/>
                  </a:lnTo>
                  <a:lnTo>
                    <a:pt x="5052136" y="2298700"/>
                  </a:lnTo>
                  <a:lnTo>
                    <a:pt x="5080051" y="2260600"/>
                  </a:lnTo>
                  <a:lnTo>
                    <a:pt x="5093881" y="2247900"/>
                  </a:lnTo>
                  <a:lnTo>
                    <a:pt x="5107698" y="2235200"/>
                  </a:lnTo>
                  <a:lnTo>
                    <a:pt x="5135067" y="2197100"/>
                  </a:lnTo>
                  <a:lnTo>
                    <a:pt x="5162143" y="2159000"/>
                  </a:lnTo>
                  <a:lnTo>
                    <a:pt x="5188953" y="2120900"/>
                  </a:lnTo>
                  <a:lnTo>
                    <a:pt x="5215471" y="2095500"/>
                  </a:lnTo>
                  <a:lnTo>
                    <a:pt x="5241709" y="2057400"/>
                  </a:lnTo>
                  <a:lnTo>
                    <a:pt x="5267680" y="2019300"/>
                  </a:lnTo>
                  <a:lnTo>
                    <a:pt x="5293347" y="1981200"/>
                  </a:lnTo>
                  <a:lnTo>
                    <a:pt x="5318747" y="1943100"/>
                  </a:lnTo>
                  <a:lnTo>
                    <a:pt x="5343868" y="1905000"/>
                  </a:lnTo>
                  <a:lnTo>
                    <a:pt x="5368696" y="1866900"/>
                  </a:lnTo>
                  <a:lnTo>
                    <a:pt x="5393245" y="1828800"/>
                  </a:lnTo>
                  <a:lnTo>
                    <a:pt x="5417502" y="1803400"/>
                  </a:lnTo>
                  <a:lnTo>
                    <a:pt x="5441493" y="1765300"/>
                  </a:lnTo>
                  <a:lnTo>
                    <a:pt x="5465178" y="1727200"/>
                  </a:lnTo>
                  <a:lnTo>
                    <a:pt x="5488597" y="1689100"/>
                  </a:lnTo>
                  <a:lnTo>
                    <a:pt x="5511724" y="1651000"/>
                  </a:lnTo>
                  <a:lnTo>
                    <a:pt x="5534558" y="1612900"/>
                  </a:lnTo>
                  <a:lnTo>
                    <a:pt x="5557113" y="1574800"/>
                  </a:lnTo>
                  <a:lnTo>
                    <a:pt x="5579389" y="1524000"/>
                  </a:lnTo>
                  <a:lnTo>
                    <a:pt x="5601373" y="1485900"/>
                  </a:lnTo>
                  <a:lnTo>
                    <a:pt x="5623064" y="1447800"/>
                  </a:lnTo>
                  <a:lnTo>
                    <a:pt x="5644477" y="1409700"/>
                  </a:lnTo>
                  <a:lnTo>
                    <a:pt x="5665597" y="1371600"/>
                  </a:lnTo>
                  <a:lnTo>
                    <a:pt x="5686425" y="1333500"/>
                  </a:lnTo>
                  <a:lnTo>
                    <a:pt x="5706973" y="1295400"/>
                  </a:lnTo>
                  <a:lnTo>
                    <a:pt x="5727230" y="1257300"/>
                  </a:lnTo>
                  <a:lnTo>
                    <a:pt x="5747207" y="1206500"/>
                  </a:lnTo>
                  <a:lnTo>
                    <a:pt x="5766879" y="1168400"/>
                  </a:lnTo>
                  <a:lnTo>
                    <a:pt x="5786272" y="1130300"/>
                  </a:lnTo>
                  <a:lnTo>
                    <a:pt x="5805373" y="1092200"/>
                  </a:lnTo>
                  <a:lnTo>
                    <a:pt x="5824182" y="1054100"/>
                  </a:lnTo>
                  <a:lnTo>
                    <a:pt x="5842698" y="1003300"/>
                  </a:lnTo>
                  <a:lnTo>
                    <a:pt x="5860923" y="965200"/>
                  </a:lnTo>
                  <a:lnTo>
                    <a:pt x="5878855" y="927100"/>
                  </a:lnTo>
                  <a:lnTo>
                    <a:pt x="5896495" y="876300"/>
                  </a:lnTo>
                  <a:lnTo>
                    <a:pt x="5913856" y="838200"/>
                  </a:lnTo>
                  <a:lnTo>
                    <a:pt x="5930912" y="800100"/>
                  </a:lnTo>
                  <a:lnTo>
                    <a:pt x="5947676" y="749300"/>
                  </a:lnTo>
                  <a:lnTo>
                    <a:pt x="5964148" y="711200"/>
                  </a:lnTo>
                  <a:lnTo>
                    <a:pt x="5980328" y="673100"/>
                  </a:lnTo>
                  <a:lnTo>
                    <a:pt x="5996216" y="622300"/>
                  </a:lnTo>
                  <a:lnTo>
                    <a:pt x="6011799" y="584200"/>
                  </a:lnTo>
                  <a:lnTo>
                    <a:pt x="6027102" y="546100"/>
                  </a:lnTo>
                  <a:lnTo>
                    <a:pt x="6042101" y="495300"/>
                  </a:lnTo>
                  <a:lnTo>
                    <a:pt x="6056808" y="457200"/>
                  </a:lnTo>
                  <a:lnTo>
                    <a:pt x="6071209" y="406400"/>
                  </a:lnTo>
                  <a:lnTo>
                    <a:pt x="6085332" y="368300"/>
                  </a:lnTo>
                  <a:lnTo>
                    <a:pt x="6099149" y="317500"/>
                  </a:lnTo>
                  <a:lnTo>
                    <a:pt x="6112662" y="279400"/>
                  </a:lnTo>
                  <a:lnTo>
                    <a:pt x="6125883" y="228600"/>
                  </a:lnTo>
                  <a:lnTo>
                    <a:pt x="6138811" y="190500"/>
                  </a:lnTo>
                  <a:lnTo>
                    <a:pt x="6151448" y="139700"/>
                  </a:lnTo>
                  <a:lnTo>
                    <a:pt x="6163767" y="101600"/>
                  </a:lnTo>
                  <a:lnTo>
                    <a:pt x="6175807" y="50800"/>
                  </a:lnTo>
                  <a:lnTo>
                    <a:pt x="6187529" y="12700"/>
                  </a:lnTo>
                  <a:lnTo>
                    <a:pt x="6191097" y="0"/>
                  </a:lnTo>
                  <a:close/>
                </a:path>
              </a:pathLst>
            </a:custGeom>
            <a:solidFill>
              <a:srgbClr val="2020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86855" y="3173335"/>
              <a:ext cx="8997315" cy="1167130"/>
            </a:xfrm>
            <a:custGeom>
              <a:avLst/>
              <a:gdLst/>
              <a:ahLst/>
              <a:cxnLst/>
              <a:rect l="l" t="t" r="r" b="b"/>
              <a:pathLst>
                <a:path w="8997315" h="1167129">
                  <a:moveTo>
                    <a:pt x="195725" y="1167075"/>
                  </a:moveTo>
                  <a:lnTo>
                    <a:pt x="154145" y="1162286"/>
                  </a:lnTo>
                  <a:lnTo>
                    <a:pt x="112047" y="1147240"/>
                  </a:lnTo>
                  <a:lnTo>
                    <a:pt x="74912" y="1123629"/>
                  </a:lnTo>
                  <a:lnTo>
                    <a:pt x="43938" y="1092656"/>
                  </a:lnTo>
                  <a:lnTo>
                    <a:pt x="20328" y="1055520"/>
                  </a:lnTo>
                  <a:lnTo>
                    <a:pt x="5282" y="1013423"/>
                  </a:lnTo>
                  <a:lnTo>
                    <a:pt x="0" y="967563"/>
                  </a:lnTo>
                  <a:lnTo>
                    <a:pt x="0" y="200004"/>
                  </a:lnTo>
                  <a:lnTo>
                    <a:pt x="5282" y="154145"/>
                  </a:lnTo>
                  <a:lnTo>
                    <a:pt x="20328" y="112047"/>
                  </a:lnTo>
                  <a:lnTo>
                    <a:pt x="43938" y="74912"/>
                  </a:lnTo>
                  <a:lnTo>
                    <a:pt x="74912" y="43938"/>
                  </a:lnTo>
                  <a:lnTo>
                    <a:pt x="112047" y="20328"/>
                  </a:lnTo>
                  <a:lnTo>
                    <a:pt x="154145" y="5282"/>
                  </a:lnTo>
                  <a:lnTo>
                    <a:pt x="200004" y="0"/>
                  </a:lnTo>
                  <a:lnTo>
                    <a:pt x="8796680" y="0"/>
                  </a:lnTo>
                  <a:lnTo>
                    <a:pt x="8842540" y="5281"/>
                  </a:lnTo>
                  <a:lnTo>
                    <a:pt x="8884638" y="20328"/>
                  </a:lnTo>
                  <a:lnTo>
                    <a:pt x="8921774" y="43938"/>
                  </a:lnTo>
                  <a:lnTo>
                    <a:pt x="8952747" y="74911"/>
                  </a:lnTo>
                  <a:lnTo>
                    <a:pt x="8976358" y="112047"/>
                  </a:lnTo>
                  <a:lnTo>
                    <a:pt x="8991404" y="154145"/>
                  </a:lnTo>
                  <a:lnTo>
                    <a:pt x="8996686" y="200004"/>
                  </a:lnTo>
                  <a:lnTo>
                    <a:pt x="8996686" y="967563"/>
                  </a:lnTo>
                  <a:lnTo>
                    <a:pt x="8991404" y="1013423"/>
                  </a:lnTo>
                  <a:lnTo>
                    <a:pt x="8976357" y="1055521"/>
                  </a:lnTo>
                  <a:lnTo>
                    <a:pt x="8952747" y="1092657"/>
                  </a:lnTo>
                  <a:lnTo>
                    <a:pt x="8921774" y="1123630"/>
                  </a:lnTo>
                  <a:lnTo>
                    <a:pt x="8884638" y="1147240"/>
                  </a:lnTo>
                  <a:lnTo>
                    <a:pt x="8842540" y="1162286"/>
                  </a:lnTo>
                  <a:lnTo>
                    <a:pt x="8800961" y="1167075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4586856" y="4812313"/>
            <a:ext cx="8997315" cy="1167130"/>
          </a:xfrm>
          <a:custGeom>
            <a:avLst/>
            <a:gdLst/>
            <a:ahLst/>
            <a:cxnLst/>
            <a:rect l="l" t="t" r="r" b="b"/>
            <a:pathLst>
              <a:path w="8997315" h="1167129">
                <a:moveTo>
                  <a:pt x="195721" y="1167075"/>
                </a:moveTo>
                <a:lnTo>
                  <a:pt x="154145" y="1162286"/>
                </a:lnTo>
                <a:lnTo>
                  <a:pt x="112047" y="1147240"/>
                </a:lnTo>
                <a:lnTo>
                  <a:pt x="74911" y="1123630"/>
                </a:lnTo>
                <a:lnTo>
                  <a:pt x="43938" y="1092657"/>
                </a:lnTo>
                <a:lnTo>
                  <a:pt x="20328" y="1055521"/>
                </a:lnTo>
                <a:lnTo>
                  <a:pt x="5282" y="1013423"/>
                </a:lnTo>
                <a:lnTo>
                  <a:pt x="0" y="967564"/>
                </a:lnTo>
                <a:lnTo>
                  <a:pt x="0" y="200005"/>
                </a:lnTo>
                <a:lnTo>
                  <a:pt x="5282" y="154145"/>
                </a:lnTo>
                <a:lnTo>
                  <a:pt x="20328" y="112048"/>
                </a:lnTo>
                <a:lnTo>
                  <a:pt x="43938" y="74912"/>
                </a:lnTo>
                <a:lnTo>
                  <a:pt x="74912" y="43939"/>
                </a:lnTo>
                <a:lnTo>
                  <a:pt x="112047" y="20329"/>
                </a:lnTo>
                <a:lnTo>
                  <a:pt x="154145" y="5282"/>
                </a:lnTo>
                <a:lnTo>
                  <a:pt x="200004" y="0"/>
                </a:lnTo>
                <a:lnTo>
                  <a:pt x="8796680" y="0"/>
                </a:lnTo>
                <a:lnTo>
                  <a:pt x="8842540" y="5282"/>
                </a:lnTo>
                <a:lnTo>
                  <a:pt x="8884638" y="20328"/>
                </a:lnTo>
                <a:lnTo>
                  <a:pt x="8921774" y="43938"/>
                </a:lnTo>
                <a:lnTo>
                  <a:pt x="8952747" y="74911"/>
                </a:lnTo>
                <a:lnTo>
                  <a:pt x="8976358" y="112047"/>
                </a:lnTo>
                <a:lnTo>
                  <a:pt x="8991404" y="154145"/>
                </a:lnTo>
                <a:lnTo>
                  <a:pt x="8996686" y="200005"/>
                </a:lnTo>
                <a:lnTo>
                  <a:pt x="8996686" y="967564"/>
                </a:lnTo>
                <a:lnTo>
                  <a:pt x="8991404" y="1013423"/>
                </a:lnTo>
                <a:lnTo>
                  <a:pt x="8976357" y="1055521"/>
                </a:lnTo>
                <a:lnTo>
                  <a:pt x="8952747" y="1092657"/>
                </a:lnTo>
                <a:lnTo>
                  <a:pt x="8921774" y="1123630"/>
                </a:lnTo>
                <a:lnTo>
                  <a:pt x="8884638" y="1147240"/>
                </a:lnTo>
                <a:lnTo>
                  <a:pt x="8842540" y="1162287"/>
                </a:lnTo>
                <a:lnTo>
                  <a:pt x="8800965" y="1167075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86856" y="6451291"/>
            <a:ext cx="8997315" cy="1167130"/>
          </a:xfrm>
          <a:custGeom>
            <a:avLst/>
            <a:gdLst/>
            <a:ahLst/>
            <a:cxnLst/>
            <a:rect l="l" t="t" r="r" b="b"/>
            <a:pathLst>
              <a:path w="8997315" h="1167129">
                <a:moveTo>
                  <a:pt x="195725" y="1167075"/>
                </a:moveTo>
                <a:lnTo>
                  <a:pt x="154145" y="1162286"/>
                </a:lnTo>
                <a:lnTo>
                  <a:pt x="112047" y="1147240"/>
                </a:lnTo>
                <a:lnTo>
                  <a:pt x="74911" y="1123629"/>
                </a:lnTo>
                <a:lnTo>
                  <a:pt x="43938" y="1092656"/>
                </a:lnTo>
                <a:lnTo>
                  <a:pt x="20328" y="1055520"/>
                </a:lnTo>
                <a:lnTo>
                  <a:pt x="5282" y="1013423"/>
                </a:lnTo>
                <a:lnTo>
                  <a:pt x="0" y="967563"/>
                </a:lnTo>
                <a:lnTo>
                  <a:pt x="0" y="200004"/>
                </a:lnTo>
                <a:lnTo>
                  <a:pt x="5282" y="154145"/>
                </a:lnTo>
                <a:lnTo>
                  <a:pt x="20328" y="112047"/>
                </a:lnTo>
                <a:lnTo>
                  <a:pt x="43938" y="74912"/>
                </a:lnTo>
                <a:lnTo>
                  <a:pt x="74912" y="43938"/>
                </a:lnTo>
                <a:lnTo>
                  <a:pt x="112047" y="20328"/>
                </a:lnTo>
                <a:lnTo>
                  <a:pt x="154145" y="5282"/>
                </a:lnTo>
                <a:lnTo>
                  <a:pt x="200004" y="0"/>
                </a:lnTo>
                <a:lnTo>
                  <a:pt x="8796680" y="0"/>
                </a:lnTo>
                <a:lnTo>
                  <a:pt x="8842540" y="5281"/>
                </a:lnTo>
                <a:lnTo>
                  <a:pt x="8884638" y="20328"/>
                </a:lnTo>
                <a:lnTo>
                  <a:pt x="8921774" y="43938"/>
                </a:lnTo>
                <a:lnTo>
                  <a:pt x="8952747" y="74911"/>
                </a:lnTo>
                <a:lnTo>
                  <a:pt x="8976357" y="112047"/>
                </a:lnTo>
                <a:lnTo>
                  <a:pt x="8991404" y="154145"/>
                </a:lnTo>
                <a:lnTo>
                  <a:pt x="8996686" y="200004"/>
                </a:lnTo>
                <a:lnTo>
                  <a:pt x="8996686" y="967563"/>
                </a:lnTo>
                <a:lnTo>
                  <a:pt x="8991404" y="1013423"/>
                </a:lnTo>
                <a:lnTo>
                  <a:pt x="8976357" y="1055521"/>
                </a:lnTo>
                <a:lnTo>
                  <a:pt x="8952747" y="1092657"/>
                </a:lnTo>
                <a:lnTo>
                  <a:pt x="8921774" y="1123630"/>
                </a:lnTo>
                <a:lnTo>
                  <a:pt x="8884638" y="1147240"/>
                </a:lnTo>
                <a:lnTo>
                  <a:pt x="8842540" y="1162286"/>
                </a:lnTo>
                <a:lnTo>
                  <a:pt x="8800961" y="1167075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577331" y="8080743"/>
            <a:ext cx="9016365" cy="1186180"/>
            <a:chOff x="4577331" y="8080743"/>
            <a:chExt cx="9016365" cy="1186180"/>
          </a:xfrm>
        </p:grpSpPr>
        <p:sp>
          <p:nvSpPr>
            <p:cNvPr id="8" name="object 8"/>
            <p:cNvSpPr/>
            <p:nvPr/>
          </p:nvSpPr>
          <p:spPr>
            <a:xfrm>
              <a:off x="4586856" y="8090268"/>
              <a:ext cx="8997315" cy="1167130"/>
            </a:xfrm>
            <a:custGeom>
              <a:avLst/>
              <a:gdLst/>
              <a:ahLst/>
              <a:cxnLst/>
              <a:rect l="l" t="t" r="r" b="b"/>
              <a:pathLst>
                <a:path w="8997315" h="1167129">
                  <a:moveTo>
                    <a:pt x="195718" y="1167075"/>
                  </a:moveTo>
                  <a:lnTo>
                    <a:pt x="154145" y="1162287"/>
                  </a:lnTo>
                  <a:lnTo>
                    <a:pt x="112047" y="1147240"/>
                  </a:lnTo>
                  <a:lnTo>
                    <a:pt x="74911" y="1123630"/>
                  </a:lnTo>
                  <a:lnTo>
                    <a:pt x="43938" y="1092657"/>
                  </a:lnTo>
                  <a:lnTo>
                    <a:pt x="20328" y="1055521"/>
                  </a:lnTo>
                  <a:lnTo>
                    <a:pt x="5282" y="1013423"/>
                  </a:lnTo>
                  <a:lnTo>
                    <a:pt x="0" y="967564"/>
                  </a:lnTo>
                  <a:lnTo>
                    <a:pt x="0" y="200005"/>
                  </a:lnTo>
                  <a:lnTo>
                    <a:pt x="5282" y="154146"/>
                  </a:lnTo>
                  <a:lnTo>
                    <a:pt x="20328" y="112048"/>
                  </a:lnTo>
                  <a:lnTo>
                    <a:pt x="43938" y="74912"/>
                  </a:lnTo>
                  <a:lnTo>
                    <a:pt x="74912" y="43939"/>
                  </a:lnTo>
                  <a:lnTo>
                    <a:pt x="112047" y="20329"/>
                  </a:lnTo>
                  <a:lnTo>
                    <a:pt x="154145" y="5282"/>
                  </a:lnTo>
                  <a:lnTo>
                    <a:pt x="200004" y="0"/>
                  </a:lnTo>
                  <a:lnTo>
                    <a:pt x="8796680" y="0"/>
                  </a:lnTo>
                  <a:lnTo>
                    <a:pt x="8842540" y="5282"/>
                  </a:lnTo>
                  <a:lnTo>
                    <a:pt x="8884638" y="20328"/>
                  </a:lnTo>
                  <a:lnTo>
                    <a:pt x="8921774" y="43939"/>
                  </a:lnTo>
                  <a:lnTo>
                    <a:pt x="8952747" y="74912"/>
                  </a:lnTo>
                  <a:lnTo>
                    <a:pt x="8976357" y="112048"/>
                  </a:lnTo>
                  <a:lnTo>
                    <a:pt x="8991404" y="154146"/>
                  </a:lnTo>
                  <a:lnTo>
                    <a:pt x="8996686" y="200005"/>
                  </a:lnTo>
                  <a:lnTo>
                    <a:pt x="8996686" y="967564"/>
                  </a:lnTo>
                  <a:lnTo>
                    <a:pt x="8991404" y="1013424"/>
                  </a:lnTo>
                  <a:lnTo>
                    <a:pt x="8976357" y="1055522"/>
                  </a:lnTo>
                  <a:lnTo>
                    <a:pt x="8952747" y="1092657"/>
                  </a:lnTo>
                  <a:lnTo>
                    <a:pt x="8921774" y="1123631"/>
                  </a:lnTo>
                  <a:lnTo>
                    <a:pt x="8884638" y="1147241"/>
                  </a:lnTo>
                  <a:lnTo>
                    <a:pt x="8842540" y="1162287"/>
                  </a:lnTo>
                  <a:lnTo>
                    <a:pt x="8800967" y="1167075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5238" y="8618910"/>
              <a:ext cx="94627" cy="94627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2072" y="3949278"/>
            <a:ext cx="85725" cy="857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55238" y="5506555"/>
            <a:ext cx="94627" cy="9462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3972" y="7030880"/>
            <a:ext cx="85725" cy="857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979797" y="3344599"/>
            <a:ext cx="8077200" cy="583755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662305" marR="2625725" indent="-650240">
              <a:lnSpc>
                <a:spcPct val="72900"/>
              </a:lnSpc>
              <a:spcBef>
                <a:spcPts val="1085"/>
              </a:spcBef>
            </a:pPr>
            <a:r>
              <a:rPr sz="3000" dirty="0">
                <a:solidFill>
                  <a:srgbClr val="FFFFFF"/>
                </a:solidFill>
                <a:latin typeface="Arial MT"/>
                <a:cs typeface="Arial MT"/>
              </a:rPr>
              <a:t>Expanding</a:t>
            </a:r>
            <a:r>
              <a:rPr sz="3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FFFFFF"/>
                </a:solidFill>
                <a:latin typeface="Arial MT"/>
                <a:cs typeface="Arial MT"/>
              </a:rPr>
              <a:t>AI/ML</a:t>
            </a:r>
            <a:r>
              <a:rPr sz="3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 MT"/>
                <a:cs typeface="Arial MT"/>
              </a:rPr>
              <a:t>Integration: </a:t>
            </a:r>
            <a:r>
              <a:rPr sz="30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3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FFFFFF"/>
                </a:solidFill>
                <a:latin typeface="Arial MT"/>
                <a:cs typeface="Arial MT"/>
              </a:rPr>
              <a:t>predictive</a:t>
            </a:r>
            <a:r>
              <a:rPr sz="3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r>
              <a:rPr sz="3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 MT"/>
                <a:cs typeface="Arial MT"/>
              </a:rPr>
              <a:t>modeling.</a:t>
            </a:r>
            <a:endParaRPr sz="3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95"/>
              </a:spcBef>
            </a:pPr>
            <a:endParaRPr sz="3000">
              <a:latin typeface="Arial MT"/>
              <a:cs typeface="Arial MT"/>
            </a:endParaRPr>
          </a:p>
          <a:p>
            <a:pPr marL="12700">
              <a:lnSpc>
                <a:spcPts val="3135"/>
              </a:lnSpc>
            </a:pPr>
            <a:r>
              <a:rPr sz="3050" spc="-20" dirty="0">
                <a:solidFill>
                  <a:srgbClr val="FFFFFF"/>
                </a:solidFill>
                <a:latin typeface="Arial MT"/>
                <a:cs typeface="Arial MT"/>
              </a:rPr>
              <a:t>Open-</a:t>
            </a:r>
            <a:r>
              <a:rPr sz="3050" dirty="0">
                <a:solidFill>
                  <a:srgbClr val="FFFFFF"/>
                </a:solidFill>
                <a:latin typeface="Arial MT"/>
                <a:cs typeface="Arial MT"/>
              </a:rPr>
              <a:t>Source</a:t>
            </a:r>
            <a:r>
              <a:rPr sz="30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-10" dirty="0">
                <a:solidFill>
                  <a:srgbClr val="FFFFFF"/>
                </a:solidFill>
                <a:latin typeface="Arial MT"/>
                <a:cs typeface="Arial MT"/>
              </a:rPr>
              <a:t>Evolution:</a:t>
            </a:r>
            <a:endParaRPr sz="3050">
              <a:latin typeface="Arial MT"/>
              <a:cs typeface="Arial MT"/>
            </a:endParaRPr>
          </a:p>
          <a:p>
            <a:pPr marL="669290">
              <a:lnSpc>
                <a:spcPts val="3135"/>
              </a:lnSpc>
            </a:pPr>
            <a:r>
              <a:rPr sz="3050" dirty="0">
                <a:solidFill>
                  <a:srgbClr val="FFFFFF"/>
                </a:solidFill>
                <a:latin typeface="Arial MT"/>
                <a:cs typeface="Arial MT"/>
              </a:rPr>
              <a:t>More</a:t>
            </a:r>
            <a:r>
              <a:rPr sz="30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FFFFFF"/>
                </a:solidFill>
                <a:latin typeface="Arial MT"/>
                <a:cs typeface="Arial MT"/>
              </a:rPr>
              <a:t>SDP</a:t>
            </a:r>
            <a:r>
              <a:rPr sz="30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FFFFFF"/>
                </a:solidFill>
                <a:latin typeface="Arial MT"/>
                <a:cs typeface="Arial MT"/>
              </a:rPr>
              <a:t>adaptations</a:t>
            </a:r>
            <a:r>
              <a:rPr sz="30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30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-10" dirty="0">
                <a:solidFill>
                  <a:srgbClr val="FFFFFF"/>
                </a:solidFill>
                <a:latin typeface="Arial MT"/>
                <a:cs typeface="Arial MT"/>
              </a:rPr>
              <a:t>edge/IoT.</a:t>
            </a:r>
            <a:endParaRPr sz="3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95"/>
              </a:spcBef>
            </a:pPr>
            <a:endParaRPr sz="3050">
              <a:latin typeface="Arial MT"/>
              <a:cs typeface="Arial MT"/>
            </a:endParaRPr>
          </a:p>
          <a:p>
            <a:pPr marL="12700">
              <a:lnSpc>
                <a:spcPts val="2945"/>
              </a:lnSpc>
            </a:pPr>
            <a:r>
              <a:rPr sz="2850" spc="-10" dirty="0">
                <a:solidFill>
                  <a:srgbClr val="FFFFFF"/>
                </a:solidFill>
                <a:latin typeface="Arial MT"/>
                <a:cs typeface="Arial MT"/>
              </a:rPr>
              <a:t>Vision:</a:t>
            </a:r>
            <a:endParaRPr sz="2850">
              <a:latin typeface="Arial MT"/>
              <a:cs typeface="Arial MT"/>
            </a:endParaRPr>
          </a:p>
          <a:p>
            <a:pPr marL="626110" marR="5080">
              <a:lnSpc>
                <a:spcPct val="72400"/>
              </a:lnSpc>
              <a:spcBef>
                <a:spcPts val="470"/>
              </a:spcBef>
            </a:pPr>
            <a:r>
              <a:rPr sz="2850" dirty="0">
                <a:solidFill>
                  <a:srgbClr val="FFFFFF"/>
                </a:solidFill>
                <a:latin typeface="Arial MT"/>
                <a:cs typeface="Arial MT"/>
              </a:rPr>
              <a:t>"Perpetual</a:t>
            </a:r>
            <a:r>
              <a:rPr sz="285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50" dirty="0">
                <a:solidFill>
                  <a:srgbClr val="FFFFFF"/>
                </a:solidFill>
                <a:latin typeface="Arial MT"/>
                <a:cs typeface="Arial MT"/>
              </a:rPr>
              <a:t>peace</a:t>
            </a:r>
            <a:r>
              <a:rPr sz="285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5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285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50" dirty="0">
                <a:solidFill>
                  <a:srgbClr val="FFFFFF"/>
                </a:solidFill>
                <a:latin typeface="Arial MT"/>
                <a:cs typeface="Arial MT"/>
              </a:rPr>
              <a:t>prosperity"</a:t>
            </a:r>
            <a:r>
              <a:rPr sz="285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50" dirty="0">
                <a:solidFill>
                  <a:srgbClr val="FFFFFF"/>
                </a:solidFill>
                <a:latin typeface="Arial MT"/>
                <a:cs typeface="Arial MT"/>
              </a:rPr>
              <a:t>via</a:t>
            </a:r>
            <a:r>
              <a:rPr sz="285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50" dirty="0">
                <a:solidFill>
                  <a:srgbClr val="FFFFFF"/>
                </a:solidFill>
                <a:latin typeface="Arial MT"/>
                <a:cs typeface="Arial MT"/>
              </a:rPr>
              <a:t>ethical</a:t>
            </a:r>
            <a:r>
              <a:rPr sz="285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50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sz="285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50" spc="-25" dirty="0">
                <a:solidFill>
                  <a:srgbClr val="FFFFFF"/>
                </a:solidFill>
                <a:latin typeface="Arial MT"/>
                <a:cs typeface="Arial MT"/>
              </a:rPr>
              <a:t>in </a:t>
            </a:r>
            <a:r>
              <a:rPr sz="2850" dirty="0">
                <a:solidFill>
                  <a:srgbClr val="FFFFFF"/>
                </a:solidFill>
                <a:latin typeface="Arial MT"/>
                <a:cs typeface="Arial MT"/>
              </a:rPr>
              <a:t>security</a:t>
            </a:r>
            <a:r>
              <a:rPr sz="285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50" dirty="0">
                <a:solidFill>
                  <a:srgbClr val="FFFFFF"/>
                </a:solidFill>
                <a:latin typeface="Arial MT"/>
                <a:cs typeface="Arial MT"/>
              </a:rPr>
              <a:t>(inspired</a:t>
            </a:r>
            <a:r>
              <a:rPr sz="285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5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285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50" dirty="0">
                <a:solidFill>
                  <a:srgbClr val="FFFFFF"/>
                </a:solidFill>
                <a:latin typeface="Arial MT"/>
                <a:cs typeface="Arial MT"/>
              </a:rPr>
              <a:t>broader</a:t>
            </a:r>
            <a:r>
              <a:rPr sz="285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50" spc="-10" dirty="0">
                <a:solidFill>
                  <a:srgbClr val="FFFFFF"/>
                </a:solidFill>
                <a:latin typeface="Arial MT"/>
                <a:cs typeface="Arial MT"/>
              </a:rPr>
              <a:t>trends).</a:t>
            </a:r>
            <a:endParaRPr sz="28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2850">
              <a:latin typeface="Arial MT"/>
              <a:cs typeface="Arial MT"/>
            </a:endParaRPr>
          </a:p>
          <a:p>
            <a:pPr marL="12700">
              <a:lnSpc>
                <a:spcPts val="3135"/>
              </a:lnSpc>
              <a:spcBef>
                <a:spcPts val="5"/>
              </a:spcBef>
            </a:pPr>
            <a:r>
              <a:rPr sz="3050" spc="-10" dirty="0">
                <a:solidFill>
                  <a:srgbClr val="FFFFFF"/>
                </a:solidFill>
                <a:latin typeface="Arial MT"/>
                <a:cs typeface="Arial MT"/>
              </a:rPr>
              <a:t>Roadmap:</a:t>
            </a:r>
            <a:endParaRPr sz="3050">
              <a:latin typeface="Arial MT"/>
              <a:cs typeface="Arial MT"/>
            </a:endParaRPr>
          </a:p>
          <a:p>
            <a:pPr marL="669290" marR="1494155">
              <a:lnSpc>
                <a:spcPct val="71300"/>
              </a:lnSpc>
              <a:spcBef>
                <a:spcPts val="525"/>
              </a:spcBef>
            </a:pPr>
            <a:r>
              <a:rPr sz="3050" dirty="0">
                <a:solidFill>
                  <a:srgbClr val="FFFFFF"/>
                </a:solidFill>
                <a:latin typeface="Arial MT"/>
                <a:cs typeface="Arial MT"/>
              </a:rPr>
              <a:t>Enhanced</a:t>
            </a:r>
            <a:r>
              <a:rPr sz="30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-25" dirty="0">
                <a:solidFill>
                  <a:srgbClr val="FFFFFF"/>
                </a:solidFill>
                <a:latin typeface="Arial MT"/>
                <a:cs typeface="Arial MT"/>
              </a:rPr>
              <a:t>VERTEX-</a:t>
            </a:r>
            <a:r>
              <a:rPr sz="3050" dirty="0">
                <a:solidFill>
                  <a:srgbClr val="FFFFFF"/>
                </a:solidFill>
                <a:latin typeface="Arial MT"/>
                <a:cs typeface="Arial MT"/>
              </a:rPr>
              <a:t>like</a:t>
            </a:r>
            <a:r>
              <a:rPr sz="30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FFFFFF"/>
                </a:solidFill>
                <a:latin typeface="Arial MT"/>
                <a:cs typeface="Arial MT"/>
              </a:rPr>
              <a:t>scores</a:t>
            </a:r>
            <a:r>
              <a:rPr sz="30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-25" dirty="0">
                <a:solidFill>
                  <a:srgbClr val="FFFFFF"/>
                </a:solidFill>
                <a:latin typeface="Arial MT"/>
                <a:cs typeface="Arial MT"/>
              </a:rPr>
              <a:t>for </a:t>
            </a:r>
            <a:r>
              <a:rPr sz="3050" dirty="0">
                <a:solidFill>
                  <a:srgbClr val="FFFFFF"/>
                </a:solidFill>
                <a:latin typeface="Arial MT"/>
                <a:cs typeface="Arial MT"/>
              </a:rPr>
              <a:t>framework</a:t>
            </a:r>
            <a:r>
              <a:rPr sz="305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-10" dirty="0">
                <a:solidFill>
                  <a:srgbClr val="FFFFFF"/>
                </a:solidFill>
                <a:latin typeface="Arial MT"/>
                <a:cs typeface="Arial MT"/>
              </a:rPr>
              <a:t>evaluation.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6087" rIns="0" bIns="0" rtlCol="0">
            <a:spAutoFit/>
          </a:bodyPr>
          <a:lstStyle/>
          <a:p>
            <a:pPr marL="557530">
              <a:lnSpc>
                <a:spcPct val="100000"/>
              </a:lnSpc>
              <a:spcBef>
                <a:spcPts val="95"/>
              </a:spcBef>
            </a:pPr>
            <a:r>
              <a:rPr spc="-185" dirty="0"/>
              <a:t>Future</a:t>
            </a:r>
            <a:r>
              <a:rPr spc="-385" dirty="0"/>
              <a:t> </a:t>
            </a:r>
            <a:r>
              <a:rPr spc="-190" dirty="0"/>
              <a:t>Directions</a:t>
            </a: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55470" y="0"/>
            <a:ext cx="5932528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1400" y="3467100"/>
            <a:ext cx="10086648" cy="22095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14250" spc="-600" dirty="0"/>
              <a:t>T</a:t>
            </a:r>
            <a:r>
              <a:rPr sz="14250" spc="-600" dirty="0"/>
              <a:t>han</a:t>
            </a:r>
            <a:r>
              <a:rPr sz="14250" dirty="0"/>
              <a:t>k</a:t>
            </a:r>
            <a:r>
              <a:rPr lang="en-US" sz="14250" spc="-1190" dirty="0"/>
              <a:t> </a:t>
            </a:r>
            <a:r>
              <a:rPr sz="14250" spc="-625" dirty="0"/>
              <a:t>yo</a:t>
            </a:r>
            <a:r>
              <a:rPr sz="14250" spc="-25" dirty="0"/>
              <a:t>u</a:t>
            </a:r>
            <a:endParaRPr sz="142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755043-407B-05D3-AAE3-5A8364833C5A}"/>
              </a:ext>
            </a:extLst>
          </p:cNvPr>
          <p:cNvSpPr txBox="1"/>
          <p:nvPr/>
        </p:nvSpPr>
        <p:spPr>
          <a:xfrm>
            <a:off x="228600" y="342900"/>
            <a:ext cx="4419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Yousef Tamer 20235047</a:t>
            </a:r>
          </a:p>
          <a:p>
            <a:r>
              <a:rPr lang="en-US" dirty="0">
                <a:solidFill>
                  <a:schemeClr val="bg1"/>
                </a:solidFill>
              </a:rPr>
              <a:t>Abdelrahman Mahmoud 20235052</a:t>
            </a:r>
          </a:p>
          <a:p>
            <a:r>
              <a:rPr lang="en-US" dirty="0">
                <a:solidFill>
                  <a:schemeClr val="bg1"/>
                </a:solidFill>
              </a:rPr>
              <a:t>Omar Raafat 20235075</a:t>
            </a:r>
          </a:p>
          <a:p>
            <a:r>
              <a:rPr lang="en-US" dirty="0">
                <a:solidFill>
                  <a:schemeClr val="bg1"/>
                </a:solidFill>
              </a:rPr>
              <a:t>Abdallah </a:t>
            </a:r>
            <a:r>
              <a:rPr lang="en-US" dirty="0" err="1">
                <a:solidFill>
                  <a:schemeClr val="bg1"/>
                </a:solidFill>
              </a:rPr>
              <a:t>Keylany</a:t>
            </a:r>
            <a:r>
              <a:rPr lang="en-US" dirty="0">
                <a:solidFill>
                  <a:schemeClr val="bg1"/>
                </a:solidFill>
              </a:rPr>
              <a:t> 20235062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1393</Words>
  <Application>Microsoft Office PowerPoint</Application>
  <PresentationFormat>Custom</PresentationFormat>
  <Paragraphs>175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Arial MT</vt:lpstr>
      <vt:lpstr>Lucida Sans Unicode</vt:lpstr>
      <vt:lpstr>Office Theme</vt:lpstr>
      <vt:lpstr>Software-Defined Perimeter (SDP)</vt:lpstr>
      <vt:lpstr>What is a SDP?</vt:lpstr>
      <vt:lpstr>What is a VSP?</vt:lpstr>
      <vt:lpstr>Key concepts</vt:lpstr>
      <vt:lpstr>How an SDP works</vt:lpstr>
      <vt:lpstr>How an SDP works cont.</vt:lpstr>
      <vt:lpstr>How an SDP works cont.</vt:lpstr>
      <vt:lpstr>How an SDP works cont.</vt:lpstr>
      <vt:lpstr>Waverley Labs Framework</vt:lpstr>
      <vt:lpstr>AGENDA</vt:lpstr>
      <vt:lpstr>Introduction to Waverley Labs</vt:lpstr>
      <vt:lpstr>Evolution of Cybersecurity: From Perimeters to Zero Trust</vt:lpstr>
      <vt:lpstr>PowerPoint Presentation</vt:lpstr>
      <vt:lpstr>Alignment with NIST Cybersecurity Framework</vt:lpstr>
      <vt:lpstr>Architecture Deep Dive</vt:lpstr>
      <vt:lpstr>Implementation and Tools</vt:lpstr>
      <vt:lpstr>Benefits and Risk Reduction</vt:lpstr>
      <vt:lpstr>Challenges and Best Practices</vt:lpstr>
      <vt:lpstr>Future Directions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Yousef Tamer</cp:lastModifiedBy>
  <cp:revision>1</cp:revision>
  <dcterms:created xsi:type="dcterms:W3CDTF">2025-12-10T03:15:04Z</dcterms:created>
  <dcterms:modified xsi:type="dcterms:W3CDTF">2025-12-10T03:18:24Z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2025-12-10T00:00:00Z</vt:filetime>
  </property>
  <property fmtid="{D5CDD505-2E9C-101B-9397-08002B2CF9AE}" pid="3" name="LastSaved">
    <vt:filetime>2025-12-10T00:00:00Z</vt:filetime>
  </property>
  <property fmtid="{D5CDD505-2E9C-101B-9397-08002B2CF9AE}" pid="4" name="Producer">
    <vt:lpwstr>iLovePDF</vt:lpwstr>
  </property>
</Properties>
</file>